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7316"/>
    <a:srgbClr val="DAD1CC"/>
    <a:srgbClr val="4B55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420" y="1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今天汇报的项目是“智能安全保险箱”。这是一个面向多场景的物联网安全存储终端，基于ESP32-S3构建，融合了传感器感知、华为云IoTDA接入、Web可视化看板、微信小程序交互以及AI风险预测模型，是一套完整的物联网全栈系统。接下来，我们将详细介绍项目的技术实现与应用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们会分析项目的背景和市场痛点；接着，介绍我们的产品定位和整体解决方案；然后，详细阐述系统的功能和业务流程；之后，会深入讲解物联网五层架构的设计与实现；最后，展示项目的应用场景、AI增值潜力以及未来的升级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项目背景和市场痛点。我们观察到，传统的安全存储设备正在经历一场变革，从过去单纯的机械防盗，向具备联网感知、远程监管和智能预警能力的物联网安全终端演进。这标志着安全存储理念从被动防御向主动感知的转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来说，传统安全存储设备存在五大痛点。第一，它们只防盗，不感知环境风险。第二，异常发现往往滞后，无法及时预警。第三，缺乏远程监管能力，用户无法随时随地了解设备状态。第四，缺少事件留痕，发生问题后难以追溯。最后，多场景下的管理成本非常高。这些痛点正是我们项目要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对不同场景的分析，我们发现用户真正需要的是“安全存储”加上“实时监管”。无论是家庭、药房、民宿还是实验室，用户都希望系统具备感知、联网、控制、追溯和预警这五大核心能力。这为我们的产品设计指明了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产品定位与解决方案。我们的定位非常明确：这不仅仅是一个保险箱，而是一个以保险箱为原型的物联网安全存储终端。它整合了本地设备、云端通信、网页应用，并为未来的AI增值服务预留了接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来说，我们的产品是一个面向多场景的物联网安全存储终端。它集成了六大核心能力：通过RFID进行身份认证，通过多种传感器进行环境感知，在异常时触发本地报警，通过摄像头进行图像留痕，通过网页端实现远程管理，并为未来的AI风险预测提供了扩展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更新后的解决方案链路清晰展示了从本地设备端的基础采集与控制，经多协议通信传输至华为云平台，再通过Web看板和微信小程序等多端应用触达用户，最终结合AI分析实现智能风险预判，完成了从本地安防到多端云端智能管理的升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第三部分，我们将介绍系统的功能与业务流程。整个系统围绕四个核心业务闭环展开：授权访问、环境监测、异常报警和远程管理。这四个环节构成了我们产品的核心价值。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的核心功能包括九个方面，涵盖了从底层硬件控制到上层应用管理的全过程。从RFID门禁识别、舵机控制，到各类环境传感器的监测，再到本地显示报警、摄像头留痕，以及最终的云端通信和网页端管理，形成了一个完整的功能矩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用户的使用流程分为两种情况。在正常访问时，用户刷卡，系统验证权限后开锁，并同步状态到云端。而在异常情况下，比如检测到气体泄漏或震动，系统会立即触发本地报警，抓拍现场图片，并将报警信息上传到网页端，实现快速响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第四部分，我们将深入介绍系统的技术架构。我们采用了标准的物联网五层架构，包括感知层、传输层、平台层、应用层，以及贯穿始终的安全与运维层。接下来，我们将逐层解析。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感知层是系统的基础，负责与物理世界交互。我们集成了多种传感器，包括用于身份识别的RFID模块，用于环境监测的温湿度、气体和震动传感器，以及用于图像采集的摄像头。同时，舵机、蜂鸣器和OLED等执行器负责完成本地的控制和反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传输层负责数据的上传和下发。我们采用Wi-Fi作为网络接入方式，并设计了两条数据通道：MQTT协议用于设备控制和状态同步，它轻量、低延迟；HTTP协议则用于上传图片和状态快照等较大的数据。这种双协议设计兼顾了效率和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介绍平台层的三大核心能力：华为云IoTDA负责海量设备的安全接入、MQTT消息通信与设备影子管理；后端服务负责非MQTT数据的接收处理、为前端提供统一API接口并处理核心业务逻辑；数据存储层则通过时序数据库、对象存储和关系型数据库，分层存储设备状态、图片文件和结构化业务数据。这三层能力共同为应用层提供了坚实、高效的数据与服务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应用层是用户直接交互的界面，我们开发了一个网页端管理后台。用户可以在上面直观地看到设备的所有状态，包括锁状态、环境数据、报警信息和摄像头画面，并能进行远程控制。这极大地提升了用户体验，让远程监管成为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一下Web看板的设计。Web看板是我们的综合监控与可视化管理中心，它将设备上报的所有数据，包括实时状态、摄像头画面、报警记录以及AI分析结果，都以直观的方式呈现出来。它非常适合在管理端进行长期监控，功能涵盖了实时状态展示、图像与报警追溯、数据分析和远程控制等多个方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介绍了微信小程序作为移动端设备监控与控制入口的设计与功能。左侧详细说明了代码对应关系及页面核心功能，包括连接配置、Token获取、设备影子查询、自动轮询、快捷命令下发、报警控制、权限诊断和调试日志等。右侧以手机线框图形式示意了小程序界面布局，包含配置区、实时数据卡片、快捷控制按钮和日志区，直观展示了用户操作界面的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介绍安全与运维层的核心能力。我们通过通信安全（MQTTS）、设备与云端双重认证保障系统安全；通过RFID白名单限制本地访问权限。同时，完善的运行日志记录和运维诊断能力，确保系统稳定运行和快速故障排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们介绍核心模块的实现。项目已从STM32主循环方案，升级为包含ESP32-S3、FreeRTOS、云端、Web和小程序的全栈物联网系统。新版本构建了从设备端到AI分析端的完整链路，具备多任务、状态中心、云端通信、双端应用和AI风险分析等关键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来看这次架构升级。我们从基于STM32的主循环轮询，升级到了基于ESP32-S3和FreeRTOS的多任务并发架构。这使得系统能够同时处理相机、舵机、各类传感器等多个任务，功能模块更加清晰，耦合度更低，为实现复杂的物联网功能奠定了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多任务间的数据共享问题，我们设计了统一的状态中心`task_state`。所有传感器数据和设备状态都统一存放在这里，供OLED、MQTT、HTTP等模块读取。更重要的是，报警模块可以基于状态中心的数据变化，实现高效的报警联动，确保在异常发生时，所有相关模块都能协同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终，我们成功构建了一个完整的物联网全栈闭环。从设备端的数据采集，到云端的传输和处理，再到应用端的展示和用户控制，最后将控制指令下发回设备执行。这个闭环确保了信息的流畅传递和系统功能的完整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展望一下项目的应用场景和未来发展。目前，我们的系统可以应用于家庭、药房、民宿和实验室等多个场景。未来，我们计划引入AI进行灾情风险预测，实现从被动报警到主动预警的跨越。此外，还将开发移动端小程序、完善用户权限管理等，不断提升产品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本项目成功构建了一个物联网安全存储终端。它不仅实现了本地的安防功能，更通过全栈闭环设计，将传统保险箱升级为一个可感知、可联网、可告警、可追溯甚至可预测的智能终端。我的汇报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 Id="rId9" Type="http://schemas.openxmlformats.org/officeDocument/2006/relationships/image" Target="../media/image14.jp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jpeg"/><Relationship Id="rId7" Type="http://schemas.openxmlformats.org/officeDocument/2006/relationships/image" Target="../media/image3.svg"/><Relationship Id="rId12"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svg"/><Relationship Id="rId11" Type="http://schemas.openxmlformats.org/officeDocument/2006/relationships/image" Target="../media/image20.jpeg"/><Relationship Id="rId5" Type="http://schemas.openxmlformats.org/officeDocument/2006/relationships/image" Target="../media/image15.svg"/><Relationship Id="rId10" Type="http://schemas.openxmlformats.org/officeDocument/2006/relationships/image" Target="../media/image19.jpeg"/><Relationship Id="rId4" Type="http://schemas.openxmlformats.org/officeDocument/2006/relationships/image" Target="../media/image4.svg"/><Relationship Id="rId9"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jpeg"/><Relationship Id="rId7" Type="http://schemas.openxmlformats.org/officeDocument/2006/relationships/image" Target="../media/image2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15.svg"/><Relationship Id="rId4" Type="http://schemas.openxmlformats.org/officeDocument/2006/relationships/image" Target="../media/image7.sv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jpeg"/><Relationship Id="rId7" Type="http://schemas.openxmlformats.org/officeDocument/2006/relationships/image" Target="../media/image31.svg"/><Relationship Id="rId12"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3.svg"/><Relationship Id="rId11" Type="http://schemas.openxmlformats.org/officeDocument/2006/relationships/image" Target="../media/image34.svg"/><Relationship Id="rId5" Type="http://schemas.openxmlformats.org/officeDocument/2006/relationships/image" Target="../media/image30.svg"/><Relationship Id="rId10" Type="http://schemas.openxmlformats.org/officeDocument/2006/relationships/image" Target="../media/image33.svg"/><Relationship Id="rId4" Type="http://schemas.openxmlformats.org/officeDocument/2006/relationships/image" Target="../media/image29.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 Id="rId9"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jpeg"/><Relationship Id="rId7" Type="http://schemas.openxmlformats.org/officeDocument/2006/relationships/image" Target="../media/image43.jpeg"/><Relationship Id="rId12" Type="http://schemas.openxmlformats.org/officeDocument/2006/relationships/image" Target="../media/image46.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2.jpeg"/><Relationship Id="rId11" Type="http://schemas.openxmlformats.org/officeDocument/2006/relationships/image" Target="../media/image45.svg"/><Relationship Id="rId5" Type="http://schemas.openxmlformats.org/officeDocument/2006/relationships/image" Target="../media/image41.jpeg"/><Relationship Id="rId10" Type="http://schemas.openxmlformats.org/officeDocument/2006/relationships/image" Target="../media/image39.svg"/><Relationship Id="rId4" Type="http://schemas.openxmlformats.org/officeDocument/2006/relationships/image" Target="../media/image40.jpeg"/><Relationship Id="rId9" Type="http://schemas.openxmlformats.org/officeDocument/2006/relationships/image" Target="../media/image44.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1.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24.svg"/><Relationship Id="rId4" Type="http://schemas.openxmlformats.org/officeDocument/2006/relationships/image" Target="../media/image49.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53.svg"/><Relationship Id="rId4" Type="http://schemas.openxmlformats.org/officeDocument/2006/relationships/image" Target="../media/image52.svg"/></Relationships>
</file>

<file path=ppt/slides/_rels/slide1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jpeg"/><Relationship Id="rId7" Type="http://schemas.openxmlformats.org/officeDocument/2006/relationships/image" Target="../media/image55.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54.svg"/><Relationship Id="rId4" Type="http://schemas.openxmlformats.org/officeDocument/2006/relationships/image" Target="../media/image15.svg"/><Relationship Id="rId9" Type="http://schemas.openxmlformats.org/officeDocument/2006/relationships/image" Target="../media/image56.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5.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15.svg"/><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0F">
              <a:alpha val="75000"/>
            </a:srgbClr>
          </a:solidFill>
          <a:ln cap="flat" cmpd="sng">
            <a:solidFill>
              <a:srgbClr val="000000">
                <a:alpha val="75000"/>
              </a:srgbClr>
            </a:solidFill>
            <a:prstDash val="solid"/>
            <a:round/>
          </a:ln>
        </p:spPr>
        <p:txBody>
          <a:bodyPr vert="horz" wrap="square" lIns="0" tIns="0" rIns="0" bIns="0" rtlCol="0" anchor="ctr" anchorCtr="0"/>
          <a:lstStyle/>
          <a:p>
            <a:pPr algn="ctr">
              <a:defRPr/>
            </a:pPr>
            <a:endParaRPr/>
          </a:p>
        </p:txBody>
      </p:sp>
      <p:sp>
        <p:nvSpPr>
          <p:cNvPr id="3" name="AutoShape 3"/>
          <p:cNvSpPr/>
          <p:nvPr/>
        </p:nvSpPr>
        <p:spPr>
          <a:xfrm>
            <a:off x="1016000" y="1778000"/>
            <a:ext cx="1016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a:ea typeface="Noto Sans SC"/>
                <a:cs typeface="Noto Sans SC"/>
                <a:sym typeface="Noto Sans SC"/>
              </a:rPr>
              <a:t>智能安全保险箱</a:t>
            </a:r>
            <a:endParaRPr lang="en-US" sz="1100"/>
          </a:p>
        </p:txBody>
      </p:sp>
      <p:sp>
        <p:nvSpPr>
          <p:cNvPr id="4" name="AutoShape 4"/>
          <p:cNvSpPr/>
          <p:nvPr/>
        </p:nvSpPr>
        <p:spPr>
          <a:xfrm>
            <a:off x="1016000" y="3048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97316"/>
                </a:solidFill>
                <a:latin typeface="Noto Sans SC"/>
                <a:ea typeface="Noto Sans SC"/>
                <a:cs typeface="Noto Sans SC"/>
                <a:sym typeface="Noto Sans SC"/>
              </a:rPr>
              <a:t>面向多场景的物联网安全存储终端</a:t>
            </a:r>
            <a:endParaRPr lang="en-US" sz="1100"/>
          </a:p>
        </p:txBody>
      </p:sp>
      <p:sp>
        <p:nvSpPr>
          <p:cNvPr id="5" name="AutoShape 5"/>
          <p:cNvSpPr/>
          <p:nvPr/>
        </p:nvSpPr>
        <p:spPr>
          <a:xfrm>
            <a:off x="1270000" y="4191000"/>
            <a:ext cx="965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90196"/>
                  </a:srgbClr>
                </a:solidFill>
                <a:latin typeface="Noto Sans SC"/>
                <a:ea typeface="Noto Sans SC"/>
                <a:cs typeface="Noto Sans SC"/>
                <a:sym typeface="Noto Sans SC"/>
              </a:rPr>
              <a:t>基于 ESP32-S3、传感器感知、云平台接入、Web 看板、微信小程序和 AI 风险预测的物联网全栈系统</a:t>
            </a:r>
            <a:endParaRPr lang="en-US" sz="1100"/>
          </a:p>
        </p:txBody>
      </p:sp>
      <p:sp>
        <p:nvSpPr>
          <p:cNvPr id="6" name="AutoShape 6"/>
          <p:cNvSpPr/>
          <p:nvPr/>
        </p:nvSpPr>
        <p:spPr>
          <a:xfrm>
            <a:off x="762000" y="5842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项目成员：黄镔、黄发凯、黄俊杰 | 课程：物联网课程设计</a:t>
            </a:r>
            <a:endParaRPr lang="en-US" sz="1100"/>
          </a:p>
        </p:txBody>
      </p:sp>
      <p:sp>
        <p:nvSpPr>
          <p:cNvPr id="7" name="AutoShape 7"/>
          <p:cNvSpPr/>
          <p:nvPr/>
        </p:nvSpPr>
        <p:spPr>
          <a:xfrm>
            <a:off x="6350000" y="5778500"/>
            <a:ext cx="5080000" cy="762000"/>
          </a:xfrm>
          <a:prstGeom prst="rect">
            <a:avLst/>
          </a:prstGeom>
          <a:noFill/>
          <a:ln w="12700" cap="flat" cmpd="sng">
            <a:noFill/>
            <a:prstDash val="solid"/>
            <a:round/>
          </a:ln>
        </p:spPr>
        <p:txBody>
          <a:bodyPr vert="horz" wrap="square" lIns="0" tIns="0" rIns="0" bIns="0" rtlCol="0" anchor="ctr" anchorCtr="0"/>
          <a:lstStyle/>
          <a:p>
            <a:pPr marL="0" indent="0" algn="r">
              <a:lnSpc>
                <a:spcPct val="108333"/>
              </a:lnSpc>
              <a:defRPr/>
            </a:pPr>
            <a:r>
              <a:rPr lang="en-US" sz="1300" b="1" i="0" u="none" strike="noStrike" dirty="0">
                <a:solidFill>
                  <a:srgbClr val="F97316"/>
                </a:solidFill>
                <a:latin typeface="Noto Sans SC"/>
                <a:ea typeface="Noto Sans SC"/>
                <a:cs typeface="Noto Sans SC"/>
                <a:sym typeface="Noto Sans SC"/>
              </a:rPr>
              <a:t>核心技术栈：</a:t>
            </a:r>
            <a:r>
              <a:rPr lang="en-US" sz="1200" b="0" i="0" u="none" strike="noStrike" dirty="0">
                <a:solidFill>
                  <a:srgbClr val="FFFFFF">
                    <a:alpha val="80000"/>
                  </a:srgbClr>
                </a:solidFill>
                <a:latin typeface="Noto Sans SC"/>
                <a:ea typeface="Noto Sans SC"/>
                <a:cs typeface="Noto Sans SC"/>
                <a:sym typeface="Noto Sans SC"/>
              </a:rPr>
              <a:t>ESP32-S3 | </a:t>
            </a:r>
            <a:r>
              <a:rPr lang="en-US" sz="1200" b="0" i="0" u="none" strike="noStrike" dirty="0" err="1">
                <a:solidFill>
                  <a:srgbClr val="FFFFFF">
                    <a:alpha val="80000"/>
                  </a:srgbClr>
                </a:solidFill>
                <a:latin typeface="Noto Sans SC"/>
                <a:ea typeface="Noto Sans SC"/>
                <a:cs typeface="Noto Sans SC"/>
                <a:sym typeface="Noto Sans SC"/>
              </a:rPr>
              <a:t>FreeRTOS</a:t>
            </a:r>
            <a:r>
              <a:rPr lang="en-US" sz="1200" b="0" i="0" u="none" strike="noStrike" dirty="0">
                <a:solidFill>
                  <a:srgbClr val="FFFFFF">
                    <a:alpha val="80000"/>
                  </a:srgbClr>
                </a:solidFill>
                <a:latin typeface="Noto Sans SC"/>
                <a:ea typeface="Noto Sans SC"/>
                <a:cs typeface="Noto Sans SC"/>
                <a:sym typeface="Noto Sans SC"/>
              </a:rPr>
              <a:t> | MQTT | HTTP | </a:t>
            </a:r>
            <a:r>
              <a:rPr lang="en-US" sz="1200" b="0" i="0" u="none" strike="noStrike" dirty="0" err="1">
                <a:solidFill>
                  <a:srgbClr val="FFFFFF">
                    <a:alpha val="80000"/>
                  </a:srgbClr>
                </a:solidFill>
                <a:latin typeface="Noto Sans SC"/>
                <a:ea typeface="Noto Sans SC"/>
                <a:cs typeface="Noto Sans SC"/>
                <a:sym typeface="Noto Sans SC"/>
              </a:rPr>
              <a:t>华为云</a:t>
            </a:r>
            <a:r>
              <a:rPr lang="en-US" sz="1200" b="0" i="0" u="none" strike="noStrike" dirty="0">
                <a:solidFill>
                  <a:srgbClr val="FFFFFF">
                    <a:alpha val="80000"/>
                  </a:srgbClr>
                </a:solidFill>
                <a:latin typeface="Noto Sans SC"/>
                <a:ea typeface="Noto Sans SC"/>
                <a:cs typeface="Noto Sans SC"/>
                <a:sym typeface="Noto Sans SC"/>
              </a:rPr>
              <a:t> </a:t>
            </a:r>
            <a:r>
              <a:rPr lang="en-US" sz="1200" b="0" i="0" u="none" strike="noStrike" dirty="0" err="1">
                <a:solidFill>
                  <a:srgbClr val="FFFFFF">
                    <a:alpha val="80000"/>
                  </a:srgbClr>
                </a:solidFill>
                <a:latin typeface="Noto Sans SC"/>
                <a:ea typeface="Noto Sans SC"/>
                <a:cs typeface="Noto Sans SC"/>
                <a:sym typeface="Noto Sans SC"/>
              </a:rPr>
              <a:t>IoTDA</a:t>
            </a:r>
            <a:r>
              <a:rPr lang="en-US" sz="1200" b="0" i="0" u="none" strike="noStrike" dirty="0">
                <a:solidFill>
                  <a:srgbClr val="FFFFFF">
                    <a:alpha val="80000"/>
                  </a:srgbClr>
                </a:solidFill>
                <a:latin typeface="Noto Sans SC"/>
                <a:ea typeface="Noto Sans SC"/>
                <a:cs typeface="Noto Sans SC"/>
                <a:sym typeface="Noto Sans SC"/>
              </a:rPr>
              <a:t> | </a:t>
            </a:r>
          </a:p>
          <a:p>
            <a:pPr marL="0" indent="0" algn="r">
              <a:lnSpc>
                <a:spcPct val="108333"/>
              </a:lnSpc>
              <a:defRPr/>
            </a:pPr>
            <a:r>
              <a:rPr lang="en-US" sz="1200" b="0" i="0" u="none" strike="noStrike" dirty="0">
                <a:solidFill>
                  <a:srgbClr val="FFFFFF">
                    <a:alpha val="80000"/>
                  </a:srgbClr>
                </a:solidFill>
                <a:latin typeface="Noto Sans SC"/>
                <a:ea typeface="Noto Sans SC"/>
                <a:cs typeface="Noto Sans SC"/>
                <a:sym typeface="Noto Sans SC"/>
              </a:rPr>
              <a:t>Web Dashboard | </a:t>
            </a:r>
            <a:r>
              <a:rPr lang="en-US" sz="1200" b="0" i="0" u="none" strike="noStrike" dirty="0" err="1">
                <a:solidFill>
                  <a:srgbClr val="FFFFFF">
                    <a:alpha val="80000"/>
                  </a:srgbClr>
                </a:solidFill>
                <a:latin typeface="Noto Sans SC"/>
                <a:ea typeface="Noto Sans SC"/>
                <a:cs typeface="Noto Sans SC"/>
                <a:sym typeface="Noto Sans SC"/>
              </a:rPr>
              <a:t>微信小程序</a:t>
            </a:r>
            <a:r>
              <a:rPr lang="en-US" sz="1200" b="0" i="0" u="none" strike="noStrike" dirty="0">
                <a:solidFill>
                  <a:srgbClr val="FFFFFF">
                    <a:alpha val="80000"/>
                  </a:srgbClr>
                </a:solidFill>
                <a:latin typeface="Noto Sans SC"/>
                <a:ea typeface="Noto Sans SC"/>
                <a:cs typeface="Noto Sans SC"/>
                <a:sym typeface="Noto Sans SC"/>
              </a:rPr>
              <a:t> | AI Risk Prediction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汇报目录</a:t>
            </a:r>
            <a:endParaRPr lang="en-US" sz="1100"/>
          </a:p>
        </p:txBody>
      </p:sp>
      <p:sp>
        <p:nvSpPr>
          <p:cNvPr id="4" name="AutoShape 4"/>
          <p:cNvSpPr/>
          <p:nvPr/>
        </p:nvSpPr>
        <p:spPr>
          <a:xfrm>
            <a:off x="762000" y="1778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406400" cy="406400"/>
          </a:xfrm>
          <a:prstGeom prst="rect">
            <a:avLst/>
          </a:prstGeom>
        </p:spPr>
      </p:pic>
      <p:sp>
        <p:nvSpPr>
          <p:cNvPr id="7" name="AutoShape 7"/>
          <p:cNvSpPr/>
          <p:nvPr/>
        </p:nvSpPr>
        <p:spPr>
          <a:xfrm>
            <a:off x="1524000" y="1930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01</a:t>
            </a:r>
            <a:endParaRPr lang="en-US" sz="1100"/>
          </a:p>
        </p:txBody>
      </p:sp>
      <p:cxnSp>
        <p:nvCxnSpPr>
          <p:cNvPr id="8" name="Connector 8"/>
          <p:cNvCxnSpPr/>
          <p:nvPr/>
        </p:nvCxnSpPr>
        <p:spPr>
          <a:xfrm rot="-15211">
            <a:off x="1016014" y="2660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9" name="AutoShape 9"/>
          <p:cNvSpPr/>
          <p:nvPr/>
        </p:nvSpPr>
        <p:spPr>
          <a:xfrm>
            <a:off x="1016000" y="27686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err="1">
                <a:solidFill>
                  <a:srgbClr val="374151"/>
                </a:solidFill>
                <a:latin typeface="Noto Sans SC"/>
                <a:ea typeface="Noto Sans SC"/>
                <a:cs typeface="Noto Sans SC"/>
                <a:sym typeface="Noto Sans SC"/>
              </a:rPr>
              <a:t>项目背景与市场痛点</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分析传统安全存储的局限性与用户核心需求</a:t>
            </a:r>
            <a:r>
              <a:rPr lang="en-US" sz="1100" b="0" i="0" u="none" strike="noStrike" dirty="0">
                <a:solidFill>
                  <a:srgbClr val="4B5563"/>
                </a:solidFill>
                <a:latin typeface="Noto Sans SC"/>
                <a:ea typeface="Noto Sans SC"/>
                <a:cs typeface="Noto Sans SC"/>
                <a:sym typeface="Noto Sans SC"/>
              </a:rPr>
              <a:t>。</a:t>
            </a:r>
          </a:p>
        </p:txBody>
      </p:sp>
      <p:sp>
        <p:nvSpPr>
          <p:cNvPr id="10" name="AutoShape 10"/>
          <p:cNvSpPr/>
          <p:nvPr/>
        </p:nvSpPr>
        <p:spPr>
          <a:xfrm>
            <a:off x="4406900" y="1778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06900" y="1778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1968500"/>
            <a:ext cx="406400" cy="406400"/>
          </a:xfrm>
          <a:prstGeom prst="rect">
            <a:avLst/>
          </a:prstGeom>
        </p:spPr>
      </p:pic>
      <p:sp>
        <p:nvSpPr>
          <p:cNvPr id="13" name="AutoShape 13"/>
          <p:cNvSpPr/>
          <p:nvPr/>
        </p:nvSpPr>
        <p:spPr>
          <a:xfrm>
            <a:off x="5168900" y="1930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02</a:t>
            </a:r>
            <a:endParaRPr lang="en-US" sz="1100"/>
          </a:p>
        </p:txBody>
      </p:sp>
      <p:cxnSp>
        <p:nvCxnSpPr>
          <p:cNvPr id="14" name="Connector 14"/>
          <p:cNvCxnSpPr/>
          <p:nvPr/>
        </p:nvCxnSpPr>
        <p:spPr>
          <a:xfrm rot="-15211">
            <a:off x="4660914" y="2660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5" name="AutoShape 15"/>
          <p:cNvSpPr/>
          <p:nvPr/>
        </p:nvSpPr>
        <p:spPr>
          <a:xfrm>
            <a:off x="4660900" y="27686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err="1">
                <a:solidFill>
                  <a:srgbClr val="374151"/>
                </a:solidFill>
                <a:latin typeface="Noto Sans SC"/>
                <a:ea typeface="Noto Sans SC"/>
                <a:cs typeface="Noto Sans SC"/>
                <a:sym typeface="Noto Sans SC"/>
              </a:rPr>
              <a:t>产品定位与解决方案</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阐述物联网安全终端的定位及全栈解决方案</a:t>
            </a:r>
            <a:r>
              <a:rPr lang="en-US" sz="1100" b="0" i="0" u="none" strike="noStrike" dirty="0">
                <a:solidFill>
                  <a:srgbClr val="4B5563"/>
                </a:solidFill>
                <a:latin typeface="Noto Sans SC"/>
                <a:ea typeface="Noto Sans SC"/>
                <a:cs typeface="Noto Sans SC"/>
                <a:sym typeface="Noto Sans SC"/>
              </a:rPr>
              <a:t>。</a:t>
            </a:r>
          </a:p>
        </p:txBody>
      </p:sp>
      <p:sp>
        <p:nvSpPr>
          <p:cNvPr id="16" name="AutoShape 16"/>
          <p:cNvSpPr/>
          <p:nvPr/>
        </p:nvSpPr>
        <p:spPr>
          <a:xfrm>
            <a:off x="8051800" y="1778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51800" y="1778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1968500"/>
            <a:ext cx="406400" cy="406400"/>
          </a:xfrm>
          <a:prstGeom prst="rect">
            <a:avLst/>
          </a:prstGeom>
        </p:spPr>
      </p:pic>
      <p:sp>
        <p:nvSpPr>
          <p:cNvPr id="19" name="AutoShape 19"/>
          <p:cNvSpPr/>
          <p:nvPr/>
        </p:nvSpPr>
        <p:spPr>
          <a:xfrm>
            <a:off x="8813800" y="1930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03</a:t>
            </a:r>
            <a:endParaRPr lang="en-US" sz="1100"/>
          </a:p>
        </p:txBody>
      </p:sp>
      <p:cxnSp>
        <p:nvCxnSpPr>
          <p:cNvPr id="20" name="Connector 20"/>
          <p:cNvCxnSpPr/>
          <p:nvPr/>
        </p:nvCxnSpPr>
        <p:spPr>
          <a:xfrm rot="-15211">
            <a:off x="8305814" y="2660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1" name="AutoShape 21"/>
          <p:cNvSpPr/>
          <p:nvPr/>
        </p:nvSpPr>
        <p:spPr>
          <a:xfrm>
            <a:off x="8305800" y="2768600"/>
            <a:ext cx="3263348"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err="1">
                <a:solidFill>
                  <a:srgbClr val="374151"/>
                </a:solidFill>
                <a:latin typeface="Noto Sans SC"/>
                <a:ea typeface="Noto Sans SC"/>
                <a:cs typeface="Noto Sans SC"/>
                <a:sym typeface="Noto Sans SC"/>
              </a:rPr>
              <a:t>系统功能与业务流程</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介绍系统核心功能及正常</a:t>
            </a:r>
            <a:r>
              <a:rPr lang="en-US" sz="1100" b="0" i="0" u="none" strike="noStrike" dirty="0">
                <a:solidFill>
                  <a:srgbClr val="4B5563"/>
                </a:solidFill>
                <a:latin typeface="Noto Sans SC"/>
                <a:ea typeface="Noto Sans SC"/>
                <a:cs typeface="Noto Sans SC"/>
                <a:sym typeface="Noto Sans SC"/>
              </a:rPr>
              <a:t>/</a:t>
            </a:r>
            <a:r>
              <a:rPr lang="en-US" sz="1100" b="0" i="0" u="none" strike="noStrike" dirty="0" err="1">
                <a:solidFill>
                  <a:srgbClr val="4B5563"/>
                </a:solidFill>
                <a:latin typeface="Noto Sans SC"/>
                <a:ea typeface="Noto Sans SC"/>
                <a:cs typeface="Noto Sans SC"/>
                <a:sym typeface="Noto Sans SC"/>
              </a:rPr>
              <a:t>异常场景下的业务流程</a:t>
            </a:r>
            <a:r>
              <a:rPr lang="en-US" sz="1100" b="0" i="0" u="none" strike="noStrike" dirty="0">
                <a:solidFill>
                  <a:srgbClr val="4B5563"/>
                </a:solidFill>
                <a:latin typeface="Noto Sans SC"/>
                <a:ea typeface="Noto Sans SC"/>
                <a:cs typeface="Noto Sans SC"/>
                <a:sym typeface="Noto Sans SC"/>
              </a:rPr>
              <a:t>。</a:t>
            </a:r>
          </a:p>
        </p:txBody>
      </p:sp>
      <p:sp>
        <p:nvSpPr>
          <p:cNvPr id="22" name="AutoShape 22"/>
          <p:cNvSpPr/>
          <p:nvPr/>
        </p:nvSpPr>
        <p:spPr>
          <a:xfrm>
            <a:off x="762000" y="4191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4191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81500"/>
            <a:ext cx="406400" cy="406400"/>
          </a:xfrm>
          <a:prstGeom prst="rect">
            <a:avLst/>
          </a:prstGeom>
        </p:spPr>
      </p:pic>
      <p:sp>
        <p:nvSpPr>
          <p:cNvPr id="25" name="AutoShape 25"/>
          <p:cNvSpPr/>
          <p:nvPr/>
        </p:nvSpPr>
        <p:spPr>
          <a:xfrm>
            <a:off x="1524000" y="4343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04</a:t>
            </a:r>
            <a:endParaRPr lang="en-US" sz="1100"/>
          </a:p>
        </p:txBody>
      </p:sp>
      <p:cxnSp>
        <p:nvCxnSpPr>
          <p:cNvPr id="26" name="Connector 26"/>
          <p:cNvCxnSpPr/>
          <p:nvPr/>
        </p:nvCxnSpPr>
        <p:spPr>
          <a:xfrm rot="-15211">
            <a:off x="1016014" y="5073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7" name="AutoShape 27"/>
          <p:cNvSpPr/>
          <p:nvPr/>
        </p:nvSpPr>
        <p:spPr>
          <a:xfrm>
            <a:off x="1016000" y="5181600"/>
            <a:ext cx="2959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err="1">
                <a:solidFill>
                  <a:srgbClr val="374151"/>
                </a:solidFill>
                <a:latin typeface="Noto Sans SC"/>
                <a:ea typeface="Noto Sans SC"/>
                <a:cs typeface="Noto Sans SC"/>
                <a:sym typeface="Noto Sans SC"/>
              </a:rPr>
              <a:t>物联网五层架构设计</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详解感知、传输、平台、应用、安全五层架构</a:t>
            </a:r>
            <a:r>
              <a:rPr lang="en-US" sz="1100" b="0" i="0" u="none" strike="noStrike" dirty="0">
                <a:solidFill>
                  <a:srgbClr val="4B5563"/>
                </a:solidFill>
                <a:latin typeface="Noto Sans SC"/>
                <a:ea typeface="Noto Sans SC"/>
                <a:cs typeface="Noto Sans SC"/>
                <a:sym typeface="Noto Sans SC"/>
              </a:rPr>
              <a:t>。</a:t>
            </a:r>
          </a:p>
        </p:txBody>
      </p:sp>
      <p:sp>
        <p:nvSpPr>
          <p:cNvPr id="28" name="AutoShape 28"/>
          <p:cNvSpPr/>
          <p:nvPr/>
        </p:nvSpPr>
        <p:spPr>
          <a:xfrm>
            <a:off x="4406900" y="4191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4406900" y="4191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60900" y="4381500"/>
            <a:ext cx="406400" cy="406400"/>
          </a:xfrm>
          <a:prstGeom prst="rect">
            <a:avLst/>
          </a:prstGeom>
        </p:spPr>
      </p:pic>
      <p:sp>
        <p:nvSpPr>
          <p:cNvPr id="31" name="AutoShape 31"/>
          <p:cNvSpPr/>
          <p:nvPr/>
        </p:nvSpPr>
        <p:spPr>
          <a:xfrm>
            <a:off x="5168900" y="4343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05</a:t>
            </a:r>
            <a:endParaRPr lang="en-US" sz="1100"/>
          </a:p>
        </p:txBody>
      </p:sp>
      <p:cxnSp>
        <p:nvCxnSpPr>
          <p:cNvPr id="32" name="Connector 32"/>
          <p:cNvCxnSpPr/>
          <p:nvPr/>
        </p:nvCxnSpPr>
        <p:spPr>
          <a:xfrm rot="-15211">
            <a:off x="4660914" y="5073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3" name="AutoShape 33"/>
          <p:cNvSpPr/>
          <p:nvPr/>
        </p:nvSpPr>
        <p:spPr>
          <a:xfrm>
            <a:off x="4660900" y="5181600"/>
            <a:ext cx="3048002"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err="1">
                <a:solidFill>
                  <a:srgbClr val="374151"/>
                </a:solidFill>
                <a:latin typeface="Noto Sans SC"/>
                <a:ea typeface="Noto Sans SC"/>
                <a:cs typeface="Noto Sans SC"/>
                <a:sym typeface="Noto Sans SC"/>
              </a:rPr>
              <a:t>核心模块实现</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深入设备端软件架构、多任务设计与状态管理</a:t>
            </a:r>
            <a:r>
              <a:rPr lang="en-US" sz="1100" b="0" i="0" u="none" strike="noStrike" dirty="0">
                <a:solidFill>
                  <a:srgbClr val="4B5563"/>
                </a:solidFill>
                <a:latin typeface="Noto Sans SC"/>
                <a:ea typeface="Noto Sans SC"/>
                <a:cs typeface="Noto Sans SC"/>
                <a:sym typeface="Noto Sans SC"/>
              </a:rPr>
              <a:t>。</a:t>
            </a:r>
          </a:p>
        </p:txBody>
      </p:sp>
      <p:sp>
        <p:nvSpPr>
          <p:cNvPr id="34" name="AutoShape 34"/>
          <p:cNvSpPr/>
          <p:nvPr/>
        </p:nvSpPr>
        <p:spPr>
          <a:xfrm>
            <a:off x="8051800" y="4191000"/>
            <a:ext cx="33782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051800" y="4191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4381500"/>
            <a:ext cx="406400" cy="406400"/>
          </a:xfrm>
          <a:prstGeom prst="rect">
            <a:avLst/>
          </a:prstGeom>
        </p:spPr>
      </p:pic>
      <p:sp>
        <p:nvSpPr>
          <p:cNvPr id="37" name="AutoShape 37"/>
          <p:cNvSpPr/>
          <p:nvPr/>
        </p:nvSpPr>
        <p:spPr>
          <a:xfrm>
            <a:off x="8813800" y="43434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97316"/>
                </a:solidFill>
                <a:latin typeface="Noto Sans SC"/>
                <a:ea typeface="Noto Sans SC"/>
                <a:cs typeface="Noto Sans SC"/>
                <a:sym typeface="Noto Sans SC"/>
              </a:rPr>
              <a:t>06</a:t>
            </a:r>
            <a:endParaRPr lang="en-US" sz="1100"/>
          </a:p>
        </p:txBody>
      </p:sp>
      <p:cxnSp>
        <p:nvCxnSpPr>
          <p:cNvPr id="38" name="Connector 38"/>
          <p:cNvCxnSpPr/>
          <p:nvPr/>
        </p:nvCxnSpPr>
        <p:spPr>
          <a:xfrm rot="-15211">
            <a:off x="8305814" y="5073650"/>
            <a:ext cx="28702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39" name="AutoShape 39"/>
          <p:cNvSpPr/>
          <p:nvPr/>
        </p:nvSpPr>
        <p:spPr>
          <a:xfrm>
            <a:off x="8305800" y="51816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dirty="0">
                <a:solidFill>
                  <a:srgbClr val="374151"/>
                </a:solidFill>
                <a:latin typeface="Noto Sans SC"/>
                <a:ea typeface="Noto Sans SC"/>
                <a:cs typeface="Noto Sans SC"/>
                <a:sym typeface="Noto Sans SC"/>
              </a:rPr>
              <a:t>Web / </a:t>
            </a:r>
            <a:r>
              <a:rPr lang="en-US" sz="1400" b="1" i="0" u="none" strike="noStrike" dirty="0" err="1">
                <a:solidFill>
                  <a:srgbClr val="374151"/>
                </a:solidFill>
                <a:latin typeface="Noto Sans SC"/>
                <a:ea typeface="Noto Sans SC"/>
                <a:cs typeface="Noto Sans SC"/>
                <a:sym typeface="Noto Sans SC"/>
              </a:rPr>
              <a:t>小程序应用与</a:t>
            </a:r>
            <a:r>
              <a:rPr lang="en-US" sz="1400" b="1" i="0" u="none" strike="noStrike" dirty="0">
                <a:solidFill>
                  <a:srgbClr val="374151"/>
                </a:solidFill>
                <a:latin typeface="Noto Sans SC"/>
                <a:ea typeface="Noto Sans SC"/>
                <a:cs typeface="Noto Sans SC"/>
                <a:sym typeface="Noto Sans SC"/>
              </a:rPr>
              <a:t> AI </a:t>
            </a:r>
            <a:r>
              <a:rPr lang="en-US" sz="1400" b="1" i="0" u="none" strike="noStrike" dirty="0" err="1">
                <a:solidFill>
                  <a:srgbClr val="374151"/>
                </a:solidFill>
                <a:latin typeface="Noto Sans SC"/>
                <a:ea typeface="Noto Sans SC"/>
                <a:cs typeface="Noto Sans SC"/>
                <a:sym typeface="Noto Sans SC"/>
              </a:rPr>
              <a:t>增值</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展示双端应用设计及AI风险预测能力</a:t>
            </a:r>
            <a:r>
              <a:rPr lang="en-US" sz="1100" b="0" i="0" u="none" strike="noStrike" dirty="0">
                <a:solidFill>
                  <a:srgbClr val="4B5563"/>
                </a:solidFill>
                <a:latin typeface="Noto Sans SC"/>
                <a:ea typeface="Noto Sans SC"/>
                <a:cs typeface="Noto Sans SC"/>
                <a:sym typeface="Noto Sans SC"/>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F97316">
                    <a:alpha val="80000"/>
                  </a:srgbClr>
                </a:solidFill>
                <a:latin typeface="Noto Sans SC"/>
                <a:ea typeface="Noto Sans SC"/>
                <a:cs typeface="Noto Sans SC"/>
                <a:sym typeface="Noto Sans SC"/>
              </a:rPr>
              <a:t>01</a:t>
            </a:r>
            <a:endParaRPr lang="en-US" sz="1100"/>
          </a:p>
        </p:txBody>
      </p:sp>
      <p:sp>
        <p:nvSpPr>
          <p:cNvPr id="4" name="AutoShape 4"/>
          <p:cNvSpPr/>
          <p:nvPr/>
        </p:nvSpPr>
        <p:spPr>
          <a:xfrm>
            <a:off x="0" y="381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a:ea typeface="Noto Sans SC"/>
                <a:cs typeface="Noto Sans SC"/>
                <a:sym typeface="Noto Sans SC"/>
              </a:rPr>
              <a:t>项目背景与市场痛点</a:t>
            </a:r>
            <a:endParaRPr lang="en-US" sz="1100"/>
          </a:p>
        </p:txBody>
      </p:sp>
      <p:sp>
        <p:nvSpPr>
          <p:cNvPr id="5" name="AutoShape 5"/>
          <p:cNvSpPr/>
          <p:nvPr/>
        </p:nvSpPr>
        <p:spPr>
          <a:xfrm>
            <a:off x="2921000" y="5080000"/>
            <a:ext cx="6350000" cy="12700"/>
          </a:xfrm>
          <a:prstGeom prst="roundRect">
            <a:avLst>
              <a:gd name="adj" fmla="val 0"/>
            </a:avLst>
          </a:prstGeom>
          <a:solidFill>
            <a:srgbClr val="1F2937">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207000"/>
            <a:ext cx="762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rgbClr val="374151"/>
                </a:solidFill>
                <a:latin typeface="Noto Sans SC"/>
                <a:ea typeface="Noto Sans SC"/>
                <a:cs typeface="Noto Sans SC"/>
                <a:sym typeface="Noto Sans SC"/>
              </a:rPr>
              <a:t>         家庭、药房、民宿、实验室等场景都存在安全存储需求。用户不只关心物品能否被锁住，还关心是否有人异常访问、环境是否安全、发生异常时能否及时获知，以及是否有图像和数据记录用于追溯。</a:t>
            </a:r>
            <a:endParaRPr lang="en-US" sz="1100" dirty="0"/>
          </a:p>
        </p:txBody>
      </p:sp>
      <p:sp>
        <p:nvSpPr>
          <p:cNvPr id="7" name="AutoShape 7"/>
          <p:cNvSpPr/>
          <p:nvPr/>
        </p:nvSpPr>
        <p:spPr>
          <a:xfrm>
            <a:off x="9017000" y="5334000"/>
            <a:ext cx="2667000" cy="1079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017000" y="5334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207500" y="5461000"/>
            <a:ext cx="2553804"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dirty="0">
                <a:solidFill>
                  <a:srgbClr val="F97316"/>
                </a:solidFill>
                <a:latin typeface="Noto Sans SC"/>
                <a:ea typeface="Noto Sans SC"/>
                <a:cs typeface="Noto Sans SC"/>
                <a:sym typeface="Noto Sans SC"/>
              </a:rPr>
              <a:t>“</a:t>
            </a:r>
            <a:r>
              <a:rPr lang="en-US" sz="1500" b="1" i="0" u="none" strike="noStrike" dirty="0" err="1">
                <a:solidFill>
                  <a:srgbClr val="F97316"/>
                </a:solidFill>
                <a:latin typeface="Noto Sans SC"/>
                <a:ea typeface="Noto Sans SC"/>
                <a:cs typeface="Noto Sans SC"/>
                <a:sym typeface="Noto Sans SC"/>
              </a:rPr>
              <a:t>从被动防盗到主动感知</a:t>
            </a:r>
            <a:r>
              <a:rPr lang="en-US" sz="1500" b="1" i="0" u="none" strike="noStrike" dirty="0">
                <a:solidFill>
                  <a:srgbClr val="F97316"/>
                </a:solidFill>
                <a:latin typeface="Noto Sans SC"/>
                <a:ea typeface="Noto Sans SC"/>
                <a:cs typeface="Noto Sans SC"/>
                <a:sym typeface="Noto Sans SC"/>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传统安全存储设备的五类痛点</a:t>
            </a:r>
            <a:endParaRPr lang="en-US" sz="1100"/>
          </a:p>
        </p:txBody>
      </p:sp>
      <p:sp>
        <p:nvSpPr>
          <p:cNvPr id="4" name="AutoShape 4"/>
          <p:cNvSpPr/>
          <p:nvPr/>
        </p:nvSpPr>
        <p:spPr>
          <a:xfrm>
            <a:off x="762000" y="5397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传统机械保险箱仅聚焦物理开锁权限，缺乏对环境、状态的智能化感知，无法满足现代场景下的实时安全管理需求</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5" name="AutoShape 5"/>
          <p:cNvSpPr/>
          <p:nvPr/>
        </p:nvSpPr>
        <p:spPr>
          <a:xfrm>
            <a:off x="4953000" y="1905000"/>
            <a:ext cx="2159000" cy="2286000"/>
          </a:xfrm>
          <a:prstGeom prst="roundRect">
            <a:avLst>
              <a:gd name="adj" fmla="val 4705"/>
            </a:avLst>
          </a:prstGeom>
          <a:solidFill>
            <a:srgbClr val="FFFFFF">
              <a:alpha val="9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2159000"/>
            <a:ext cx="355600" cy="355600"/>
          </a:xfrm>
          <a:prstGeom prst="rect">
            <a:avLst/>
          </a:prstGeom>
        </p:spPr>
      </p:pic>
      <p:sp>
        <p:nvSpPr>
          <p:cNvPr id="7" name="AutoShape 7"/>
          <p:cNvSpPr/>
          <p:nvPr/>
        </p:nvSpPr>
        <p:spPr>
          <a:xfrm>
            <a:off x="5207000" y="2667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只防盗，不感知</a:t>
            </a:r>
            <a:endParaRPr lang="en-US" sz="1100"/>
          </a:p>
        </p:txBody>
      </p:sp>
      <p:sp>
        <p:nvSpPr>
          <p:cNvPr id="8" name="AutoShape 8"/>
          <p:cNvSpPr/>
          <p:nvPr/>
        </p:nvSpPr>
        <p:spPr>
          <a:xfrm>
            <a:off x="5206999" y="3048000"/>
            <a:ext cx="1710635" cy="101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100" b="0" i="0" u="none" strike="noStrike" dirty="0" err="1">
                <a:solidFill>
                  <a:srgbClr val="4B5563"/>
                </a:solidFill>
                <a:latin typeface="Noto Sans SC"/>
                <a:ea typeface="Noto Sans SC"/>
                <a:cs typeface="Noto Sans SC"/>
                <a:sym typeface="Noto Sans SC"/>
              </a:rPr>
              <a:t>仅提供物理防护，无法监测温湿度、烟雾、震动等环境风险，安全维度单一</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9" name="AutoShape 9"/>
          <p:cNvSpPr/>
          <p:nvPr/>
        </p:nvSpPr>
        <p:spPr>
          <a:xfrm>
            <a:off x="7366000" y="1905000"/>
            <a:ext cx="2159000" cy="2286000"/>
          </a:xfrm>
          <a:prstGeom prst="roundRect">
            <a:avLst>
              <a:gd name="adj" fmla="val 4705"/>
            </a:avLst>
          </a:prstGeom>
          <a:solidFill>
            <a:srgbClr val="FFFFFF">
              <a:alpha val="9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0" y="2159000"/>
            <a:ext cx="355600" cy="355600"/>
          </a:xfrm>
          <a:prstGeom prst="rect">
            <a:avLst/>
          </a:prstGeom>
        </p:spPr>
      </p:pic>
      <p:sp>
        <p:nvSpPr>
          <p:cNvPr id="11" name="AutoShape 11"/>
          <p:cNvSpPr/>
          <p:nvPr/>
        </p:nvSpPr>
        <p:spPr>
          <a:xfrm>
            <a:off x="7620000" y="2667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异常发现滞后</a:t>
            </a:r>
            <a:endParaRPr lang="en-US" sz="1100"/>
          </a:p>
        </p:txBody>
      </p:sp>
      <p:sp>
        <p:nvSpPr>
          <p:cNvPr id="12" name="AutoShape 12"/>
          <p:cNvSpPr/>
          <p:nvPr/>
        </p:nvSpPr>
        <p:spPr>
          <a:xfrm>
            <a:off x="7620000" y="3048000"/>
            <a:ext cx="17018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100" b="0" i="0" u="none" strike="noStrike" dirty="0" err="1">
                <a:solidFill>
                  <a:srgbClr val="4B5563"/>
                </a:solidFill>
                <a:latin typeface="Noto Sans SC"/>
                <a:ea typeface="Noto Sans SC"/>
                <a:cs typeface="Noto Sans SC"/>
                <a:sym typeface="Noto Sans SC"/>
              </a:rPr>
              <a:t>火情、气体泄漏、暴力破坏等安全事件往往事后才发现，缺乏实时主动预警机制</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13" name="AutoShape 13"/>
          <p:cNvSpPr/>
          <p:nvPr/>
        </p:nvSpPr>
        <p:spPr>
          <a:xfrm>
            <a:off x="9779000" y="1905000"/>
            <a:ext cx="2159000" cy="2286000"/>
          </a:xfrm>
          <a:prstGeom prst="roundRect">
            <a:avLst>
              <a:gd name="adj" fmla="val 4705"/>
            </a:avLst>
          </a:prstGeom>
          <a:solidFill>
            <a:srgbClr val="FFFFFF">
              <a:alpha val="9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33000" y="2159000"/>
            <a:ext cx="355600" cy="355600"/>
          </a:xfrm>
          <a:prstGeom prst="rect">
            <a:avLst/>
          </a:prstGeom>
        </p:spPr>
      </p:pic>
      <p:sp>
        <p:nvSpPr>
          <p:cNvPr id="15" name="AutoShape 15"/>
          <p:cNvSpPr/>
          <p:nvPr/>
        </p:nvSpPr>
        <p:spPr>
          <a:xfrm>
            <a:off x="10033000" y="2667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缺少远程监管</a:t>
            </a:r>
            <a:endParaRPr lang="en-US" sz="1100"/>
          </a:p>
        </p:txBody>
      </p:sp>
      <p:sp>
        <p:nvSpPr>
          <p:cNvPr id="16" name="AutoShape 16"/>
          <p:cNvSpPr/>
          <p:nvPr/>
        </p:nvSpPr>
        <p:spPr>
          <a:xfrm>
            <a:off x="10033000" y="3048000"/>
            <a:ext cx="1728304" cy="101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100" b="0" i="0" u="none" strike="noStrike" dirty="0" err="1">
                <a:solidFill>
                  <a:srgbClr val="4B5563"/>
                </a:solidFill>
                <a:latin typeface="Noto Sans SC"/>
                <a:ea typeface="Noto Sans SC"/>
                <a:cs typeface="Noto Sans SC"/>
                <a:sym typeface="Noto Sans SC"/>
              </a:rPr>
              <a:t>用户不在现场时，无法便捷地查看设备状态、锁状态、报警情况和现场画面</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17" name="AutoShape 17"/>
          <p:cNvSpPr/>
          <p:nvPr/>
        </p:nvSpPr>
        <p:spPr>
          <a:xfrm>
            <a:off x="4953000" y="4572000"/>
            <a:ext cx="3302000" cy="1524000"/>
          </a:xfrm>
          <a:prstGeom prst="roundRect">
            <a:avLst>
              <a:gd name="adj" fmla="val 6666"/>
            </a:avLst>
          </a:prstGeom>
          <a:solidFill>
            <a:srgbClr val="FFFFFF">
              <a:alpha val="9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07000" y="4826000"/>
            <a:ext cx="304800" cy="304800"/>
          </a:xfrm>
          <a:prstGeom prst="rect">
            <a:avLst/>
          </a:prstGeom>
        </p:spPr>
      </p:pic>
      <p:sp>
        <p:nvSpPr>
          <p:cNvPr id="19" name="AutoShape 19"/>
          <p:cNvSpPr/>
          <p:nvPr/>
        </p:nvSpPr>
        <p:spPr>
          <a:xfrm>
            <a:off x="5638800" y="4826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缺少事件留痕，追溯困难</a:t>
            </a:r>
            <a:endParaRPr lang="en-US" sz="1100"/>
          </a:p>
        </p:txBody>
      </p:sp>
      <p:sp>
        <p:nvSpPr>
          <p:cNvPr id="20" name="AutoShape 20"/>
          <p:cNvSpPr/>
          <p:nvPr/>
        </p:nvSpPr>
        <p:spPr>
          <a:xfrm>
            <a:off x="5207000" y="5270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100" b="0" i="0" u="none" strike="noStrike" dirty="0" err="1">
                <a:solidFill>
                  <a:srgbClr val="4B5563"/>
                </a:solidFill>
                <a:latin typeface="Noto Sans SC"/>
                <a:ea typeface="Noto Sans SC"/>
                <a:cs typeface="Noto Sans SC"/>
                <a:sym typeface="Noto Sans SC"/>
              </a:rPr>
              <a:t>异常事件发生后，缺少图片、日志、时间记录等关键信息，导致后续追溯困难</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21" name="AutoShape 21"/>
          <p:cNvSpPr/>
          <p:nvPr/>
        </p:nvSpPr>
        <p:spPr>
          <a:xfrm>
            <a:off x="8636000" y="4572000"/>
            <a:ext cx="3302000" cy="1524000"/>
          </a:xfrm>
          <a:prstGeom prst="roundRect">
            <a:avLst>
              <a:gd name="adj" fmla="val 6666"/>
            </a:avLst>
          </a:prstGeom>
          <a:solidFill>
            <a:srgbClr val="FFFFFF">
              <a:alpha val="9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90000" y="4826000"/>
            <a:ext cx="304800" cy="304800"/>
          </a:xfrm>
          <a:prstGeom prst="rect">
            <a:avLst/>
          </a:prstGeom>
        </p:spPr>
      </p:pic>
      <p:sp>
        <p:nvSpPr>
          <p:cNvPr id="23" name="AutoShape 23"/>
          <p:cNvSpPr/>
          <p:nvPr/>
        </p:nvSpPr>
        <p:spPr>
          <a:xfrm>
            <a:off x="9321800" y="4826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多场景管理成本高</a:t>
            </a:r>
            <a:endParaRPr lang="en-US" sz="1100"/>
          </a:p>
        </p:txBody>
      </p:sp>
      <p:sp>
        <p:nvSpPr>
          <p:cNvPr id="24" name="AutoShape 24"/>
          <p:cNvSpPr/>
          <p:nvPr/>
        </p:nvSpPr>
        <p:spPr>
          <a:xfrm>
            <a:off x="8890000" y="5270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100" b="0" i="0" u="none" strike="noStrike" dirty="0" err="1">
                <a:solidFill>
                  <a:srgbClr val="4B5563"/>
                </a:solidFill>
                <a:latin typeface="Noto Sans SC"/>
                <a:ea typeface="Noto Sans SC"/>
                <a:cs typeface="Noto Sans SC"/>
                <a:sym typeface="Noto Sans SC"/>
              </a:rPr>
              <a:t>在药房、民宿、实验室等场景，传统方案依赖人工巡检和线下管理，效率低下</a:t>
            </a:r>
            <a:r>
              <a:rPr lang="en-US" sz="1100" b="0" i="0" u="none" strike="noStrike" dirty="0">
                <a:solidFill>
                  <a:srgbClr val="4B5563"/>
                </a:solidFill>
                <a:latin typeface="Noto Sans SC"/>
                <a:ea typeface="Noto Sans SC"/>
                <a:cs typeface="Noto Sans SC"/>
                <a:sym typeface="Noto Sans SC"/>
              </a:rPr>
              <a:t>。</a:t>
            </a:r>
            <a:endParaRPr lang="en-US" sz="1100" dirty="0"/>
          </a:p>
        </p:txBody>
      </p:sp>
      <p:pic>
        <p:nvPicPr>
          <p:cNvPr id="26" name="图片 25">
            <a:extLst>
              <a:ext uri="{FF2B5EF4-FFF2-40B4-BE49-F238E27FC236}">
                <a16:creationId xmlns:a16="http://schemas.microsoft.com/office/drawing/2014/main" id="{0EC03FAF-49E5-AC32-5A41-CAD2A5907F62}"/>
              </a:ext>
            </a:extLst>
          </p:cNvPr>
          <p:cNvPicPr>
            <a:picLocks noChangeAspect="1"/>
          </p:cNvPicPr>
          <p:nvPr/>
        </p:nvPicPr>
        <p:blipFill>
          <a:blip r:embed="rId9"/>
          <a:srcRect t="26852" b="28501"/>
          <a:stretch>
            <a:fillRect/>
          </a:stretch>
        </p:blipFill>
        <p:spPr>
          <a:xfrm>
            <a:off x="946150" y="2159000"/>
            <a:ext cx="3086100" cy="30618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用户真正需要的是“安全存储 + 实时监管”</a:t>
            </a:r>
            <a:endParaRPr lang="en-US" sz="1100"/>
          </a:p>
        </p:txBody>
      </p:sp>
      <p:cxnSp>
        <p:nvCxnSpPr>
          <p:cNvPr id="4" name="Connector 4"/>
          <p:cNvCxnSpPr/>
          <p:nvPr/>
        </p:nvCxnSpPr>
        <p:spPr>
          <a:xfrm rot="5389582">
            <a:off x="6413500" y="3740160"/>
            <a:ext cx="4191000" cy="12700"/>
          </a:xfrm>
          <a:prstGeom prst="straightConnector1">
            <a:avLst/>
          </a:prstGeom>
          <a:solidFill>
            <a:srgbClr val="DEE0E3">
              <a:alpha val="100000"/>
            </a:srgbClr>
          </a:solidFill>
          <a:ln w="12700" cap="flat" cmpd="sng">
            <a:solidFill>
              <a:srgbClr val="1F2937">
                <a:alpha val="20000"/>
              </a:srgbClr>
            </a:solidFill>
            <a:prstDash val="dash"/>
            <a:round/>
            <a:headEnd type="none" w="med" len="med"/>
            <a:tailEnd type="none" w="med" len="med"/>
          </a:ln>
        </p:spPr>
      </p:cxnSp>
      <p:sp>
        <p:nvSpPr>
          <p:cNvPr id="5" name="AutoShape 5"/>
          <p:cNvSpPr/>
          <p:nvPr/>
        </p:nvSpPr>
        <p:spPr>
          <a:xfrm>
            <a:off x="762000" y="1524000"/>
            <a:ext cx="3619500" cy="1968500"/>
          </a:xfrm>
          <a:prstGeom prst="roundRect">
            <a:avLst>
              <a:gd name="adj" fmla="val 0"/>
            </a:avLst>
          </a:prstGeom>
          <a:solidFill>
            <a:srgbClr val="FFFFFF">
              <a:alpha val="7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2413000" y="1651000"/>
            <a:ext cx="1841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97316"/>
                </a:solidFill>
                <a:latin typeface="Noto Sans SC"/>
                <a:ea typeface="Noto Sans SC"/>
                <a:cs typeface="Noto Sans SC"/>
                <a:sym typeface="Noto Sans SC"/>
              </a:rPr>
              <a:t>家庭场景</a:t>
            </a:r>
            <a:endParaRPr lang="en-US" sz="1100" dirty="0"/>
          </a:p>
          <a:p>
            <a:pPr marL="0" indent="0" algn="l">
              <a:lnSpc>
                <a:spcPct val="150000"/>
              </a:lnSpc>
            </a:pPr>
            <a:r>
              <a:rPr lang="en-US" sz="1200" b="0" i="0" u="none" strike="noStrike" dirty="0" err="1">
                <a:solidFill>
                  <a:srgbClr val="374151"/>
                </a:solidFill>
                <a:latin typeface="Noto Sans SC"/>
                <a:ea typeface="Noto Sans SC"/>
                <a:cs typeface="Noto Sans SC"/>
                <a:sym typeface="Noto Sans SC"/>
              </a:rPr>
              <a:t>贵重物品、证件、药品安全保管，防止儿童误拿和外人盗取</a:t>
            </a:r>
            <a:endParaRPr lang="en-US" sz="1200" b="0" i="0" u="none" strike="noStrike" dirty="0">
              <a:solidFill>
                <a:srgbClr val="374151"/>
              </a:solidFill>
              <a:latin typeface="Noto Sans SC"/>
              <a:ea typeface="Noto Sans SC"/>
              <a:cs typeface="Noto Sans SC"/>
              <a:sym typeface="Noto Sans SC"/>
            </a:endParaRPr>
          </a:p>
        </p:txBody>
      </p:sp>
      <p:sp>
        <p:nvSpPr>
          <p:cNvPr id="7" name="AutoShape 7"/>
          <p:cNvSpPr/>
          <p:nvPr/>
        </p:nvSpPr>
        <p:spPr>
          <a:xfrm>
            <a:off x="4572000" y="1524000"/>
            <a:ext cx="3619500" cy="1968500"/>
          </a:xfrm>
          <a:prstGeom prst="roundRect">
            <a:avLst>
              <a:gd name="adj" fmla="val 0"/>
            </a:avLst>
          </a:prstGeom>
          <a:solidFill>
            <a:srgbClr val="FFFFFF">
              <a:alpha val="7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651000"/>
            <a:ext cx="1841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97316"/>
                </a:solidFill>
                <a:latin typeface="Noto Sans SC"/>
                <a:ea typeface="Noto Sans SC"/>
                <a:cs typeface="Noto Sans SC"/>
                <a:sym typeface="Noto Sans SC"/>
              </a:rPr>
              <a:t>诊所</a:t>
            </a:r>
            <a:r>
              <a:rPr lang="en-US" sz="1600" b="1" i="0" u="none" strike="noStrike" dirty="0">
                <a:solidFill>
                  <a:srgbClr val="F97316"/>
                </a:solidFill>
                <a:latin typeface="Noto Sans SC"/>
                <a:ea typeface="Noto Sans SC"/>
                <a:cs typeface="Noto Sans SC"/>
                <a:sym typeface="Noto Sans SC"/>
              </a:rPr>
              <a:t>/</a:t>
            </a:r>
            <a:r>
              <a:rPr lang="en-US" sz="1600" b="1" i="0" u="none" strike="noStrike" dirty="0" err="1">
                <a:solidFill>
                  <a:srgbClr val="F97316"/>
                </a:solidFill>
                <a:latin typeface="Noto Sans SC"/>
                <a:ea typeface="Noto Sans SC"/>
                <a:cs typeface="Noto Sans SC"/>
                <a:sym typeface="Noto Sans SC"/>
              </a:rPr>
              <a:t>药房场景</a:t>
            </a:r>
            <a:endParaRPr lang="en-US" sz="1100" dirty="0"/>
          </a:p>
          <a:p>
            <a:pPr marL="0" indent="0" algn="l">
              <a:lnSpc>
                <a:spcPct val="150000"/>
              </a:lnSpc>
            </a:pPr>
            <a:r>
              <a:rPr lang="en-US" sz="1200" b="0" i="0" u="none" strike="noStrike" dirty="0" err="1">
                <a:solidFill>
                  <a:srgbClr val="374151"/>
                </a:solidFill>
                <a:latin typeface="Noto Sans SC"/>
                <a:ea typeface="Noto Sans SC"/>
                <a:cs typeface="Noto Sans SC"/>
                <a:sym typeface="Noto Sans SC"/>
              </a:rPr>
              <a:t>药品、样本、试剂需要受控访问和环境监管</a:t>
            </a:r>
            <a:endParaRPr lang="en-US" sz="1200" b="0" i="0" u="none" strike="noStrike" dirty="0">
              <a:solidFill>
                <a:srgbClr val="374151"/>
              </a:solidFill>
              <a:latin typeface="Noto Sans SC"/>
              <a:ea typeface="Noto Sans SC"/>
              <a:cs typeface="Noto Sans SC"/>
              <a:sym typeface="Noto Sans SC"/>
            </a:endParaRPr>
          </a:p>
        </p:txBody>
      </p:sp>
      <p:sp>
        <p:nvSpPr>
          <p:cNvPr id="9" name="AutoShape 9"/>
          <p:cNvSpPr/>
          <p:nvPr/>
        </p:nvSpPr>
        <p:spPr>
          <a:xfrm>
            <a:off x="762000" y="3810000"/>
            <a:ext cx="3619500" cy="1968500"/>
          </a:xfrm>
          <a:prstGeom prst="roundRect">
            <a:avLst>
              <a:gd name="adj" fmla="val 0"/>
            </a:avLst>
          </a:prstGeom>
          <a:solidFill>
            <a:srgbClr val="FFFFFF">
              <a:alpha val="7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413000" y="3937000"/>
            <a:ext cx="1841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97316"/>
                </a:solidFill>
                <a:latin typeface="Noto Sans SC"/>
                <a:ea typeface="Noto Sans SC"/>
                <a:cs typeface="Noto Sans SC"/>
                <a:sym typeface="Noto Sans SC"/>
              </a:rPr>
              <a:t>民宿</a:t>
            </a:r>
            <a:r>
              <a:rPr lang="en-US" sz="1600" b="1" i="0" u="none" strike="noStrike" dirty="0">
                <a:solidFill>
                  <a:srgbClr val="F97316"/>
                </a:solidFill>
                <a:latin typeface="Noto Sans SC"/>
                <a:ea typeface="Noto Sans SC"/>
                <a:cs typeface="Noto Sans SC"/>
                <a:sym typeface="Noto Sans SC"/>
              </a:rPr>
              <a:t>/</a:t>
            </a:r>
            <a:r>
              <a:rPr lang="en-US" sz="1600" b="1" i="0" u="none" strike="noStrike" dirty="0" err="1">
                <a:solidFill>
                  <a:srgbClr val="F97316"/>
                </a:solidFill>
                <a:latin typeface="Noto Sans SC"/>
                <a:ea typeface="Noto Sans SC"/>
                <a:cs typeface="Noto Sans SC"/>
                <a:sym typeface="Noto Sans SC"/>
              </a:rPr>
              <a:t>酒店场景</a:t>
            </a:r>
            <a:endParaRPr lang="en-US" sz="1100" dirty="0"/>
          </a:p>
          <a:p>
            <a:pPr marL="0" indent="0" algn="l">
              <a:lnSpc>
                <a:spcPct val="150000"/>
              </a:lnSpc>
            </a:pPr>
            <a:r>
              <a:rPr lang="en-US" sz="1200" b="0" i="0" u="none" strike="noStrike" dirty="0" err="1">
                <a:solidFill>
                  <a:srgbClr val="374151"/>
                </a:solidFill>
                <a:latin typeface="Noto Sans SC"/>
                <a:ea typeface="Noto Sans SC"/>
                <a:cs typeface="Noto Sans SC"/>
                <a:sym typeface="Noto Sans SC"/>
              </a:rPr>
              <a:t>钥匙、门卡、临时寄存物需要远程管理</a:t>
            </a:r>
            <a:endParaRPr lang="en-US" sz="1200" b="0" i="0" u="none" strike="noStrike" dirty="0">
              <a:solidFill>
                <a:srgbClr val="374151"/>
              </a:solidFill>
              <a:latin typeface="Noto Sans SC"/>
              <a:ea typeface="Noto Sans SC"/>
              <a:cs typeface="Noto Sans SC"/>
              <a:sym typeface="Noto Sans SC"/>
            </a:endParaRPr>
          </a:p>
        </p:txBody>
      </p:sp>
      <p:sp>
        <p:nvSpPr>
          <p:cNvPr id="11" name="AutoShape 11"/>
          <p:cNvSpPr/>
          <p:nvPr/>
        </p:nvSpPr>
        <p:spPr>
          <a:xfrm>
            <a:off x="4572000" y="3810000"/>
            <a:ext cx="3619500" cy="1968500"/>
          </a:xfrm>
          <a:prstGeom prst="roundRect">
            <a:avLst>
              <a:gd name="adj" fmla="val 0"/>
            </a:avLst>
          </a:prstGeom>
          <a:solidFill>
            <a:srgbClr val="FFFFFF">
              <a:alpha val="7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3937000"/>
            <a:ext cx="1841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F97316"/>
                </a:solidFill>
                <a:latin typeface="Noto Sans SC"/>
                <a:ea typeface="Noto Sans SC"/>
                <a:cs typeface="Noto Sans SC"/>
                <a:sym typeface="Noto Sans SC"/>
              </a:rPr>
              <a:t>实验室场景</a:t>
            </a:r>
            <a:endParaRPr lang="en-US" sz="1100" dirty="0"/>
          </a:p>
          <a:p>
            <a:pPr marL="0" indent="0" algn="l">
              <a:lnSpc>
                <a:spcPct val="150000"/>
              </a:lnSpc>
            </a:pPr>
            <a:r>
              <a:rPr lang="en-US" sz="1200" b="0" i="0" u="none" strike="noStrike" dirty="0" err="1">
                <a:solidFill>
                  <a:srgbClr val="374151"/>
                </a:solidFill>
                <a:latin typeface="Noto Sans SC"/>
                <a:ea typeface="Noto Sans SC"/>
                <a:cs typeface="Noto Sans SC"/>
                <a:sym typeface="Noto Sans SC"/>
              </a:rPr>
              <a:t>危险品、试剂、样本需要异常检测和风险预警</a:t>
            </a:r>
            <a:endParaRPr lang="en-US" sz="1200" b="0" i="0" u="none" strike="noStrike" dirty="0">
              <a:solidFill>
                <a:srgbClr val="374151"/>
              </a:solidFill>
              <a:latin typeface="Noto Sans SC"/>
              <a:ea typeface="Noto Sans SC"/>
              <a:cs typeface="Noto Sans SC"/>
              <a:sym typeface="Noto Sans SC"/>
            </a:endParaRPr>
          </a:p>
        </p:txBody>
      </p:sp>
      <p:sp>
        <p:nvSpPr>
          <p:cNvPr id="13" name="AutoShape 13"/>
          <p:cNvSpPr/>
          <p:nvPr/>
        </p:nvSpPr>
        <p:spPr>
          <a:xfrm>
            <a:off x="8763000" y="1778000"/>
            <a:ext cx="1397000" cy="952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0" y="1905000"/>
            <a:ext cx="304800" cy="304800"/>
          </a:xfrm>
          <a:prstGeom prst="rect">
            <a:avLst/>
          </a:prstGeom>
        </p:spPr>
      </p:pic>
      <p:sp>
        <p:nvSpPr>
          <p:cNvPr id="15" name="AutoShape 15"/>
          <p:cNvSpPr/>
          <p:nvPr/>
        </p:nvSpPr>
        <p:spPr>
          <a:xfrm>
            <a:off x="9271000" y="18796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可感知</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多维传感监测</a:t>
            </a:r>
          </a:p>
        </p:txBody>
      </p:sp>
      <p:sp>
        <p:nvSpPr>
          <p:cNvPr id="16" name="AutoShape 16"/>
          <p:cNvSpPr/>
          <p:nvPr/>
        </p:nvSpPr>
        <p:spPr>
          <a:xfrm>
            <a:off x="10287000" y="1778000"/>
            <a:ext cx="1397000" cy="952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14000" y="1905000"/>
            <a:ext cx="304800" cy="304800"/>
          </a:xfrm>
          <a:prstGeom prst="rect">
            <a:avLst/>
          </a:prstGeom>
        </p:spPr>
      </p:pic>
      <p:sp>
        <p:nvSpPr>
          <p:cNvPr id="18" name="AutoShape 18"/>
          <p:cNvSpPr/>
          <p:nvPr/>
        </p:nvSpPr>
        <p:spPr>
          <a:xfrm>
            <a:off x="10795000" y="18796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可联网</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远程实时互联</a:t>
            </a:r>
          </a:p>
        </p:txBody>
      </p:sp>
      <p:sp>
        <p:nvSpPr>
          <p:cNvPr id="19" name="AutoShape 19"/>
          <p:cNvSpPr/>
          <p:nvPr/>
        </p:nvSpPr>
        <p:spPr>
          <a:xfrm>
            <a:off x="8763000" y="3048000"/>
            <a:ext cx="1397000" cy="952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3175000"/>
            <a:ext cx="304800" cy="304800"/>
          </a:xfrm>
          <a:prstGeom prst="rect">
            <a:avLst/>
          </a:prstGeom>
        </p:spPr>
      </p:pic>
      <p:sp>
        <p:nvSpPr>
          <p:cNvPr id="21" name="AutoShape 21"/>
          <p:cNvSpPr/>
          <p:nvPr/>
        </p:nvSpPr>
        <p:spPr>
          <a:xfrm>
            <a:off x="9271000" y="31496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可控制</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权限灵活管理</a:t>
            </a:r>
          </a:p>
        </p:txBody>
      </p:sp>
      <p:sp>
        <p:nvSpPr>
          <p:cNvPr id="22" name="AutoShape 22"/>
          <p:cNvSpPr/>
          <p:nvPr/>
        </p:nvSpPr>
        <p:spPr>
          <a:xfrm>
            <a:off x="10287000" y="3048000"/>
            <a:ext cx="1397000" cy="952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4000" y="3175000"/>
            <a:ext cx="304800" cy="304800"/>
          </a:xfrm>
          <a:prstGeom prst="rect">
            <a:avLst/>
          </a:prstGeom>
        </p:spPr>
      </p:pic>
      <p:sp>
        <p:nvSpPr>
          <p:cNvPr id="24" name="AutoShape 24"/>
          <p:cNvSpPr/>
          <p:nvPr/>
        </p:nvSpPr>
        <p:spPr>
          <a:xfrm>
            <a:off x="10795000" y="31496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可追溯</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操作全程留痕</a:t>
            </a:r>
          </a:p>
        </p:txBody>
      </p:sp>
      <p:sp>
        <p:nvSpPr>
          <p:cNvPr id="25" name="AutoShape 25"/>
          <p:cNvSpPr/>
          <p:nvPr/>
        </p:nvSpPr>
        <p:spPr>
          <a:xfrm>
            <a:off x="8763000" y="4318000"/>
            <a:ext cx="2921000" cy="9525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90000" y="4508500"/>
            <a:ext cx="304800" cy="304800"/>
          </a:xfrm>
          <a:prstGeom prst="rect">
            <a:avLst/>
          </a:prstGeom>
        </p:spPr>
      </p:pic>
      <p:sp>
        <p:nvSpPr>
          <p:cNvPr id="27" name="AutoShape 27"/>
          <p:cNvSpPr/>
          <p:nvPr/>
        </p:nvSpPr>
        <p:spPr>
          <a:xfrm>
            <a:off x="9398000" y="44196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可预警：风险即时响应</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环境、操作异常自动触发多端报警，防患于未然。</a:t>
            </a:r>
          </a:p>
        </p:txBody>
      </p:sp>
      <p:sp>
        <p:nvSpPr>
          <p:cNvPr id="28" name="AutoShape 28"/>
          <p:cNvSpPr/>
          <p:nvPr/>
        </p:nvSpPr>
        <p:spPr>
          <a:xfrm>
            <a:off x="8763000" y="5588000"/>
            <a:ext cx="2921000" cy="762000"/>
          </a:xfrm>
          <a:prstGeom prst="roundRect">
            <a:avLst>
              <a:gd name="adj" fmla="val 0"/>
            </a:avLst>
          </a:prstGeom>
          <a:solidFill>
            <a:srgbClr val="F97316">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890000" y="5651500"/>
            <a:ext cx="266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solidFill>
                <a:latin typeface="Noto Sans SC"/>
                <a:ea typeface="Noto Sans SC"/>
                <a:cs typeface="Noto Sans SC"/>
                <a:sym typeface="Noto Sans SC"/>
              </a:rPr>
              <a:t>综上，系统核心需融合“感知、联网、控制、追溯、预警”五大能力。</a:t>
            </a:r>
            <a:endParaRPr lang="en-US" sz="1100"/>
          </a:p>
        </p:txBody>
      </p:sp>
      <p:pic>
        <p:nvPicPr>
          <p:cNvPr id="30" name="图片 29" descr="https://image.made-in-china.com/2f0j00pGaqTEdCjuzt/Home-Smart-Safe-Bedroom-Password-Fingerprint-Anti-Theft-Hidden-Safe-Bedside-Safety-Cabinet.jpg">
            <a:extLst>
              <a:ext uri="{FF2B5EF4-FFF2-40B4-BE49-F238E27FC236}">
                <a16:creationId xmlns:a16="http://schemas.microsoft.com/office/drawing/2014/main" id="{FC56AC40-6580-098B-E8C7-127CACE3924F}"/>
              </a:ext>
            </a:extLst>
          </p:cNvPr>
          <p:cNvPicPr>
            <a:picLocks noChangeAspect="1"/>
          </p:cNvPicPr>
          <p:nvPr/>
        </p:nvPicPr>
        <p:blipFill>
          <a:blip r:embed="rId9"/>
          <a:stretch>
            <a:fillRect/>
          </a:stretch>
        </p:blipFill>
        <p:spPr>
          <a:xfrm>
            <a:off x="867500" y="1805714"/>
            <a:ext cx="1440000" cy="1440000"/>
          </a:xfrm>
          <a:prstGeom prst="rect">
            <a:avLst/>
          </a:prstGeom>
        </p:spPr>
      </p:pic>
      <p:pic>
        <p:nvPicPr>
          <p:cNvPr id="31" name="图片 30" descr="https://i.pinimg.com/originals/bb/7c/10/bb7c1057c5481144c6a707e2bcef66c7.jpg">
            <a:extLst>
              <a:ext uri="{FF2B5EF4-FFF2-40B4-BE49-F238E27FC236}">
                <a16:creationId xmlns:a16="http://schemas.microsoft.com/office/drawing/2014/main" id="{2812F2CA-F6FC-5EBC-029F-FF2D64338436}"/>
              </a:ext>
            </a:extLst>
          </p:cNvPr>
          <p:cNvPicPr>
            <a:picLocks noChangeAspect="1"/>
          </p:cNvPicPr>
          <p:nvPr/>
        </p:nvPicPr>
        <p:blipFill>
          <a:blip r:embed="rId10"/>
          <a:stretch>
            <a:fillRect/>
          </a:stretch>
        </p:blipFill>
        <p:spPr>
          <a:xfrm>
            <a:off x="867500" y="4080600"/>
            <a:ext cx="1440000" cy="1440000"/>
          </a:xfrm>
          <a:prstGeom prst="rect">
            <a:avLst/>
          </a:prstGeom>
        </p:spPr>
      </p:pic>
      <p:pic>
        <p:nvPicPr>
          <p:cNvPr id="33" name="图片 32" descr="https://assets-large.qssupplies.co.uk/QS-V70983_3_lg.jpg">
            <a:extLst>
              <a:ext uri="{FF2B5EF4-FFF2-40B4-BE49-F238E27FC236}">
                <a16:creationId xmlns:a16="http://schemas.microsoft.com/office/drawing/2014/main" id="{7D77855B-0E03-8E9C-9DDE-BFD2E23E264A}"/>
              </a:ext>
            </a:extLst>
          </p:cNvPr>
          <p:cNvPicPr>
            <a:picLocks noChangeAspect="1"/>
          </p:cNvPicPr>
          <p:nvPr/>
        </p:nvPicPr>
        <p:blipFill>
          <a:blip r:embed="rId11"/>
          <a:stretch>
            <a:fillRect/>
          </a:stretch>
        </p:blipFill>
        <p:spPr>
          <a:xfrm>
            <a:off x="4686299" y="1810645"/>
            <a:ext cx="1440000" cy="1440000"/>
          </a:xfrm>
          <a:prstGeom prst="rect">
            <a:avLst/>
          </a:prstGeom>
        </p:spPr>
      </p:pic>
      <p:pic>
        <p:nvPicPr>
          <p:cNvPr id="34" name="图片 33" descr="https://images.openai.com/static-rsc-4/KkiPJGf4fw89WOZoCFfdA_Yf5amvcdl2XGc86dRpKS2fnsw-XYeQ4UUkvf5KVZANqXhcNGTQzL6QRKZke2jO0GVSDz-Pyi2htGywa4p1wN8gaE-uLLYfMc7R3Ot-1y93r5r5JNXqXDvcXO4oCafrLfjVt3_DFRkHe0OFQErf0h3EEY8xeROzsHfw-ISEa6uu?purpose=fullsize">
            <a:extLst>
              <a:ext uri="{FF2B5EF4-FFF2-40B4-BE49-F238E27FC236}">
                <a16:creationId xmlns:a16="http://schemas.microsoft.com/office/drawing/2014/main" id="{0C35FF8B-C501-5A60-B8E8-58AF452FA3EE}"/>
              </a:ext>
            </a:extLst>
          </p:cNvPr>
          <p:cNvPicPr>
            <a:picLocks noChangeAspect="1"/>
          </p:cNvPicPr>
          <p:nvPr/>
        </p:nvPicPr>
        <p:blipFill>
          <a:blip r:embed="rId12"/>
          <a:stretch>
            <a:fillRect/>
          </a:stretch>
        </p:blipFill>
        <p:spPr>
          <a:xfrm>
            <a:off x="4690000" y="4080600"/>
            <a:ext cx="1437750" cy="144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F97316"/>
                </a:solidFill>
                <a:latin typeface="Noto Sans SC"/>
                <a:ea typeface="Noto Sans SC"/>
                <a:cs typeface="Noto Sans SC"/>
                <a:sym typeface="Noto Sans SC"/>
              </a:rPr>
              <a:t>02</a:t>
            </a:r>
            <a:endParaRPr lang="en-US" sz="1100"/>
          </a:p>
        </p:txBody>
      </p:sp>
      <p:sp>
        <p:nvSpPr>
          <p:cNvPr id="4" name="AutoShape 4"/>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a:ea typeface="Noto Sans SC"/>
                <a:cs typeface="Noto Sans SC"/>
                <a:sym typeface="Noto Sans SC"/>
              </a:rPr>
              <a:t>产品定位与解决方案</a:t>
            </a:r>
            <a:endParaRPr lang="en-US" sz="1100"/>
          </a:p>
        </p:txBody>
      </p:sp>
      <p:sp>
        <p:nvSpPr>
          <p:cNvPr id="5" name="AutoShape 5"/>
          <p:cNvSpPr/>
          <p:nvPr/>
        </p:nvSpPr>
        <p:spPr>
          <a:xfrm>
            <a:off x="5588000" y="4826000"/>
            <a:ext cx="101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4999" y="5143500"/>
            <a:ext cx="11055819"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600" b="0" i="0" u="none" strike="noStrike" dirty="0" err="1">
                <a:solidFill>
                  <a:srgbClr val="374151"/>
                </a:solidFill>
                <a:latin typeface="Noto Sans SC"/>
                <a:ea typeface="Noto Sans SC"/>
                <a:cs typeface="Noto Sans SC"/>
                <a:sym typeface="Noto Sans SC"/>
              </a:rPr>
              <a:t>系统以</a:t>
            </a:r>
            <a:r>
              <a:rPr lang="en-US" sz="1600" b="0" i="0" u="none" strike="noStrike" dirty="0">
                <a:solidFill>
                  <a:srgbClr val="374151"/>
                </a:solidFill>
                <a:latin typeface="Noto Sans SC"/>
                <a:ea typeface="Noto Sans SC"/>
                <a:cs typeface="Noto Sans SC"/>
                <a:sym typeface="Noto Sans SC"/>
              </a:rPr>
              <a:t> ESP32-S3 </a:t>
            </a:r>
            <a:r>
              <a:rPr lang="en-US" sz="1600" b="0" i="0" u="none" strike="noStrike" dirty="0" err="1">
                <a:solidFill>
                  <a:srgbClr val="374151"/>
                </a:solidFill>
                <a:latin typeface="Noto Sans SC"/>
                <a:ea typeface="Noto Sans SC"/>
                <a:cs typeface="Noto Sans SC"/>
                <a:sym typeface="Noto Sans SC"/>
              </a:rPr>
              <a:t>为核心控制器，接入</a:t>
            </a:r>
            <a:r>
              <a:rPr lang="en-US" sz="1600" b="0" i="0" u="none" strike="noStrike" dirty="0">
                <a:solidFill>
                  <a:srgbClr val="374151"/>
                </a:solidFill>
                <a:latin typeface="Noto Sans SC"/>
                <a:ea typeface="Noto Sans SC"/>
                <a:cs typeface="Noto Sans SC"/>
                <a:sym typeface="Noto Sans SC"/>
              </a:rPr>
              <a:t> </a:t>
            </a:r>
            <a:r>
              <a:rPr lang="en-US" sz="1600" b="0" i="0" u="none" strike="noStrike" dirty="0" err="1">
                <a:solidFill>
                  <a:srgbClr val="374151"/>
                </a:solidFill>
                <a:latin typeface="Noto Sans SC"/>
                <a:ea typeface="Noto Sans SC"/>
                <a:cs typeface="Noto Sans SC"/>
                <a:sym typeface="Noto Sans SC"/>
              </a:rPr>
              <a:t>RFID、温湿度、气体、震动、摄像头等模块，通过</a:t>
            </a:r>
            <a:r>
              <a:rPr lang="en-US" sz="1600" b="0" i="0" u="none" strike="noStrike" dirty="0">
                <a:solidFill>
                  <a:srgbClr val="374151"/>
                </a:solidFill>
                <a:latin typeface="Noto Sans SC"/>
                <a:ea typeface="Noto Sans SC"/>
                <a:cs typeface="Noto Sans SC"/>
                <a:sym typeface="Noto Sans SC"/>
              </a:rPr>
              <a:t> </a:t>
            </a:r>
            <a:r>
              <a:rPr lang="en-US" sz="1600" b="0" i="0" u="none" strike="noStrike" dirty="0" err="1">
                <a:solidFill>
                  <a:srgbClr val="374151"/>
                </a:solidFill>
                <a:latin typeface="Noto Sans SC"/>
                <a:ea typeface="Noto Sans SC"/>
                <a:cs typeface="Noto Sans SC"/>
                <a:sym typeface="Noto Sans SC"/>
              </a:rPr>
              <a:t>Wi-Fi、MQTT、HTTP</a:t>
            </a:r>
            <a:r>
              <a:rPr lang="en-US" sz="1600" b="0" i="0" u="none" strike="noStrike" dirty="0">
                <a:solidFill>
                  <a:srgbClr val="374151"/>
                </a:solidFill>
                <a:latin typeface="Noto Sans SC"/>
                <a:ea typeface="Noto Sans SC"/>
                <a:cs typeface="Noto Sans SC"/>
                <a:sym typeface="Noto Sans SC"/>
              </a:rPr>
              <a:t> </a:t>
            </a:r>
            <a:r>
              <a:rPr lang="en-US" sz="1600" b="0" i="0" u="none" strike="noStrike" dirty="0" err="1">
                <a:solidFill>
                  <a:srgbClr val="374151"/>
                </a:solidFill>
                <a:latin typeface="Noto Sans SC"/>
                <a:ea typeface="Noto Sans SC"/>
                <a:cs typeface="Noto Sans SC"/>
                <a:sym typeface="Noto Sans SC"/>
              </a:rPr>
              <a:t>与华为云、后端服务、Web</a:t>
            </a:r>
            <a:r>
              <a:rPr lang="en-US" sz="1600" b="0" i="0" u="none" strike="noStrike" dirty="0">
                <a:solidFill>
                  <a:srgbClr val="374151"/>
                </a:solidFill>
                <a:latin typeface="Noto Sans SC"/>
                <a:ea typeface="Noto Sans SC"/>
                <a:cs typeface="Noto Sans SC"/>
                <a:sym typeface="Noto Sans SC"/>
              </a:rPr>
              <a:t> </a:t>
            </a:r>
            <a:r>
              <a:rPr lang="en-US" sz="1600" b="0" i="0" u="none" strike="noStrike" dirty="0" err="1">
                <a:solidFill>
                  <a:srgbClr val="374151"/>
                </a:solidFill>
                <a:latin typeface="Noto Sans SC"/>
                <a:ea typeface="Noto Sans SC"/>
                <a:cs typeface="Noto Sans SC"/>
                <a:sym typeface="Noto Sans SC"/>
              </a:rPr>
              <a:t>前端和微信小程序连接，实现本地安防、远程监管、图像留痕和</a:t>
            </a:r>
            <a:r>
              <a:rPr lang="en-US" sz="1600" b="0" i="0" u="none" strike="noStrike" dirty="0">
                <a:solidFill>
                  <a:srgbClr val="374151"/>
                </a:solidFill>
                <a:latin typeface="Noto Sans SC"/>
                <a:ea typeface="Noto Sans SC"/>
                <a:cs typeface="Noto Sans SC"/>
                <a:sym typeface="Noto Sans SC"/>
              </a:rPr>
              <a:t> AI </a:t>
            </a:r>
            <a:r>
              <a:rPr lang="en-US" sz="1600" b="0" i="0" u="none" strike="noStrike" dirty="0" err="1">
                <a:solidFill>
                  <a:srgbClr val="374151"/>
                </a:solidFill>
                <a:latin typeface="Noto Sans SC"/>
                <a:ea typeface="Noto Sans SC"/>
                <a:cs typeface="Noto Sans SC"/>
                <a:sym typeface="Noto Sans SC"/>
              </a:rPr>
              <a:t>风险预测</a:t>
            </a:r>
            <a:r>
              <a:rPr lang="en-US" sz="1600" b="0" i="0" u="none" strike="noStrike" dirty="0">
                <a:solidFill>
                  <a:srgbClr val="374151"/>
                </a:solidFill>
                <a:latin typeface="Noto Sans SC"/>
                <a:ea typeface="Noto Sans SC"/>
                <a:cs typeface="Noto Sans SC"/>
                <a:sym typeface="Noto Sans SC"/>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面向多场景的物联网安全存储终端</a:t>
            </a:r>
            <a:endParaRPr lang="en-US" sz="1100"/>
          </a:p>
        </p:txBody>
      </p:sp>
      <p:sp>
        <p:nvSpPr>
          <p:cNvPr id="4" name="AutoShape 4"/>
          <p:cNvSpPr/>
          <p:nvPr/>
        </p:nvSpPr>
        <p:spPr>
          <a:xfrm>
            <a:off x="762000" y="1397000"/>
            <a:ext cx="10668000" cy="114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524000"/>
            <a:ext cx="10312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rgbClr val="374151"/>
                </a:solidFill>
                <a:latin typeface="Noto Sans SC"/>
                <a:ea typeface="Noto Sans SC"/>
                <a:cs typeface="Noto Sans SC"/>
                <a:sym typeface="Noto Sans SC"/>
              </a:rPr>
              <a:t>         本项目以智能保险箱为原型，面向家庭、药房、民宿、实验室等安全存储场景，设计并实现一套集身份认证、环境监测、异常报警、图像留痕、云端通信、Web </a:t>
            </a:r>
            <a:r>
              <a:rPr lang="en-US" sz="1400" b="0" i="0" u="none" strike="noStrike" dirty="0" err="1">
                <a:solidFill>
                  <a:srgbClr val="374151"/>
                </a:solidFill>
                <a:latin typeface="Noto Sans SC"/>
                <a:ea typeface="Noto Sans SC"/>
                <a:cs typeface="Noto Sans SC"/>
                <a:sym typeface="Noto Sans SC"/>
              </a:rPr>
              <a:t>管理、微信小程序控制和</a:t>
            </a:r>
            <a:r>
              <a:rPr lang="en-US" sz="1400" b="0" i="0" u="none" strike="noStrike" dirty="0">
                <a:solidFill>
                  <a:srgbClr val="374151"/>
                </a:solidFill>
                <a:latin typeface="Noto Sans SC"/>
                <a:ea typeface="Noto Sans SC"/>
                <a:cs typeface="Noto Sans SC"/>
                <a:sym typeface="Noto Sans SC"/>
              </a:rPr>
              <a:t> AI </a:t>
            </a:r>
            <a:r>
              <a:rPr lang="en-US" sz="1400" b="0" i="0" u="none" strike="noStrike" dirty="0" err="1">
                <a:solidFill>
                  <a:srgbClr val="374151"/>
                </a:solidFill>
                <a:latin typeface="Noto Sans SC"/>
                <a:ea typeface="Noto Sans SC"/>
                <a:cs typeface="Noto Sans SC"/>
                <a:sym typeface="Noto Sans SC"/>
              </a:rPr>
              <a:t>风险预测于一体的物联网全栈系统</a:t>
            </a:r>
            <a:r>
              <a:rPr lang="en-US" sz="1400" b="0" i="0" u="none" strike="noStrike" dirty="0">
                <a:solidFill>
                  <a:srgbClr val="374151"/>
                </a:solidFill>
                <a:latin typeface="Noto Sans SC"/>
                <a:ea typeface="Noto Sans SC"/>
                <a:cs typeface="Noto Sans SC"/>
                <a:sym typeface="Noto Sans SC"/>
              </a:rPr>
              <a:t>。</a:t>
            </a:r>
            <a:endParaRPr lang="en-US" sz="1100" dirty="0"/>
          </a:p>
        </p:txBody>
      </p:sp>
      <p:sp>
        <p:nvSpPr>
          <p:cNvPr id="6" name="AutoShape 6"/>
          <p:cNvSpPr/>
          <p:nvPr/>
        </p:nvSpPr>
        <p:spPr>
          <a:xfrm>
            <a:off x="762000" y="3048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3302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406400" cy="406400"/>
          </a:xfrm>
          <a:prstGeom prst="rect">
            <a:avLst/>
          </a:prstGeom>
        </p:spPr>
      </p:pic>
      <p:sp>
        <p:nvSpPr>
          <p:cNvPr id="9" name="AutoShape 9"/>
          <p:cNvSpPr/>
          <p:nvPr/>
        </p:nvSpPr>
        <p:spPr>
          <a:xfrm>
            <a:off x="1587500" y="32385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身份认证体系</a:t>
            </a:r>
            <a:endParaRPr lang="en-US" sz="1100"/>
          </a:p>
        </p:txBody>
      </p:sp>
      <p:cxnSp>
        <p:nvCxnSpPr>
          <p:cNvPr id="10" name="Connector 10"/>
          <p:cNvCxnSpPr/>
          <p:nvPr/>
        </p:nvCxnSpPr>
        <p:spPr>
          <a:xfrm rot="-15211">
            <a:off x="1016014" y="3803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11" name="AutoShape 11"/>
          <p:cNvSpPr/>
          <p:nvPr/>
        </p:nvSpPr>
        <p:spPr>
          <a:xfrm>
            <a:off x="1016000" y="3937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RFID 授权卡识别</a:t>
            </a:r>
            <a:endParaRPr lang="en-US" sz="1100"/>
          </a:p>
        </p:txBody>
      </p:sp>
      <p:sp>
        <p:nvSpPr>
          <p:cNvPr id="12" name="AutoShape 12"/>
          <p:cNvSpPr/>
          <p:nvPr/>
        </p:nvSpPr>
        <p:spPr>
          <a:xfrm>
            <a:off x="4394200" y="3048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394200" y="3302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238500"/>
            <a:ext cx="406400" cy="406400"/>
          </a:xfrm>
          <a:prstGeom prst="rect">
            <a:avLst/>
          </a:prstGeom>
        </p:spPr>
      </p:pic>
      <p:sp>
        <p:nvSpPr>
          <p:cNvPr id="15" name="AutoShape 15"/>
          <p:cNvSpPr/>
          <p:nvPr/>
        </p:nvSpPr>
        <p:spPr>
          <a:xfrm>
            <a:off x="5219700" y="32385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多维环境感知</a:t>
            </a:r>
            <a:endParaRPr lang="en-US" sz="1100"/>
          </a:p>
        </p:txBody>
      </p:sp>
      <p:cxnSp>
        <p:nvCxnSpPr>
          <p:cNvPr id="16" name="Connector 16"/>
          <p:cNvCxnSpPr/>
          <p:nvPr/>
        </p:nvCxnSpPr>
        <p:spPr>
          <a:xfrm rot="-15211">
            <a:off x="4648214" y="3803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17" name="AutoShape 17"/>
          <p:cNvSpPr/>
          <p:nvPr/>
        </p:nvSpPr>
        <p:spPr>
          <a:xfrm>
            <a:off x="4648200" y="3937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温湿度、气体、震动状态采集</a:t>
            </a:r>
            <a:endParaRPr lang="en-US" sz="1100"/>
          </a:p>
        </p:txBody>
      </p:sp>
      <p:sp>
        <p:nvSpPr>
          <p:cNvPr id="18" name="AutoShape 18"/>
          <p:cNvSpPr/>
          <p:nvPr/>
        </p:nvSpPr>
        <p:spPr>
          <a:xfrm>
            <a:off x="8026400" y="3048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026400" y="3302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238500"/>
            <a:ext cx="406400" cy="406400"/>
          </a:xfrm>
          <a:prstGeom prst="rect">
            <a:avLst/>
          </a:prstGeom>
        </p:spPr>
      </p:pic>
      <p:sp>
        <p:nvSpPr>
          <p:cNvPr id="21" name="AutoShape 21"/>
          <p:cNvSpPr/>
          <p:nvPr/>
        </p:nvSpPr>
        <p:spPr>
          <a:xfrm>
            <a:off x="8851900" y="32385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本地异常报警</a:t>
            </a:r>
            <a:endParaRPr lang="en-US" sz="1100"/>
          </a:p>
        </p:txBody>
      </p:sp>
      <p:cxnSp>
        <p:nvCxnSpPr>
          <p:cNvPr id="22" name="Connector 22"/>
          <p:cNvCxnSpPr/>
          <p:nvPr/>
        </p:nvCxnSpPr>
        <p:spPr>
          <a:xfrm rot="-15211">
            <a:off x="8280414" y="3803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23" name="AutoShape 23"/>
          <p:cNvSpPr/>
          <p:nvPr/>
        </p:nvSpPr>
        <p:spPr>
          <a:xfrm>
            <a:off x="8280400" y="3937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蜂鸣器、OLED、云端报警联动</a:t>
            </a:r>
            <a:endParaRPr lang="en-US" sz="1100"/>
          </a:p>
        </p:txBody>
      </p:sp>
      <p:sp>
        <p:nvSpPr>
          <p:cNvPr id="24" name="AutoShape 24"/>
          <p:cNvSpPr/>
          <p:nvPr/>
        </p:nvSpPr>
        <p:spPr>
          <a:xfrm>
            <a:off x="762000" y="4953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5207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080000"/>
            <a:ext cx="406400" cy="406400"/>
          </a:xfrm>
          <a:prstGeom prst="rect">
            <a:avLst/>
          </a:prstGeom>
        </p:spPr>
      </p:pic>
      <p:sp>
        <p:nvSpPr>
          <p:cNvPr id="27" name="AutoShape 27"/>
          <p:cNvSpPr/>
          <p:nvPr/>
        </p:nvSpPr>
        <p:spPr>
          <a:xfrm>
            <a:off x="1587500" y="5080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全程图像留痕</a:t>
            </a:r>
            <a:endParaRPr lang="en-US" sz="1100"/>
          </a:p>
        </p:txBody>
      </p:sp>
      <p:cxnSp>
        <p:nvCxnSpPr>
          <p:cNvPr id="28" name="Connector 28"/>
          <p:cNvCxnSpPr/>
          <p:nvPr/>
        </p:nvCxnSpPr>
        <p:spPr>
          <a:xfrm rot="-15211">
            <a:off x="1016014" y="5581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29" name="AutoShape 29"/>
          <p:cNvSpPr/>
          <p:nvPr/>
        </p:nvSpPr>
        <p:spPr>
          <a:xfrm>
            <a:off x="1016000" y="5689600"/>
            <a:ext cx="2870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摄像头最新画面和报警抓拍</a:t>
            </a:r>
            <a:endParaRPr lang="en-US" sz="1100"/>
          </a:p>
        </p:txBody>
      </p:sp>
      <p:sp>
        <p:nvSpPr>
          <p:cNvPr id="30" name="AutoShape 30"/>
          <p:cNvSpPr/>
          <p:nvPr/>
        </p:nvSpPr>
        <p:spPr>
          <a:xfrm>
            <a:off x="4394200" y="4953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394200" y="5207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48200" y="5080000"/>
            <a:ext cx="406400" cy="406400"/>
          </a:xfrm>
          <a:prstGeom prst="rect">
            <a:avLst/>
          </a:prstGeom>
        </p:spPr>
      </p:pic>
      <p:sp>
        <p:nvSpPr>
          <p:cNvPr id="33" name="AutoShape 33"/>
          <p:cNvSpPr/>
          <p:nvPr/>
        </p:nvSpPr>
        <p:spPr>
          <a:xfrm>
            <a:off x="5219700" y="5080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多端管理</a:t>
            </a:r>
            <a:endParaRPr lang="en-US" sz="1100"/>
          </a:p>
        </p:txBody>
      </p:sp>
      <p:cxnSp>
        <p:nvCxnSpPr>
          <p:cNvPr id="34" name="Connector 34"/>
          <p:cNvCxnSpPr/>
          <p:nvPr/>
        </p:nvCxnSpPr>
        <p:spPr>
          <a:xfrm rot="-15211">
            <a:off x="4648214" y="5581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35" name="AutoShape 35"/>
          <p:cNvSpPr/>
          <p:nvPr/>
        </p:nvSpPr>
        <p:spPr>
          <a:xfrm>
            <a:off x="4648200" y="5689600"/>
            <a:ext cx="2870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Web 看板 + 微信小程序</a:t>
            </a:r>
            <a:endParaRPr lang="en-US" sz="1100"/>
          </a:p>
        </p:txBody>
      </p:sp>
      <p:sp>
        <p:nvSpPr>
          <p:cNvPr id="36" name="AutoShape 36"/>
          <p:cNvSpPr/>
          <p:nvPr/>
        </p:nvSpPr>
        <p:spPr>
          <a:xfrm>
            <a:off x="8026400" y="4953000"/>
            <a:ext cx="3378200" cy="1587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8026400" y="5207000"/>
            <a:ext cx="508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8" name="Picture 3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5080000"/>
            <a:ext cx="406400" cy="406400"/>
          </a:xfrm>
          <a:prstGeom prst="rect">
            <a:avLst/>
          </a:prstGeom>
        </p:spPr>
      </p:pic>
      <p:sp>
        <p:nvSpPr>
          <p:cNvPr id="39" name="AutoShape 39"/>
          <p:cNvSpPr/>
          <p:nvPr/>
        </p:nvSpPr>
        <p:spPr>
          <a:xfrm>
            <a:off x="8851900" y="5080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AI 增值服务</a:t>
            </a:r>
            <a:endParaRPr lang="en-US" sz="1100"/>
          </a:p>
        </p:txBody>
      </p:sp>
      <p:cxnSp>
        <p:nvCxnSpPr>
          <p:cNvPr id="40" name="Connector 40"/>
          <p:cNvCxnSpPr/>
          <p:nvPr/>
        </p:nvCxnSpPr>
        <p:spPr>
          <a:xfrm rot="-15211">
            <a:off x="8280414" y="5581650"/>
            <a:ext cx="2870200" cy="12700"/>
          </a:xfrm>
          <a:prstGeom prst="straightConnector1">
            <a:avLst/>
          </a:prstGeom>
          <a:solidFill>
            <a:srgbClr val="DEE0E3">
              <a:alpha val="100000"/>
            </a:srgbClr>
          </a:solidFill>
          <a:ln w="12700" cap="flat" cmpd="sng">
            <a:solidFill>
              <a:srgbClr val="F97316">
                <a:alpha val="30000"/>
              </a:srgbClr>
            </a:solidFill>
            <a:prstDash val="solid"/>
            <a:round/>
            <a:headEnd type="none" w="med" len="med"/>
            <a:tailEnd type="none" w="med" len="med"/>
          </a:ln>
        </p:spPr>
      </p:cxnSp>
      <p:sp>
        <p:nvSpPr>
          <p:cNvPr id="41" name="AutoShape 41"/>
          <p:cNvSpPr/>
          <p:nvPr/>
        </p:nvSpPr>
        <p:spPr>
          <a:xfrm>
            <a:off x="8280400" y="5689600"/>
            <a:ext cx="2870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灾情风险预测与异常访问分析</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从本地安防到多端云端管理</a:t>
            </a:r>
            <a:endParaRPr lang="en-US" sz="1100"/>
          </a:p>
        </p:txBody>
      </p:sp>
      <p:sp>
        <p:nvSpPr>
          <p:cNvPr id="5" name="AutoShape 5"/>
          <p:cNvSpPr/>
          <p:nvPr/>
        </p:nvSpPr>
        <p:spPr>
          <a:xfrm>
            <a:off x="825500" y="5445146"/>
            <a:ext cx="488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err="1">
                <a:solidFill>
                  <a:srgbClr val="374151"/>
                </a:solidFill>
                <a:latin typeface="Noto Sans SC"/>
                <a:ea typeface="Noto Sans SC"/>
                <a:cs typeface="Noto Sans SC"/>
                <a:sym typeface="Noto Sans SC"/>
              </a:rPr>
              <a:t>系统链路：本地设备端</a:t>
            </a:r>
            <a:r>
              <a:rPr lang="en-US" sz="1300" b="0" i="0" u="none" strike="noStrike" dirty="0">
                <a:solidFill>
                  <a:srgbClr val="374151"/>
                </a:solidFill>
                <a:latin typeface="Noto Sans SC"/>
                <a:ea typeface="Noto Sans SC"/>
                <a:cs typeface="Noto Sans SC"/>
                <a:sym typeface="Noto Sans SC"/>
              </a:rPr>
              <a:t> → Wi-Fi / MQTT / HTTP → </a:t>
            </a:r>
            <a:r>
              <a:rPr lang="en-US" sz="1300" b="0" i="0" u="none" strike="noStrike" dirty="0" err="1">
                <a:solidFill>
                  <a:srgbClr val="374151"/>
                </a:solidFill>
                <a:latin typeface="Noto Sans SC"/>
                <a:ea typeface="Noto Sans SC"/>
                <a:cs typeface="Noto Sans SC"/>
                <a:sym typeface="Noto Sans SC"/>
              </a:rPr>
              <a:t>华为云</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IoTDA</a:t>
            </a:r>
            <a:r>
              <a:rPr lang="en-US" sz="1300" b="0" i="0" u="none" strike="noStrike" dirty="0">
                <a:solidFill>
                  <a:srgbClr val="374151"/>
                </a:solidFill>
                <a:latin typeface="Noto Sans SC"/>
                <a:ea typeface="Noto Sans SC"/>
                <a:cs typeface="Noto Sans SC"/>
                <a:sym typeface="Noto Sans SC"/>
              </a:rPr>
              <a:t> / </a:t>
            </a:r>
            <a:r>
              <a:rPr lang="en-US" sz="1300" b="0" i="0" u="none" strike="noStrike" dirty="0" err="1">
                <a:solidFill>
                  <a:srgbClr val="374151"/>
                </a:solidFill>
                <a:latin typeface="Noto Sans SC"/>
                <a:ea typeface="Noto Sans SC"/>
                <a:cs typeface="Noto Sans SC"/>
                <a:sym typeface="Noto Sans SC"/>
              </a:rPr>
              <a:t>后端服务</a:t>
            </a:r>
            <a:r>
              <a:rPr lang="en-US" sz="1300" b="0" i="0" u="none" strike="noStrike" dirty="0">
                <a:solidFill>
                  <a:srgbClr val="374151"/>
                </a:solidFill>
                <a:latin typeface="Noto Sans SC"/>
                <a:ea typeface="Noto Sans SC"/>
                <a:cs typeface="Noto Sans SC"/>
                <a:sym typeface="Noto Sans SC"/>
              </a:rPr>
              <a:t> → Web </a:t>
            </a:r>
            <a:r>
              <a:rPr lang="en-US" sz="1300" b="0" i="0" u="none" strike="noStrike" dirty="0" err="1">
                <a:solidFill>
                  <a:srgbClr val="374151"/>
                </a:solidFill>
                <a:latin typeface="Noto Sans SC"/>
                <a:ea typeface="Noto Sans SC"/>
                <a:cs typeface="Noto Sans SC"/>
                <a:sym typeface="Noto Sans SC"/>
              </a:rPr>
              <a:t>看板</a:t>
            </a:r>
            <a:r>
              <a:rPr lang="en-US" sz="1300" b="0" i="0" u="none" strike="noStrike" dirty="0">
                <a:solidFill>
                  <a:srgbClr val="374151"/>
                </a:solidFill>
                <a:latin typeface="Noto Sans SC"/>
                <a:ea typeface="Noto Sans SC"/>
                <a:cs typeface="Noto Sans SC"/>
                <a:sym typeface="Noto Sans SC"/>
              </a:rPr>
              <a:t> / </a:t>
            </a:r>
            <a:r>
              <a:rPr lang="en-US" sz="1300" b="0" i="0" u="none" strike="noStrike" dirty="0" err="1">
                <a:solidFill>
                  <a:srgbClr val="374151"/>
                </a:solidFill>
                <a:latin typeface="Noto Sans SC"/>
                <a:ea typeface="Noto Sans SC"/>
                <a:cs typeface="Noto Sans SC"/>
                <a:sym typeface="Noto Sans SC"/>
              </a:rPr>
              <a:t>微信小程序</a:t>
            </a:r>
            <a:r>
              <a:rPr lang="en-US" sz="1300" b="0" i="0" u="none" strike="noStrike" dirty="0">
                <a:solidFill>
                  <a:srgbClr val="374151"/>
                </a:solidFill>
                <a:latin typeface="Noto Sans SC"/>
                <a:ea typeface="Noto Sans SC"/>
                <a:cs typeface="Noto Sans SC"/>
                <a:sym typeface="Noto Sans SC"/>
              </a:rPr>
              <a:t> → </a:t>
            </a:r>
            <a:r>
              <a:rPr lang="en-US" sz="1300" b="0" i="0" u="none" strike="noStrike" dirty="0" err="1">
                <a:solidFill>
                  <a:srgbClr val="374151"/>
                </a:solidFill>
                <a:latin typeface="Noto Sans SC"/>
                <a:ea typeface="Noto Sans SC"/>
                <a:cs typeface="Noto Sans SC"/>
                <a:sym typeface="Noto Sans SC"/>
              </a:rPr>
              <a:t>用户管理与</a:t>
            </a:r>
            <a:r>
              <a:rPr lang="en-US" sz="1300" b="0" i="0" u="none" strike="noStrike" dirty="0">
                <a:solidFill>
                  <a:srgbClr val="374151"/>
                </a:solidFill>
                <a:latin typeface="Noto Sans SC"/>
                <a:ea typeface="Noto Sans SC"/>
                <a:cs typeface="Noto Sans SC"/>
                <a:sym typeface="Noto Sans SC"/>
              </a:rPr>
              <a:t> AI </a:t>
            </a:r>
            <a:r>
              <a:rPr lang="en-US" sz="1300" b="0" i="0" u="none" strike="noStrike" dirty="0" err="1">
                <a:solidFill>
                  <a:srgbClr val="374151"/>
                </a:solidFill>
                <a:latin typeface="Noto Sans SC"/>
                <a:ea typeface="Noto Sans SC"/>
                <a:cs typeface="Noto Sans SC"/>
                <a:sym typeface="Noto Sans SC"/>
              </a:rPr>
              <a:t>分析</a:t>
            </a:r>
            <a:endParaRPr lang="en-US" sz="1100" dirty="0"/>
          </a:p>
        </p:txBody>
      </p:sp>
      <p:sp>
        <p:nvSpPr>
          <p:cNvPr id="6" name="AutoShape 6"/>
          <p:cNvSpPr/>
          <p:nvPr/>
        </p:nvSpPr>
        <p:spPr>
          <a:xfrm>
            <a:off x="5842000" y="1651000"/>
            <a:ext cx="2730500" cy="1651000"/>
          </a:xfrm>
          <a:prstGeom prst="roundRect">
            <a:avLst>
              <a:gd name="adj" fmla="val 0"/>
            </a:avLst>
          </a:prstGeom>
          <a:solidFill>
            <a:srgbClr val="FFFFFF">
              <a:alpha val="90000"/>
            </a:srgbClr>
          </a:solidFill>
          <a:ln w="12700" cap="flat" cmpd="sng">
            <a:solidFill>
              <a:srgbClr val="F97316">
                <a:alpha val="30000"/>
              </a:srgbClr>
            </a:solidFill>
            <a:prstDash val="solid"/>
            <a:round/>
          </a:ln>
        </p:spPr>
        <p:txBody>
          <a:bodyPr vert="horz" wrap="square" lIns="0" tIns="0" rIns="0" bIns="0" rtlCol="0" anchor="ctr" anchorCtr="0"/>
          <a:lstStyle/>
          <a:p>
            <a:pPr algn="ctr">
              <a:defRPr/>
            </a:pPr>
            <a:endParaRPr/>
          </a:p>
        </p:txBody>
      </p:sp>
      <p:sp>
        <p:nvSpPr>
          <p:cNvPr id="7" name="AutoShape 7"/>
          <p:cNvSpPr/>
          <p:nvPr/>
        </p:nvSpPr>
        <p:spPr>
          <a:xfrm>
            <a:off x="5842000" y="1651000"/>
            <a:ext cx="76200" cy="165100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94400" y="1803400"/>
            <a:ext cx="279400" cy="279400"/>
          </a:xfrm>
          <a:prstGeom prst="rect">
            <a:avLst/>
          </a:prstGeom>
        </p:spPr>
      </p:pic>
      <p:sp>
        <p:nvSpPr>
          <p:cNvPr id="9" name="AutoShape 9"/>
          <p:cNvSpPr/>
          <p:nvPr/>
        </p:nvSpPr>
        <p:spPr>
          <a:xfrm>
            <a:off x="6350000" y="17780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01 本地设备端</a:t>
            </a:r>
            <a:endParaRPr lang="en-US" sz="1100"/>
          </a:p>
        </p:txBody>
      </p:sp>
      <p:cxnSp>
        <p:nvCxnSpPr>
          <p:cNvPr id="10" name="Connector 10"/>
          <p:cNvCxnSpPr/>
          <p:nvPr/>
        </p:nvCxnSpPr>
        <p:spPr>
          <a:xfrm rot="-18285">
            <a:off x="5994417" y="2216150"/>
            <a:ext cx="23876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1" name="AutoShape 11"/>
          <p:cNvSpPr/>
          <p:nvPr/>
        </p:nvSpPr>
        <p:spPr>
          <a:xfrm>
            <a:off x="5994400" y="2311400"/>
            <a:ext cx="25146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err="1">
                <a:solidFill>
                  <a:srgbClr val="4B5563"/>
                </a:solidFill>
                <a:latin typeface="Noto Sans SC"/>
                <a:ea typeface="Noto Sans SC"/>
                <a:cs typeface="Noto Sans SC"/>
                <a:sym typeface="Noto Sans SC"/>
              </a:rPr>
              <a:t>采集状态、控制门锁、触发报警、相机抓拍，实现本地安防基础能力</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12" name="AutoShape 12"/>
          <p:cNvSpPr/>
          <p:nvPr/>
        </p:nvSpPr>
        <p:spPr>
          <a:xfrm>
            <a:off x="8763000" y="1651000"/>
            <a:ext cx="2730500" cy="1651000"/>
          </a:xfrm>
          <a:prstGeom prst="roundRect">
            <a:avLst>
              <a:gd name="adj" fmla="val 0"/>
            </a:avLst>
          </a:prstGeom>
          <a:solidFill>
            <a:srgbClr val="FFFFFF">
              <a:alpha val="90000"/>
            </a:srgbClr>
          </a:solidFill>
          <a:ln w="12700" cap="flat" cmpd="sng">
            <a:solidFill>
              <a:srgbClr val="F97316">
                <a:alpha val="30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8763000" y="1651000"/>
            <a:ext cx="76200" cy="165100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15400" y="1803400"/>
            <a:ext cx="279400" cy="279400"/>
          </a:xfrm>
          <a:prstGeom prst="rect">
            <a:avLst/>
          </a:prstGeom>
        </p:spPr>
      </p:pic>
      <p:sp>
        <p:nvSpPr>
          <p:cNvPr id="15" name="AutoShape 15"/>
          <p:cNvSpPr/>
          <p:nvPr/>
        </p:nvSpPr>
        <p:spPr>
          <a:xfrm>
            <a:off x="9271000" y="17780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02 通信传输端</a:t>
            </a:r>
            <a:endParaRPr lang="en-US" sz="1100"/>
          </a:p>
        </p:txBody>
      </p:sp>
      <p:cxnSp>
        <p:nvCxnSpPr>
          <p:cNvPr id="16" name="Connector 16"/>
          <p:cNvCxnSpPr/>
          <p:nvPr/>
        </p:nvCxnSpPr>
        <p:spPr>
          <a:xfrm rot="-18285">
            <a:off x="8915417" y="2216150"/>
            <a:ext cx="23876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7" name="AutoShape 17"/>
          <p:cNvSpPr/>
          <p:nvPr/>
        </p:nvSpPr>
        <p:spPr>
          <a:xfrm>
            <a:off x="8915400" y="2311400"/>
            <a:ext cx="2578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4B5563"/>
                </a:solidFill>
                <a:latin typeface="Noto Sans SC"/>
                <a:ea typeface="Noto Sans SC"/>
                <a:cs typeface="Noto Sans SC"/>
                <a:sym typeface="Noto Sans SC"/>
              </a:rPr>
              <a:t>MQTT </a:t>
            </a:r>
            <a:r>
              <a:rPr lang="en-US" sz="1200" b="0" i="0" u="none" strike="noStrike" dirty="0" err="1">
                <a:solidFill>
                  <a:srgbClr val="4B5563"/>
                </a:solidFill>
                <a:latin typeface="Noto Sans SC"/>
                <a:ea typeface="Noto Sans SC"/>
                <a:cs typeface="Noto Sans SC"/>
                <a:sym typeface="Noto Sans SC"/>
              </a:rPr>
              <a:t>传输设备属性和命令，HTTP</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上传图片和状态，保障数据稳定传输</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18" name="AutoShape 18"/>
          <p:cNvSpPr/>
          <p:nvPr/>
        </p:nvSpPr>
        <p:spPr>
          <a:xfrm>
            <a:off x="5842000" y="3556000"/>
            <a:ext cx="2730500" cy="1651000"/>
          </a:xfrm>
          <a:prstGeom prst="roundRect">
            <a:avLst>
              <a:gd name="adj" fmla="val 0"/>
            </a:avLst>
          </a:prstGeom>
          <a:solidFill>
            <a:srgbClr val="FFFFFF">
              <a:alpha val="90000"/>
            </a:srgbClr>
          </a:solidFill>
          <a:ln w="12700" cap="flat" cmpd="sng">
            <a:solidFill>
              <a:srgbClr val="F97316">
                <a:alpha val="30000"/>
              </a:srgbClr>
            </a:solidFill>
            <a:prstDash val="solid"/>
            <a:round/>
          </a:ln>
        </p:spPr>
        <p:txBody>
          <a:bodyPr vert="horz" wrap="square" lIns="0" tIns="0" rIns="0" bIns="0" rtlCol="0" anchor="ctr" anchorCtr="0"/>
          <a:lstStyle/>
          <a:p>
            <a:pPr algn="ctr">
              <a:defRPr/>
            </a:pPr>
            <a:endParaRPr/>
          </a:p>
        </p:txBody>
      </p:sp>
      <p:sp>
        <p:nvSpPr>
          <p:cNvPr id="19" name="AutoShape 19"/>
          <p:cNvSpPr/>
          <p:nvPr/>
        </p:nvSpPr>
        <p:spPr>
          <a:xfrm>
            <a:off x="5842000" y="3556000"/>
            <a:ext cx="76200" cy="165100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94400" y="3708400"/>
            <a:ext cx="279400" cy="279400"/>
          </a:xfrm>
          <a:prstGeom prst="rect">
            <a:avLst/>
          </a:prstGeom>
        </p:spPr>
      </p:pic>
      <p:sp>
        <p:nvSpPr>
          <p:cNvPr id="21" name="AutoShape 21"/>
          <p:cNvSpPr/>
          <p:nvPr/>
        </p:nvSpPr>
        <p:spPr>
          <a:xfrm>
            <a:off x="6350000" y="36830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03 平台端（华为云）</a:t>
            </a:r>
            <a:endParaRPr lang="en-US" sz="1100"/>
          </a:p>
        </p:txBody>
      </p:sp>
      <p:cxnSp>
        <p:nvCxnSpPr>
          <p:cNvPr id="22" name="Connector 22"/>
          <p:cNvCxnSpPr/>
          <p:nvPr/>
        </p:nvCxnSpPr>
        <p:spPr>
          <a:xfrm rot="-18285">
            <a:off x="5994417" y="4121150"/>
            <a:ext cx="23876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3" name="AutoShape 23"/>
          <p:cNvSpPr/>
          <p:nvPr/>
        </p:nvSpPr>
        <p:spPr>
          <a:xfrm>
            <a:off x="5994400" y="4216400"/>
            <a:ext cx="25146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err="1">
                <a:solidFill>
                  <a:srgbClr val="4B5563"/>
                </a:solidFill>
                <a:latin typeface="Noto Sans SC"/>
                <a:ea typeface="Noto Sans SC"/>
                <a:cs typeface="Noto Sans SC"/>
                <a:sym typeface="Noto Sans SC"/>
              </a:rPr>
              <a:t>华为云接入设备，后端处理状态、图片、报警和</a:t>
            </a:r>
            <a:r>
              <a:rPr lang="en-US" sz="1200" b="0" i="0" u="none" strike="noStrike" dirty="0">
                <a:solidFill>
                  <a:srgbClr val="4B5563"/>
                </a:solidFill>
                <a:latin typeface="Noto Sans SC"/>
                <a:ea typeface="Noto Sans SC"/>
                <a:cs typeface="Noto Sans SC"/>
                <a:sym typeface="Noto Sans SC"/>
              </a:rPr>
              <a:t> AI </a:t>
            </a:r>
            <a:r>
              <a:rPr lang="en-US" sz="1200" b="0" i="0" u="none" strike="noStrike" dirty="0" err="1">
                <a:solidFill>
                  <a:srgbClr val="4B5563"/>
                </a:solidFill>
                <a:latin typeface="Noto Sans SC"/>
                <a:ea typeface="Noto Sans SC"/>
                <a:cs typeface="Noto Sans SC"/>
                <a:sym typeface="Noto Sans SC"/>
              </a:rPr>
              <a:t>接口，提供数据支撑</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24" name="AutoShape 24"/>
          <p:cNvSpPr/>
          <p:nvPr/>
        </p:nvSpPr>
        <p:spPr>
          <a:xfrm>
            <a:off x="8763000" y="3556000"/>
            <a:ext cx="2730500" cy="1651000"/>
          </a:xfrm>
          <a:prstGeom prst="roundRect">
            <a:avLst>
              <a:gd name="adj" fmla="val 0"/>
            </a:avLst>
          </a:prstGeom>
          <a:solidFill>
            <a:srgbClr val="FFFFFF">
              <a:alpha val="90000"/>
            </a:srgbClr>
          </a:solidFill>
          <a:ln w="12700" cap="flat" cmpd="sng">
            <a:solidFill>
              <a:srgbClr val="F97316">
                <a:alpha val="30000"/>
              </a:srgbClr>
            </a:solidFill>
            <a:prstDash val="solid"/>
            <a:round/>
          </a:ln>
        </p:spPr>
        <p:txBody>
          <a:bodyPr vert="horz" wrap="square" lIns="0" tIns="0" rIns="0" bIns="0" rtlCol="0" anchor="ctr" anchorCtr="0"/>
          <a:lstStyle/>
          <a:p>
            <a:pPr algn="ctr">
              <a:defRPr/>
            </a:pPr>
            <a:endParaRPr/>
          </a:p>
        </p:txBody>
      </p:sp>
      <p:sp>
        <p:nvSpPr>
          <p:cNvPr id="25" name="AutoShape 25"/>
          <p:cNvSpPr/>
          <p:nvPr/>
        </p:nvSpPr>
        <p:spPr>
          <a:xfrm>
            <a:off x="8763000" y="3556000"/>
            <a:ext cx="76200" cy="165100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15400" y="3708400"/>
            <a:ext cx="279400" cy="279400"/>
          </a:xfrm>
          <a:prstGeom prst="rect">
            <a:avLst/>
          </a:prstGeom>
        </p:spPr>
      </p:pic>
      <p:sp>
        <p:nvSpPr>
          <p:cNvPr id="27" name="AutoShape 27"/>
          <p:cNvSpPr/>
          <p:nvPr/>
        </p:nvSpPr>
        <p:spPr>
          <a:xfrm>
            <a:off x="9271000" y="36830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04 应用端</a:t>
            </a:r>
            <a:endParaRPr lang="en-US" sz="1100"/>
          </a:p>
        </p:txBody>
      </p:sp>
      <p:cxnSp>
        <p:nvCxnSpPr>
          <p:cNvPr id="28" name="Connector 28"/>
          <p:cNvCxnSpPr/>
          <p:nvPr/>
        </p:nvCxnSpPr>
        <p:spPr>
          <a:xfrm rot="-18285">
            <a:off x="8915417" y="4121150"/>
            <a:ext cx="23876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9" name="AutoShape 29"/>
          <p:cNvSpPr/>
          <p:nvPr/>
        </p:nvSpPr>
        <p:spPr>
          <a:xfrm>
            <a:off x="8915400" y="42164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4B5563"/>
                </a:solidFill>
                <a:latin typeface="Noto Sans SC"/>
                <a:ea typeface="Noto Sans SC"/>
                <a:cs typeface="Noto Sans SC"/>
                <a:sym typeface="Noto Sans SC"/>
              </a:rPr>
              <a:t>• Web </a:t>
            </a:r>
            <a:r>
              <a:rPr lang="en-US" sz="1200" b="0" i="0" u="none" strike="noStrike" dirty="0" err="1">
                <a:solidFill>
                  <a:srgbClr val="4B5563"/>
                </a:solidFill>
                <a:latin typeface="Noto Sans SC"/>
                <a:ea typeface="Noto Sans SC"/>
                <a:cs typeface="Noto Sans SC"/>
                <a:sym typeface="Noto Sans SC"/>
              </a:rPr>
              <a:t>看板：远程查看与控制</a:t>
            </a:r>
            <a:br>
              <a:rPr lang="en-US" sz="1200" b="0" i="0" u="none" strike="noStrike" dirty="0">
                <a:solidFill>
                  <a:srgbClr val="4B5563"/>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微信小程序：便捷移动访问</a:t>
            </a:r>
            <a:endParaRPr lang="en-US" sz="1100" dirty="0"/>
          </a:p>
        </p:txBody>
      </p:sp>
      <p:sp>
        <p:nvSpPr>
          <p:cNvPr id="30" name="AutoShape 30"/>
          <p:cNvSpPr/>
          <p:nvPr/>
        </p:nvSpPr>
        <p:spPr>
          <a:xfrm>
            <a:off x="5842000" y="5461000"/>
            <a:ext cx="5651500" cy="1016000"/>
          </a:xfrm>
          <a:prstGeom prst="roundRect">
            <a:avLst>
              <a:gd name="adj" fmla="val 0"/>
            </a:avLst>
          </a:prstGeom>
          <a:solidFill>
            <a:srgbClr val="F97316">
              <a:alpha val="8000"/>
            </a:srgbClr>
          </a:solidFill>
          <a:ln w="25400" cap="flat" cmpd="sng">
            <a:noFill/>
            <a:prstDash val="solid"/>
            <a:round/>
          </a:ln>
        </p:spPr>
        <p:txBody>
          <a:bodyPr vert="horz" wrap="square" lIns="0" tIns="0" rIns="0" bIns="0" rtlCol="0" anchor="ctr" anchorCtr="0"/>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69000" y="5613400"/>
            <a:ext cx="330200" cy="330200"/>
          </a:xfrm>
          <a:prstGeom prst="rect">
            <a:avLst/>
          </a:prstGeom>
        </p:spPr>
      </p:pic>
      <p:sp>
        <p:nvSpPr>
          <p:cNvPr id="32" name="AutoShape 32"/>
          <p:cNvSpPr/>
          <p:nvPr/>
        </p:nvSpPr>
        <p:spPr>
          <a:xfrm>
            <a:off x="6413500" y="55880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05 智能端：AI风险分析</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AI 根据历史数据进行风险评分和预警建议，实现主动防御。</a:t>
            </a:r>
          </a:p>
        </p:txBody>
      </p:sp>
      <p:pic>
        <p:nvPicPr>
          <p:cNvPr id="35" name="图片 34">
            <a:extLst>
              <a:ext uri="{FF2B5EF4-FFF2-40B4-BE49-F238E27FC236}">
                <a16:creationId xmlns:a16="http://schemas.microsoft.com/office/drawing/2014/main" id="{20281E69-10B4-8034-0AFB-4DECBA7491CD}"/>
              </a:ext>
            </a:extLst>
          </p:cNvPr>
          <p:cNvPicPr>
            <a:picLocks noChangeAspect="1"/>
          </p:cNvPicPr>
          <p:nvPr/>
        </p:nvPicPr>
        <p:blipFill>
          <a:blip r:embed="rId9"/>
          <a:srcRect l="9702" r="32595"/>
          <a:stretch>
            <a:fillRect/>
          </a:stretch>
        </p:blipFill>
        <p:spPr>
          <a:xfrm>
            <a:off x="815272" y="1445288"/>
            <a:ext cx="4328228" cy="42214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F97316"/>
                </a:solidFill>
                <a:latin typeface="Noto Sans SC"/>
                <a:ea typeface="Noto Sans SC"/>
                <a:cs typeface="Noto Sans SC"/>
                <a:sym typeface="Noto Sans SC"/>
              </a:rPr>
              <a:t>03</a:t>
            </a:r>
            <a:endParaRPr lang="en-US" sz="1100"/>
          </a:p>
        </p:txBody>
      </p:sp>
      <p:sp>
        <p:nvSpPr>
          <p:cNvPr id="4" name="AutoShape 4"/>
          <p:cNvSpPr/>
          <p:nvPr/>
        </p:nvSpPr>
        <p:spPr>
          <a:xfrm>
            <a:off x="0" y="381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a:ea typeface="Noto Sans SC"/>
                <a:cs typeface="Noto Sans SC"/>
                <a:sym typeface="Noto Sans SC"/>
              </a:rPr>
              <a:t>系统功能与业务流程</a:t>
            </a:r>
            <a:endParaRPr lang="en-US" sz="1100"/>
          </a:p>
        </p:txBody>
      </p:sp>
      <p:sp>
        <p:nvSpPr>
          <p:cNvPr id="5" name="AutoShape 5"/>
          <p:cNvSpPr/>
          <p:nvPr/>
        </p:nvSpPr>
        <p:spPr>
          <a:xfrm>
            <a:off x="5461000" y="5080000"/>
            <a:ext cx="1270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397500"/>
            <a:ext cx="10160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a:ea typeface="Noto Sans SC"/>
                <a:cs typeface="Noto Sans SC"/>
                <a:sym typeface="Noto Sans SC"/>
              </a:rPr>
              <a:t>用户可通过 RFID 或云端命令控制门锁；设备持续采集环境与安全状态；异常发生时触发蜂鸣器、OLED、相机抓拍和云端上传；Web 端和微信小程序同步展示状态并支持远程命令下发。</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核心功能总览</a:t>
            </a:r>
            <a:endParaRPr lang="en-US" sz="1100"/>
          </a:p>
        </p:txBody>
      </p:sp>
      <p:sp>
        <p:nvSpPr>
          <p:cNvPr id="4" name="AutoShape 4"/>
          <p:cNvSpPr/>
          <p:nvPr/>
        </p:nvSpPr>
        <p:spPr>
          <a:xfrm>
            <a:off x="762000" y="1651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406400" cy="406400"/>
          </a:xfrm>
          <a:prstGeom prst="rect">
            <a:avLst/>
          </a:prstGeom>
        </p:spPr>
      </p:pic>
      <p:sp>
        <p:nvSpPr>
          <p:cNvPr id="7" name="AutoShape 7"/>
          <p:cNvSpPr/>
          <p:nvPr/>
        </p:nvSpPr>
        <p:spPr>
          <a:xfrm>
            <a:off x="1524000" y="1803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RFID 门禁识别</a:t>
            </a:r>
            <a:endParaRPr lang="en-US" sz="1100"/>
          </a:p>
        </p:txBody>
      </p:sp>
      <p:sp>
        <p:nvSpPr>
          <p:cNvPr id="8" name="AutoShape 8"/>
          <p:cNvSpPr/>
          <p:nvPr/>
        </p:nvSpPr>
        <p:spPr>
          <a:xfrm>
            <a:off x="952500" y="2349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授权卡控制开锁 / 上锁</a:t>
            </a:r>
            <a:endParaRPr lang="en-US" sz="1100"/>
          </a:p>
        </p:txBody>
      </p:sp>
      <p:sp>
        <p:nvSpPr>
          <p:cNvPr id="9" name="AutoShape 9"/>
          <p:cNvSpPr/>
          <p:nvPr/>
        </p:nvSpPr>
        <p:spPr>
          <a:xfrm>
            <a:off x="4445000" y="1651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45000" y="1651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841500"/>
            <a:ext cx="406400" cy="406400"/>
          </a:xfrm>
          <a:prstGeom prst="rect">
            <a:avLst/>
          </a:prstGeom>
        </p:spPr>
      </p:pic>
      <p:sp>
        <p:nvSpPr>
          <p:cNvPr id="12" name="AutoShape 12"/>
          <p:cNvSpPr/>
          <p:nvPr/>
        </p:nvSpPr>
        <p:spPr>
          <a:xfrm>
            <a:off x="5207000" y="1803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舵机门锁控制</a:t>
            </a:r>
            <a:endParaRPr lang="en-US" sz="1100"/>
          </a:p>
        </p:txBody>
      </p:sp>
      <p:sp>
        <p:nvSpPr>
          <p:cNvPr id="13" name="AutoShape 13"/>
          <p:cNvSpPr/>
          <p:nvPr/>
        </p:nvSpPr>
        <p:spPr>
          <a:xfrm>
            <a:off x="4635500" y="2349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PWM 控制舵机模拟门锁动作</a:t>
            </a:r>
            <a:endParaRPr lang="en-US" sz="1100"/>
          </a:p>
        </p:txBody>
      </p:sp>
      <p:sp>
        <p:nvSpPr>
          <p:cNvPr id="14" name="AutoShape 14"/>
          <p:cNvSpPr/>
          <p:nvPr/>
        </p:nvSpPr>
        <p:spPr>
          <a:xfrm>
            <a:off x="8001000" y="1651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1000" y="1651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1841500"/>
            <a:ext cx="406400" cy="406400"/>
          </a:xfrm>
          <a:prstGeom prst="rect">
            <a:avLst/>
          </a:prstGeom>
        </p:spPr>
      </p:pic>
      <p:sp>
        <p:nvSpPr>
          <p:cNvPr id="17" name="AutoShape 17"/>
          <p:cNvSpPr/>
          <p:nvPr/>
        </p:nvSpPr>
        <p:spPr>
          <a:xfrm>
            <a:off x="8763000" y="1803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温湿度监测</a:t>
            </a:r>
            <a:endParaRPr lang="en-US" sz="1100"/>
          </a:p>
        </p:txBody>
      </p:sp>
      <p:sp>
        <p:nvSpPr>
          <p:cNvPr id="18" name="AutoShape 18"/>
          <p:cNvSpPr/>
          <p:nvPr/>
        </p:nvSpPr>
        <p:spPr>
          <a:xfrm>
            <a:off x="8191500" y="2349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DHT11 周期采集环境数据</a:t>
            </a:r>
            <a:endParaRPr lang="en-US" sz="1100"/>
          </a:p>
        </p:txBody>
      </p:sp>
      <p:sp>
        <p:nvSpPr>
          <p:cNvPr id="19" name="AutoShape 19"/>
          <p:cNvSpPr/>
          <p:nvPr/>
        </p:nvSpPr>
        <p:spPr>
          <a:xfrm>
            <a:off x="762000" y="3302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3302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92500"/>
            <a:ext cx="406400" cy="406400"/>
          </a:xfrm>
          <a:prstGeom prst="rect">
            <a:avLst/>
          </a:prstGeom>
        </p:spPr>
      </p:pic>
      <p:sp>
        <p:nvSpPr>
          <p:cNvPr id="22" name="AutoShape 22"/>
          <p:cNvSpPr/>
          <p:nvPr/>
        </p:nvSpPr>
        <p:spPr>
          <a:xfrm>
            <a:off x="1524000" y="3454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气体检测</a:t>
            </a:r>
            <a:endParaRPr lang="en-US" sz="1100"/>
          </a:p>
        </p:txBody>
      </p:sp>
      <p:sp>
        <p:nvSpPr>
          <p:cNvPr id="23" name="AutoShape 23"/>
          <p:cNvSpPr/>
          <p:nvPr/>
        </p:nvSpPr>
        <p:spPr>
          <a:xfrm>
            <a:off x="952500" y="4000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MQ2 识别烟雾 / 可燃气体风险</a:t>
            </a:r>
            <a:endParaRPr lang="en-US" sz="1100"/>
          </a:p>
        </p:txBody>
      </p:sp>
      <p:sp>
        <p:nvSpPr>
          <p:cNvPr id="24" name="AutoShape 24"/>
          <p:cNvSpPr/>
          <p:nvPr/>
        </p:nvSpPr>
        <p:spPr>
          <a:xfrm>
            <a:off x="4445000" y="3302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445000" y="3302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3492500"/>
            <a:ext cx="406400" cy="406400"/>
          </a:xfrm>
          <a:prstGeom prst="rect">
            <a:avLst/>
          </a:prstGeom>
        </p:spPr>
      </p:pic>
      <p:sp>
        <p:nvSpPr>
          <p:cNvPr id="27" name="AutoShape 27"/>
          <p:cNvSpPr/>
          <p:nvPr/>
        </p:nvSpPr>
        <p:spPr>
          <a:xfrm>
            <a:off x="5207000" y="3454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震动检测</a:t>
            </a:r>
            <a:endParaRPr lang="en-US" sz="1100"/>
          </a:p>
        </p:txBody>
      </p:sp>
      <p:sp>
        <p:nvSpPr>
          <p:cNvPr id="28" name="AutoShape 28"/>
          <p:cNvSpPr/>
          <p:nvPr/>
        </p:nvSpPr>
        <p:spPr>
          <a:xfrm>
            <a:off x="4635500" y="4000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SW180 识别破坏和搬动风险</a:t>
            </a:r>
            <a:endParaRPr lang="en-US" sz="1100"/>
          </a:p>
        </p:txBody>
      </p:sp>
      <p:sp>
        <p:nvSpPr>
          <p:cNvPr id="29" name="AutoShape 29"/>
          <p:cNvSpPr/>
          <p:nvPr/>
        </p:nvSpPr>
        <p:spPr>
          <a:xfrm>
            <a:off x="8001000" y="3302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001000" y="3302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3492500"/>
            <a:ext cx="406400" cy="406400"/>
          </a:xfrm>
          <a:prstGeom prst="rect">
            <a:avLst/>
          </a:prstGeom>
        </p:spPr>
      </p:pic>
      <p:sp>
        <p:nvSpPr>
          <p:cNvPr id="32" name="AutoShape 32"/>
          <p:cNvSpPr/>
          <p:nvPr/>
        </p:nvSpPr>
        <p:spPr>
          <a:xfrm>
            <a:off x="8763000" y="3454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本地报警</a:t>
            </a:r>
            <a:endParaRPr lang="en-US" sz="1100"/>
          </a:p>
        </p:txBody>
      </p:sp>
      <p:sp>
        <p:nvSpPr>
          <p:cNvPr id="33" name="AutoShape 33"/>
          <p:cNvSpPr/>
          <p:nvPr/>
        </p:nvSpPr>
        <p:spPr>
          <a:xfrm>
            <a:off x="8191500" y="4000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蜂鸣器 + OLED 状态提示</a:t>
            </a:r>
            <a:endParaRPr lang="en-US" sz="1100"/>
          </a:p>
        </p:txBody>
      </p:sp>
      <p:sp>
        <p:nvSpPr>
          <p:cNvPr id="34" name="AutoShape 34"/>
          <p:cNvSpPr/>
          <p:nvPr/>
        </p:nvSpPr>
        <p:spPr>
          <a:xfrm>
            <a:off x="762000" y="4826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62000" y="4826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5016500"/>
            <a:ext cx="406400" cy="406400"/>
          </a:xfrm>
          <a:prstGeom prst="rect">
            <a:avLst/>
          </a:prstGeom>
        </p:spPr>
      </p:pic>
      <p:sp>
        <p:nvSpPr>
          <p:cNvPr id="37" name="AutoShape 37"/>
          <p:cNvSpPr/>
          <p:nvPr/>
        </p:nvSpPr>
        <p:spPr>
          <a:xfrm>
            <a:off x="1524000" y="4978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图像留痕</a:t>
            </a:r>
            <a:endParaRPr lang="en-US" sz="1100"/>
          </a:p>
        </p:txBody>
      </p:sp>
      <p:sp>
        <p:nvSpPr>
          <p:cNvPr id="38" name="AutoShape 38"/>
          <p:cNvSpPr/>
          <p:nvPr/>
        </p:nvSpPr>
        <p:spPr>
          <a:xfrm>
            <a:off x="952500" y="5524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摄像头最新画面与报警抓拍</a:t>
            </a:r>
            <a:endParaRPr lang="en-US" sz="1100"/>
          </a:p>
        </p:txBody>
      </p:sp>
      <p:sp>
        <p:nvSpPr>
          <p:cNvPr id="39" name="AutoShape 39"/>
          <p:cNvSpPr/>
          <p:nvPr/>
        </p:nvSpPr>
        <p:spPr>
          <a:xfrm>
            <a:off x="4445000" y="4826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4445000" y="4826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4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35500" y="5016500"/>
            <a:ext cx="406400" cy="406400"/>
          </a:xfrm>
          <a:prstGeom prst="rect">
            <a:avLst/>
          </a:prstGeom>
        </p:spPr>
      </p:pic>
      <p:sp>
        <p:nvSpPr>
          <p:cNvPr id="42" name="AutoShape 42"/>
          <p:cNvSpPr/>
          <p:nvPr/>
        </p:nvSpPr>
        <p:spPr>
          <a:xfrm>
            <a:off x="5207000" y="4978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云端通信</a:t>
            </a:r>
            <a:endParaRPr lang="en-US" sz="1100"/>
          </a:p>
        </p:txBody>
      </p:sp>
      <p:sp>
        <p:nvSpPr>
          <p:cNvPr id="43" name="AutoShape 43"/>
          <p:cNvSpPr/>
          <p:nvPr/>
        </p:nvSpPr>
        <p:spPr>
          <a:xfrm>
            <a:off x="4635500" y="5524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MQTT 上报状态、接收命令</a:t>
            </a:r>
            <a:endParaRPr lang="en-US" sz="1100"/>
          </a:p>
        </p:txBody>
      </p:sp>
      <p:sp>
        <p:nvSpPr>
          <p:cNvPr id="44" name="AutoShape 44"/>
          <p:cNvSpPr/>
          <p:nvPr/>
        </p:nvSpPr>
        <p:spPr>
          <a:xfrm>
            <a:off x="8001000" y="4826000"/>
            <a:ext cx="3429000" cy="1397000"/>
          </a:xfrm>
          <a:prstGeom prst="roundRect">
            <a:avLst>
              <a:gd name="adj" fmla="val 0"/>
            </a:avLst>
          </a:prstGeom>
          <a:solidFill>
            <a:srgbClr val="FFFFFF">
              <a:alpha val="8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8001000" y="4826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6" name="Picture 4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91500" y="5016500"/>
            <a:ext cx="406400" cy="406400"/>
          </a:xfrm>
          <a:prstGeom prst="rect">
            <a:avLst/>
          </a:prstGeom>
        </p:spPr>
      </p:pic>
      <p:sp>
        <p:nvSpPr>
          <p:cNvPr id="47" name="AutoShape 47"/>
          <p:cNvSpPr/>
          <p:nvPr/>
        </p:nvSpPr>
        <p:spPr>
          <a:xfrm>
            <a:off x="8763000" y="49784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多端应用</a:t>
            </a:r>
            <a:endParaRPr lang="en-US" sz="1100"/>
          </a:p>
        </p:txBody>
      </p:sp>
      <p:sp>
        <p:nvSpPr>
          <p:cNvPr id="48" name="AutoShape 48"/>
          <p:cNvSpPr/>
          <p:nvPr/>
        </p:nvSpPr>
        <p:spPr>
          <a:xfrm>
            <a:off x="8191500" y="5524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Web 看板 + 微信小程序远程管理</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用户使用流程：从访问控制到异常告警</a:t>
            </a:r>
            <a:endParaRPr lang="en-US" sz="1100"/>
          </a:p>
        </p:txBody>
      </p:sp>
      <p:sp>
        <p:nvSpPr>
          <p:cNvPr id="4" name="AutoShape 4"/>
          <p:cNvSpPr/>
          <p:nvPr/>
        </p:nvSpPr>
        <p:spPr>
          <a:xfrm>
            <a:off x="762000" y="1524000"/>
            <a:ext cx="10668000" cy="406400"/>
          </a:xfrm>
          <a:prstGeom prst="roundRect">
            <a:avLst>
              <a:gd name="adj" fmla="val 0"/>
            </a:avLst>
          </a:prstGeom>
          <a:solidFill>
            <a:srgbClr val="3B82F6">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4064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524000"/>
            <a:ext cx="1016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40AF"/>
                </a:solidFill>
                <a:latin typeface="Noto Sans SC"/>
                <a:ea typeface="Noto Sans SC"/>
                <a:cs typeface="Noto Sans SC"/>
                <a:sym typeface="Noto Sans SC"/>
              </a:rPr>
              <a:t>01. 正常访问流程：授权核验 · 自动执行 · 云端同步</a:t>
            </a:r>
            <a:endParaRPr lang="en-US" sz="1100"/>
          </a:p>
        </p:txBody>
      </p:sp>
      <p:sp>
        <p:nvSpPr>
          <p:cNvPr id="7" name="AutoShape 7"/>
          <p:cNvSpPr/>
          <p:nvPr/>
        </p:nvSpPr>
        <p:spPr>
          <a:xfrm>
            <a:off x="762000" y="2222500"/>
            <a:ext cx="3429000" cy="1079500"/>
          </a:xfrm>
          <a:prstGeom prst="roundRect">
            <a:avLst>
              <a:gd name="adj" fmla="val 0"/>
            </a:avLst>
          </a:prstGeom>
          <a:solidFill>
            <a:srgbClr val="FFFFFF">
              <a:alpha val="75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2387600"/>
            <a:ext cx="304800" cy="304800"/>
          </a:xfrm>
          <a:prstGeom prst="rect">
            <a:avLst/>
          </a:prstGeom>
        </p:spPr>
      </p:pic>
      <p:sp>
        <p:nvSpPr>
          <p:cNvPr id="9" name="AutoShape 9"/>
          <p:cNvSpPr/>
          <p:nvPr/>
        </p:nvSpPr>
        <p:spPr>
          <a:xfrm>
            <a:off x="1333500" y="23114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1F2937"/>
                </a:solidFill>
                <a:latin typeface="Noto Sans SC"/>
                <a:ea typeface="Noto Sans SC"/>
                <a:cs typeface="Noto Sans SC"/>
                <a:sym typeface="Noto Sans SC"/>
              </a:rPr>
              <a:t>刷卡</a:t>
            </a:r>
            <a:r>
              <a:rPr lang="en-US" sz="1500" b="1" i="0" u="none" strike="noStrike" dirty="0">
                <a:solidFill>
                  <a:srgbClr val="1F2937"/>
                </a:solidFill>
                <a:latin typeface="Noto Sans SC"/>
                <a:ea typeface="Noto Sans SC"/>
                <a:cs typeface="Noto Sans SC"/>
                <a:sym typeface="Noto Sans SC"/>
              </a:rPr>
              <a:t>/</a:t>
            </a:r>
            <a:r>
              <a:rPr lang="en-US" sz="1500" b="1" i="0" u="none" strike="noStrike" dirty="0" err="1">
                <a:solidFill>
                  <a:srgbClr val="1F2937"/>
                </a:solidFill>
                <a:latin typeface="Noto Sans SC"/>
                <a:ea typeface="Noto Sans SC"/>
                <a:cs typeface="Noto Sans SC"/>
                <a:sym typeface="Noto Sans SC"/>
              </a:rPr>
              <a:t>小程序下发指令</a:t>
            </a:r>
            <a:endParaRPr lang="en-US" sz="1100" dirty="0"/>
          </a:p>
          <a:p>
            <a:pPr marL="0" indent="0" algn="l">
              <a:lnSpc>
                <a:spcPct val="150000"/>
              </a:lnSpc>
            </a:pPr>
            <a:r>
              <a:rPr lang="en-US" sz="1100" b="0" i="0" u="none" strike="noStrike" dirty="0">
                <a:solidFill>
                  <a:srgbClr val="4B5563"/>
                </a:solidFill>
                <a:latin typeface="Noto Sans SC"/>
                <a:ea typeface="Noto Sans SC"/>
                <a:cs typeface="Noto Sans SC"/>
                <a:sym typeface="Noto Sans SC"/>
              </a:rPr>
              <a:t>刷RFID授权卡或小程序下发命令，ESP32-S3判断权限或接收云端指令。</a:t>
            </a:r>
          </a:p>
        </p:txBody>
      </p:sp>
      <p:sp>
        <p:nvSpPr>
          <p:cNvPr id="10" name="AutoShape 10"/>
          <p:cNvSpPr/>
          <p:nvPr/>
        </p:nvSpPr>
        <p:spPr>
          <a:xfrm>
            <a:off x="4381500" y="2222500"/>
            <a:ext cx="3429000" cy="1079500"/>
          </a:xfrm>
          <a:prstGeom prst="roundRect">
            <a:avLst>
              <a:gd name="adj" fmla="val 0"/>
            </a:avLst>
          </a:prstGeom>
          <a:solidFill>
            <a:srgbClr val="FFFFFF">
              <a:alpha val="75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33900" y="2387600"/>
            <a:ext cx="304800" cy="304800"/>
          </a:xfrm>
          <a:prstGeom prst="rect">
            <a:avLst/>
          </a:prstGeom>
        </p:spPr>
      </p:pic>
      <p:sp>
        <p:nvSpPr>
          <p:cNvPr id="12" name="AutoShape 12"/>
          <p:cNvSpPr/>
          <p:nvPr/>
        </p:nvSpPr>
        <p:spPr>
          <a:xfrm>
            <a:off x="4953000" y="23114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1F2937"/>
                </a:solidFill>
                <a:latin typeface="Noto Sans SC"/>
                <a:ea typeface="Noto Sans SC"/>
                <a:cs typeface="Noto Sans SC"/>
                <a:sym typeface="Noto Sans SC"/>
              </a:rPr>
              <a:t>执行动作与状态更新</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控制舵机开锁</a:t>
            </a:r>
            <a:r>
              <a:rPr lang="en-US" sz="1100" b="0" i="0" u="none" strike="noStrike" dirty="0">
                <a:solidFill>
                  <a:srgbClr val="4B5563"/>
                </a:solidFill>
                <a:latin typeface="Noto Sans SC"/>
                <a:ea typeface="Noto Sans SC"/>
                <a:cs typeface="Noto Sans SC"/>
                <a:sym typeface="Noto Sans SC"/>
              </a:rPr>
              <a:t>/</a:t>
            </a:r>
            <a:r>
              <a:rPr lang="en-US" sz="1100" b="0" i="0" u="none" strike="noStrike" dirty="0" err="1">
                <a:solidFill>
                  <a:srgbClr val="4B5563"/>
                </a:solidFill>
                <a:latin typeface="Noto Sans SC"/>
                <a:ea typeface="Noto Sans SC"/>
                <a:cs typeface="Noto Sans SC"/>
                <a:sym typeface="Noto Sans SC"/>
              </a:rPr>
              <a:t>上锁，OLED屏幕实时更新当前锁状态</a:t>
            </a:r>
            <a:r>
              <a:rPr lang="en-US" sz="1100" b="0" i="0" u="none" strike="noStrike" dirty="0">
                <a:solidFill>
                  <a:srgbClr val="4B5563"/>
                </a:solidFill>
                <a:latin typeface="Noto Sans SC"/>
                <a:ea typeface="Noto Sans SC"/>
                <a:cs typeface="Noto Sans SC"/>
                <a:sym typeface="Noto Sans SC"/>
              </a:rPr>
              <a:t>。</a:t>
            </a:r>
          </a:p>
        </p:txBody>
      </p:sp>
      <p:sp>
        <p:nvSpPr>
          <p:cNvPr id="13" name="AutoShape 13"/>
          <p:cNvSpPr/>
          <p:nvPr/>
        </p:nvSpPr>
        <p:spPr>
          <a:xfrm>
            <a:off x="8001000" y="2222500"/>
            <a:ext cx="3429000" cy="1079500"/>
          </a:xfrm>
          <a:prstGeom prst="roundRect">
            <a:avLst>
              <a:gd name="adj" fmla="val 0"/>
            </a:avLst>
          </a:prstGeom>
          <a:solidFill>
            <a:srgbClr val="FFFFFF">
              <a:alpha val="75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53400" y="2387600"/>
            <a:ext cx="304800" cy="304800"/>
          </a:xfrm>
          <a:prstGeom prst="rect">
            <a:avLst/>
          </a:prstGeom>
        </p:spPr>
      </p:pic>
      <p:sp>
        <p:nvSpPr>
          <p:cNvPr id="15" name="AutoShape 15"/>
          <p:cNvSpPr/>
          <p:nvPr/>
        </p:nvSpPr>
        <p:spPr>
          <a:xfrm>
            <a:off x="8572500" y="23114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1F2937"/>
                </a:solidFill>
                <a:latin typeface="Noto Sans SC"/>
                <a:ea typeface="Noto Sans SC"/>
                <a:cs typeface="Noto Sans SC"/>
                <a:sym typeface="Noto Sans SC"/>
              </a:rPr>
              <a:t>状态上报与可视化</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通过MQTT上报设备状态，Web端或小程序实时展示</a:t>
            </a:r>
            <a:r>
              <a:rPr lang="en-US" sz="1100" b="0" i="0" u="none" strike="noStrike" dirty="0">
                <a:solidFill>
                  <a:srgbClr val="4B5563"/>
                </a:solidFill>
                <a:latin typeface="Noto Sans SC"/>
                <a:ea typeface="Noto Sans SC"/>
                <a:cs typeface="Noto Sans SC"/>
                <a:sym typeface="Noto Sans SC"/>
              </a:rPr>
              <a:t>。</a:t>
            </a:r>
          </a:p>
        </p:txBody>
      </p:sp>
      <p:cxnSp>
        <p:nvCxnSpPr>
          <p:cNvPr id="16" name="Connector 16"/>
          <p:cNvCxnSpPr/>
          <p:nvPr/>
        </p:nvCxnSpPr>
        <p:spPr>
          <a:xfrm rot="-4092">
            <a:off x="762004" y="3803650"/>
            <a:ext cx="10668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7" name="AutoShape 17"/>
          <p:cNvSpPr/>
          <p:nvPr/>
        </p:nvSpPr>
        <p:spPr>
          <a:xfrm>
            <a:off x="762000" y="4191000"/>
            <a:ext cx="10668000" cy="4064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4191000"/>
            <a:ext cx="76200" cy="4064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016000" y="4191000"/>
            <a:ext cx="1016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C2410C"/>
                </a:solidFill>
                <a:latin typeface="Noto Sans SC"/>
                <a:ea typeface="Noto Sans SC"/>
                <a:cs typeface="Noto Sans SC"/>
                <a:sym typeface="Noto Sans SC"/>
              </a:rPr>
              <a:t>02. 异常报警流程：多感触发 · 声光警示 · 证据留存</a:t>
            </a:r>
            <a:endParaRPr lang="en-US" sz="1100"/>
          </a:p>
        </p:txBody>
      </p:sp>
      <p:sp>
        <p:nvSpPr>
          <p:cNvPr id="20" name="AutoShape 20"/>
          <p:cNvSpPr/>
          <p:nvPr/>
        </p:nvSpPr>
        <p:spPr>
          <a:xfrm>
            <a:off x="762000" y="5080000"/>
            <a:ext cx="3429000" cy="1206500"/>
          </a:xfrm>
          <a:prstGeom prst="roundRect">
            <a:avLst>
              <a:gd name="adj" fmla="val 0"/>
            </a:avLst>
          </a:prstGeom>
          <a:solidFill>
            <a:srgbClr val="FFFFFF">
              <a:alpha val="7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5245100"/>
            <a:ext cx="304800" cy="304800"/>
          </a:xfrm>
          <a:prstGeom prst="rect">
            <a:avLst/>
          </a:prstGeom>
        </p:spPr>
      </p:pic>
      <p:sp>
        <p:nvSpPr>
          <p:cNvPr id="22" name="AutoShape 22"/>
          <p:cNvSpPr/>
          <p:nvPr/>
        </p:nvSpPr>
        <p:spPr>
          <a:xfrm>
            <a:off x="1333500" y="5168900"/>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err="1">
                <a:solidFill>
                  <a:srgbClr val="1F2937"/>
                </a:solidFill>
                <a:latin typeface="Noto Sans SC"/>
                <a:ea typeface="Noto Sans SC"/>
                <a:cs typeface="Noto Sans SC"/>
                <a:sym typeface="Noto Sans SC"/>
              </a:rPr>
              <a:t>异常检测与本地响应</a:t>
            </a:r>
            <a:endParaRPr lang="en-US" sz="1100" dirty="0"/>
          </a:p>
          <a:p>
            <a:pPr marL="0" indent="0" algn="l">
              <a:lnSpc>
                <a:spcPct val="150000"/>
              </a:lnSpc>
            </a:pPr>
            <a:r>
              <a:rPr lang="en-US" sz="1100" b="0" i="0" u="none" strike="noStrike" dirty="0">
                <a:solidFill>
                  <a:srgbClr val="4B5563"/>
                </a:solidFill>
                <a:latin typeface="Noto Sans SC"/>
                <a:ea typeface="Noto Sans SC"/>
                <a:cs typeface="Noto Sans SC"/>
                <a:sym typeface="Noto Sans SC"/>
              </a:rPr>
              <a:t>MQ2检测可燃气体或SW180检测震动，更新状态并触发蜂鸣器报警。</a:t>
            </a:r>
          </a:p>
        </p:txBody>
      </p:sp>
      <p:sp>
        <p:nvSpPr>
          <p:cNvPr id="23" name="AutoShape 23"/>
          <p:cNvSpPr/>
          <p:nvPr/>
        </p:nvSpPr>
        <p:spPr>
          <a:xfrm>
            <a:off x="4381500" y="5080000"/>
            <a:ext cx="3429000" cy="1206500"/>
          </a:xfrm>
          <a:prstGeom prst="roundRect">
            <a:avLst>
              <a:gd name="adj" fmla="val 0"/>
            </a:avLst>
          </a:prstGeom>
          <a:solidFill>
            <a:srgbClr val="FFFFFF">
              <a:alpha val="7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33900" y="5245100"/>
            <a:ext cx="304800" cy="304800"/>
          </a:xfrm>
          <a:prstGeom prst="rect">
            <a:avLst/>
          </a:prstGeom>
        </p:spPr>
      </p:pic>
      <p:sp>
        <p:nvSpPr>
          <p:cNvPr id="25" name="AutoShape 25"/>
          <p:cNvSpPr/>
          <p:nvPr/>
        </p:nvSpPr>
        <p:spPr>
          <a:xfrm>
            <a:off x="4953000" y="5168900"/>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err="1">
                <a:solidFill>
                  <a:srgbClr val="1F2937"/>
                </a:solidFill>
                <a:latin typeface="Noto Sans SC"/>
                <a:ea typeface="Noto Sans SC"/>
                <a:cs typeface="Noto Sans SC"/>
                <a:sym typeface="Noto Sans SC"/>
              </a:rPr>
              <a:t>现场取证与信息上传</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OLED显示异常提示，摄像头抓拍画面，HTTP上传报警图片</a:t>
            </a:r>
            <a:r>
              <a:rPr lang="en-US" sz="1100" b="0" i="0" u="none" strike="noStrike" dirty="0">
                <a:solidFill>
                  <a:srgbClr val="4B5563"/>
                </a:solidFill>
                <a:latin typeface="Noto Sans SC"/>
                <a:ea typeface="Noto Sans SC"/>
                <a:cs typeface="Noto Sans SC"/>
                <a:sym typeface="Noto Sans SC"/>
              </a:rPr>
              <a:t>。</a:t>
            </a:r>
          </a:p>
        </p:txBody>
      </p:sp>
      <p:sp>
        <p:nvSpPr>
          <p:cNvPr id="26" name="AutoShape 26"/>
          <p:cNvSpPr/>
          <p:nvPr/>
        </p:nvSpPr>
        <p:spPr>
          <a:xfrm>
            <a:off x="8001000" y="5080000"/>
            <a:ext cx="3429000" cy="1206500"/>
          </a:xfrm>
          <a:prstGeom prst="roundRect">
            <a:avLst>
              <a:gd name="adj" fmla="val 0"/>
            </a:avLst>
          </a:prstGeom>
          <a:solidFill>
            <a:srgbClr val="FFFFFF">
              <a:alpha val="7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53400" y="5245100"/>
            <a:ext cx="304800" cy="304800"/>
          </a:xfrm>
          <a:prstGeom prst="rect">
            <a:avLst/>
          </a:prstGeom>
        </p:spPr>
      </p:pic>
      <p:sp>
        <p:nvSpPr>
          <p:cNvPr id="28" name="AutoShape 28"/>
          <p:cNvSpPr/>
          <p:nvPr/>
        </p:nvSpPr>
        <p:spPr>
          <a:xfrm>
            <a:off x="8572500" y="5168900"/>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dirty="0" err="1">
                <a:solidFill>
                  <a:srgbClr val="1F2937"/>
                </a:solidFill>
                <a:latin typeface="Noto Sans SC"/>
                <a:ea typeface="Noto Sans SC"/>
                <a:cs typeface="Noto Sans SC"/>
                <a:sym typeface="Noto Sans SC"/>
              </a:rPr>
              <a:t>远程告警与查看处置</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Web端或小程序展示报警状态与图片，支持快速处置</a:t>
            </a:r>
            <a:r>
              <a:rPr lang="en-US" sz="1100" b="0" i="0" u="none" strike="noStrike" dirty="0">
                <a:solidFill>
                  <a:srgbClr val="4B5563"/>
                </a:solidFill>
                <a:latin typeface="Noto Sans SC"/>
                <a:ea typeface="Noto Sans SC"/>
                <a:cs typeface="Noto Sans SC"/>
                <a:sym typeface="Noto Sans SC"/>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397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97316"/>
                </a:solidFill>
                <a:latin typeface="Noto Sans SC"/>
                <a:ea typeface="Noto Sans SC"/>
                <a:cs typeface="Noto Sans SC"/>
                <a:sym typeface="Noto Sans SC"/>
              </a:rPr>
              <a:t>04</a:t>
            </a:r>
            <a:endParaRPr lang="en-US" sz="1100"/>
          </a:p>
        </p:txBody>
      </p:sp>
      <p:sp>
        <p:nvSpPr>
          <p:cNvPr id="4" name="AutoShape 4"/>
          <p:cNvSpPr/>
          <p:nvPr/>
        </p:nvSpPr>
        <p:spPr>
          <a:xfrm>
            <a:off x="0" y="266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a:ea typeface="Noto Sans SC"/>
                <a:cs typeface="Noto Sans SC"/>
                <a:sym typeface="Noto Sans SC"/>
              </a:rPr>
              <a:t>物联网五层架构设计</a:t>
            </a:r>
            <a:endParaRPr lang="en-US" sz="1100"/>
          </a:p>
        </p:txBody>
      </p:sp>
      <p:sp>
        <p:nvSpPr>
          <p:cNvPr id="5" name="AutoShape 5"/>
          <p:cNvSpPr/>
          <p:nvPr/>
        </p:nvSpPr>
        <p:spPr>
          <a:xfrm>
            <a:off x="5778500" y="3810000"/>
            <a:ext cx="635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09600" y="4445000"/>
            <a:ext cx="3492500" cy="952500"/>
          </a:xfrm>
          <a:prstGeom prst="roundRect">
            <a:avLst>
              <a:gd name="adj" fmla="val 0"/>
            </a:avLst>
          </a:prstGeom>
          <a:solidFill>
            <a:srgbClr val="FFFFFF">
              <a:alpha val="7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09600" y="4445000"/>
            <a:ext cx="50800" cy="952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508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1" i="0" u="none" strike="noStrike" dirty="0" err="1">
                <a:solidFill>
                  <a:srgbClr val="1F2937"/>
                </a:solidFill>
                <a:latin typeface="Noto Sans SC"/>
                <a:ea typeface="Noto Sans SC"/>
                <a:cs typeface="Noto Sans SC"/>
                <a:sym typeface="Noto Sans SC"/>
              </a:rPr>
              <a:t>感知层</a:t>
            </a:r>
            <a:r>
              <a:rPr lang="zh-CN" altLang="en-US" sz="1600" b="1" i="0" u="none" strike="noStrike" dirty="0">
                <a:solidFill>
                  <a:srgbClr val="1F2937"/>
                </a:solidFill>
                <a:latin typeface="Noto Sans SC"/>
                <a:ea typeface="Noto Sans SC"/>
                <a:cs typeface="Noto Sans SC"/>
                <a:sym typeface="Noto Sans SC"/>
              </a:rPr>
              <a:t>：</a:t>
            </a:r>
            <a:r>
              <a:rPr lang="en-US" sz="1200" b="0" i="0" u="none" strike="noStrike" dirty="0" err="1">
                <a:solidFill>
                  <a:srgbClr val="4B5563"/>
                </a:solidFill>
                <a:latin typeface="Noto Sans SC"/>
                <a:ea typeface="Noto Sans SC"/>
                <a:cs typeface="Noto Sans SC"/>
                <a:sym typeface="Noto Sans SC"/>
              </a:rPr>
              <a:t>负责采集物理世界各类环境与设备数据，并执行传感器触发、本地控制等底层动作，是系统的数据源头</a:t>
            </a:r>
            <a:r>
              <a:rPr lang="en-US" sz="1200" b="0" i="0" u="none" strike="noStrike" dirty="0">
                <a:solidFill>
                  <a:srgbClr val="4B5563"/>
                </a:solidFill>
                <a:latin typeface="Noto Sans SC"/>
                <a:ea typeface="Noto Sans SC"/>
                <a:cs typeface="Noto Sans SC"/>
                <a:sym typeface="Noto Sans SC"/>
              </a:rPr>
              <a:t>。</a:t>
            </a:r>
          </a:p>
        </p:txBody>
      </p:sp>
      <p:sp>
        <p:nvSpPr>
          <p:cNvPr id="9" name="AutoShape 9"/>
          <p:cNvSpPr/>
          <p:nvPr/>
        </p:nvSpPr>
        <p:spPr>
          <a:xfrm>
            <a:off x="4343400" y="4445000"/>
            <a:ext cx="3492500" cy="952500"/>
          </a:xfrm>
          <a:prstGeom prst="roundRect">
            <a:avLst>
              <a:gd name="adj" fmla="val 0"/>
            </a:avLst>
          </a:prstGeom>
          <a:solidFill>
            <a:srgbClr val="FFFFFF">
              <a:alpha val="7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343400" y="4445000"/>
            <a:ext cx="50800" cy="952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95800" y="4508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1" i="0" u="none" strike="noStrike" dirty="0" err="1">
                <a:solidFill>
                  <a:srgbClr val="1F2937"/>
                </a:solidFill>
                <a:latin typeface="Noto Sans SC"/>
                <a:ea typeface="Noto Sans SC"/>
                <a:cs typeface="Noto Sans SC"/>
                <a:sym typeface="Noto Sans SC"/>
              </a:rPr>
              <a:t>传输层</a:t>
            </a:r>
            <a:r>
              <a:rPr lang="zh-CN" altLang="en-US" sz="1600" b="1" i="0" u="none" strike="noStrike" dirty="0">
                <a:solidFill>
                  <a:srgbClr val="1F2937"/>
                </a:solidFill>
                <a:latin typeface="Noto Sans SC"/>
                <a:ea typeface="Noto Sans SC"/>
                <a:cs typeface="Noto Sans SC"/>
                <a:sym typeface="Noto Sans SC"/>
              </a:rPr>
              <a:t>：</a:t>
            </a:r>
            <a:r>
              <a:rPr lang="en-US" sz="1200" b="0" i="0" u="none" strike="noStrike" dirty="0" err="1">
                <a:solidFill>
                  <a:srgbClr val="4B5563"/>
                </a:solidFill>
                <a:latin typeface="Noto Sans SC"/>
                <a:ea typeface="Noto Sans SC"/>
                <a:cs typeface="Noto Sans SC"/>
                <a:sym typeface="Noto Sans SC"/>
              </a:rPr>
              <a:t>通过有线或无线通信技术实现设备入网，承担数据上报、云端命令下发的传输任务，保障数据通道的稳定通畅</a:t>
            </a:r>
            <a:r>
              <a:rPr lang="en-US" sz="1200" b="0" i="0" u="none" strike="noStrike" dirty="0">
                <a:solidFill>
                  <a:srgbClr val="4B5563"/>
                </a:solidFill>
                <a:latin typeface="Noto Sans SC"/>
                <a:ea typeface="Noto Sans SC"/>
                <a:cs typeface="Noto Sans SC"/>
                <a:sym typeface="Noto Sans SC"/>
              </a:rPr>
              <a:t>。</a:t>
            </a:r>
          </a:p>
        </p:txBody>
      </p:sp>
      <p:sp>
        <p:nvSpPr>
          <p:cNvPr id="12" name="AutoShape 12"/>
          <p:cNvSpPr/>
          <p:nvPr/>
        </p:nvSpPr>
        <p:spPr>
          <a:xfrm>
            <a:off x="8077200" y="4445000"/>
            <a:ext cx="3492500" cy="952500"/>
          </a:xfrm>
          <a:prstGeom prst="roundRect">
            <a:avLst>
              <a:gd name="adj" fmla="val 0"/>
            </a:avLst>
          </a:prstGeom>
          <a:solidFill>
            <a:srgbClr val="FFFFFF">
              <a:alpha val="7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077200" y="4445000"/>
            <a:ext cx="50800" cy="952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229600" y="4508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1" i="0" u="none" strike="noStrike" dirty="0" err="1">
                <a:solidFill>
                  <a:srgbClr val="1F2937"/>
                </a:solidFill>
                <a:latin typeface="Noto Sans SC"/>
                <a:ea typeface="Noto Sans SC"/>
                <a:cs typeface="Noto Sans SC"/>
                <a:sym typeface="Noto Sans SC"/>
              </a:rPr>
              <a:t>平台层</a:t>
            </a:r>
            <a:r>
              <a:rPr lang="zh-CN" altLang="en-US" sz="1100" dirty="0">
                <a:ea typeface="Noto Sans SC"/>
              </a:rPr>
              <a:t>：</a:t>
            </a:r>
            <a:r>
              <a:rPr lang="en-US" sz="1200" b="0" i="0" u="none" strike="noStrike" dirty="0" err="1">
                <a:solidFill>
                  <a:srgbClr val="4B5563"/>
                </a:solidFill>
                <a:latin typeface="Noto Sans SC"/>
                <a:ea typeface="Noto Sans SC"/>
                <a:cs typeface="Noto Sans SC"/>
                <a:sym typeface="Noto Sans SC"/>
              </a:rPr>
              <a:t>华为云</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IoTDA、后端服务、数据库、AI</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服务</a:t>
            </a:r>
            <a:endParaRPr lang="en-US" sz="1200" b="0" i="0" u="none" strike="noStrike" dirty="0">
              <a:solidFill>
                <a:srgbClr val="4B5563"/>
              </a:solidFill>
              <a:latin typeface="Noto Sans SC"/>
              <a:ea typeface="Noto Sans SC"/>
              <a:cs typeface="Noto Sans SC"/>
              <a:sym typeface="Noto Sans SC"/>
            </a:endParaRPr>
          </a:p>
        </p:txBody>
      </p:sp>
      <p:sp>
        <p:nvSpPr>
          <p:cNvPr id="15" name="AutoShape 15"/>
          <p:cNvSpPr/>
          <p:nvPr/>
        </p:nvSpPr>
        <p:spPr>
          <a:xfrm>
            <a:off x="609600" y="5651500"/>
            <a:ext cx="5359400" cy="952500"/>
          </a:xfrm>
          <a:prstGeom prst="roundRect">
            <a:avLst>
              <a:gd name="adj" fmla="val 0"/>
            </a:avLst>
          </a:prstGeom>
          <a:solidFill>
            <a:srgbClr val="FFFFFF">
              <a:alpha val="7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09600" y="5651500"/>
            <a:ext cx="50800" cy="952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7150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应用层：</a:t>
            </a:r>
            <a:r>
              <a:rPr lang="en-US" sz="1200" b="0" i="0" u="none" strike="noStrike">
                <a:solidFill>
                  <a:srgbClr val="4B5563"/>
                </a:solidFill>
                <a:latin typeface="Noto Sans SC"/>
                <a:ea typeface="Noto Sans SC"/>
                <a:cs typeface="Noto Sans SC"/>
                <a:sym typeface="Noto Sans SC"/>
              </a:rPr>
              <a:t>Web 看板、微信小程序</a:t>
            </a:r>
            <a:endParaRPr lang="en-US" sz="1100"/>
          </a:p>
        </p:txBody>
      </p:sp>
      <p:sp>
        <p:nvSpPr>
          <p:cNvPr id="18" name="AutoShape 18"/>
          <p:cNvSpPr/>
          <p:nvPr/>
        </p:nvSpPr>
        <p:spPr>
          <a:xfrm>
            <a:off x="6210300" y="5651500"/>
            <a:ext cx="5359400" cy="952500"/>
          </a:xfrm>
          <a:prstGeom prst="roundRect">
            <a:avLst>
              <a:gd name="adj" fmla="val 0"/>
            </a:avLst>
          </a:prstGeom>
          <a:solidFill>
            <a:srgbClr val="FFFFFF">
              <a:alpha val="7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210300" y="5651500"/>
            <a:ext cx="50800" cy="952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62700" y="57150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安全与运维层：</a:t>
            </a:r>
            <a:r>
              <a:rPr lang="en-US" sz="1200" b="0" i="0" u="none" strike="noStrike">
                <a:solidFill>
                  <a:srgbClr val="4B5563"/>
                </a:solidFill>
                <a:latin typeface="Noto Sans SC"/>
                <a:ea typeface="Noto Sans SC"/>
                <a:cs typeface="Noto Sans SC"/>
                <a:sym typeface="Noto Sans SC"/>
              </a:rPr>
              <a:t>身份认证、加密通信、日志、异常监控</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感知层：多源数据采集与本地执行</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25400" cap="flat" cmpd="sng">
            <a:solidFill>
              <a:srgbClr val="F97316">
                <a:alpha val="50000"/>
              </a:srgbClr>
            </a:solidFill>
            <a:prstDash val="solid"/>
            <a:round/>
            <a:headEnd type="none" w="lg" len="lg"/>
            <a:tailEnd type="none" w="lg" len="lg"/>
          </a:ln>
        </p:spPr>
      </p:cxnSp>
      <p:pic>
        <p:nvPicPr>
          <p:cNvPr id="5" name="Picture 5"/>
          <p:cNvPicPr>
            <a:picLocks noChangeAspect="1"/>
          </p:cNvPicPr>
          <p:nvPr/>
        </p:nvPicPr>
        <p:blipFill>
          <a:blip r:embed="rId4"/>
          <a:srcRect t="8974" b="8974"/>
          <a:stretch>
            <a:fillRect/>
          </a:stretch>
        </p:blipFill>
        <p:spPr>
          <a:xfrm>
            <a:off x="762000" y="1905000"/>
            <a:ext cx="2476500" cy="2032000"/>
          </a:xfrm>
          <a:prstGeom prst="rect">
            <a:avLst/>
          </a:prstGeom>
          <a:noFill/>
          <a:ln w="12700" cap="flat" cmpd="sng">
            <a:solidFill>
              <a:srgbClr val="F97316">
                <a:alpha val="30000"/>
              </a:srgbClr>
            </a:solidFill>
            <a:prstDash val="solid"/>
            <a:round/>
          </a:ln>
        </p:spPr>
      </p:pic>
      <p:pic>
        <p:nvPicPr>
          <p:cNvPr id="7" name="Picture 7"/>
          <p:cNvPicPr>
            <a:picLocks noChangeAspect="1"/>
          </p:cNvPicPr>
          <p:nvPr/>
        </p:nvPicPr>
        <p:blipFill>
          <a:blip r:embed="rId5"/>
          <a:srcRect l="1923" r="1923"/>
          <a:stretch>
            <a:fillRect/>
          </a:stretch>
        </p:blipFill>
        <p:spPr>
          <a:xfrm>
            <a:off x="762000" y="4318000"/>
            <a:ext cx="1587500" cy="1651000"/>
          </a:xfrm>
          <a:prstGeom prst="rect">
            <a:avLst/>
          </a:prstGeom>
          <a:noFill/>
          <a:ln w="12700" cap="flat" cmpd="sng">
            <a:solidFill>
              <a:srgbClr val="F97316">
                <a:alpha val="30000"/>
              </a:srgbClr>
            </a:solidFill>
            <a:prstDash val="solid"/>
            <a:round/>
          </a:ln>
        </p:spPr>
      </p:pic>
      <p:pic>
        <p:nvPicPr>
          <p:cNvPr id="8" name="Picture 8"/>
          <p:cNvPicPr>
            <a:picLocks noChangeAspect="1"/>
          </p:cNvPicPr>
          <p:nvPr/>
        </p:nvPicPr>
        <p:blipFill>
          <a:blip r:embed="rId6"/>
          <a:srcRect l="1923" r="1923"/>
          <a:stretch>
            <a:fillRect/>
          </a:stretch>
        </p:blipFill>
        <p:spPr>
          <a:xfrm>
            <a:off x="2540000" y="4318000"/>
            <a:ext cx="1587500" cy="1651000"/>
          </a:xfrm>
          <a:prstGeom prst="rect">
            <a:avLst/>
          </a:prstGeom>
          <a:noFill/>
          <a:ln w="12700" cap="flat" cmpd="sng">
            <a:solidFill>
              <a:srgbClr val="F97316">
                <a:alpha val="30000"/>
              </a:srgbClr>
            </a:solidFill>
            <a:prstDash val="solid"/>
            <a:round/>
          </a:ln>
        </p:spPr>
      </p:pic>
      <p:pic>
        <p:nvPicPr>
          <p:cNvPr id="9" name="Picture 9"/>
          <p:cNvPicPr>
            <a:picLocks noChangeAspect="1"/>
          </p:cNvPicPr>
          <p:nvPr/>
        </p:nvPicPr>
        <p:blipFill>
          <a:blip r:embed="rId7"/>
          <a:srcRect l="1923" r="1923"/>
          <a:stretch>
            <a:fillRect/>
          </a:stretch>
        </p:blipFill>
        <p:spPr>
          <a:xfrm>
            <a:off x="4318000" y="4318000"/>
            <a:ext cx="1587500" cy="1651000"/>
          </a:xfrm>
          <a:prstGeom prst="rect">
            <a:avLst/>
          </a:prstGeom>
          <a:noFill/>
          <a:ln w="12700" cap="flat" cmpd="sng">
            <a:solidFill>
              <a:srgbClr val="F97316">
                <a:alpha val="30000"/>
              </a:srgbClr>
            </a:solidFill>
            <a:prstDash val="solid"/>
            <a:round/>
          </a:ln>
        </p:spPr>
      </p:pic>
      <p:cxnSp>
        <p:nvCxnSpPr>
          <p:cNvPr id="10" name="Connector 10"/>
          <p:cNvCxnSpPr/>
          <p:nvPr/>
        </p:nvCxnSpPr>
        <p:spPr>
          <a:xfrm rot="5389889">
            <a:off x="4064000" y="4057659"/>
            <a:ext cx="4318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1" name="AutoShape 11"/>
          <p:cNvSpPr/>
          <p:nvPr/>
        </p:nvSpPr>
        <p:spPr>
          <a:xfrm>
            <a:off x="6477000" y="1905000"/>
            <a:ext cx="2603500" cy="1968500"/>
          </a:xfrm>
          <a:prstGeom prst="roundRect">
            <a:avLst>
              <a:gd name="adj" fmla="val 0"/>
            </a:avLst>
          </a:prstGeom>
          <a:solidFill>
            <a:srgbClr val="FFFFFF">
              <a:alpha val="6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2095500"/>
            <a:ext cx="355600" cy="355600"/>
          </a:xfrm>
          <a:prstGeom prst="rect">
            <a:avLst/>
          </a:prstGeom>
        </p:spPr>
      </p:pic>
      <p:sp>
        <p:nvSpPr>
          <p:cNvPr id="13" name="AutoShape 13"/>
          <p:cNvSpPr/>
          <p:nvPr/>
        </p:nvSpPr>
        <p:spPr>
          <a:xfrm>
            <a:off x="7112000" y="2057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身份感知</a:t>
            </a:r>
            <a:endParaRPr lang="en-US" sz="1100"/>
          </a:p>
        </p:txBody>
      </p:sp>
      <p:cxnSp>
        <p:nvCxnSpPr>
          <p:cNvPr id="14" name="Connector 14"/>
          <p:cNvCxnSpPr/>
          <p:nvPr/>
        </p:nvCxnSpPr>
        <p:spPr>
          <a:xfrm rot="-19644">
            <a:off x="6667518" y="2660650"/>
            <a:ext cx="2222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15" name="AutoShape 15"/>
          <p:cNvSpPr/>
          <p:nvPr/>
        </p:nvSpPr>
        <p:spPr>
          <a:xfrm>
            <a:off x="6604000" y="2794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374151"/>
                </a:solidFill>
                <a:latin typeface="Noto Sans SC"/>
                <a:ea typeface="Noto Sans SC"/>
                <a:cs typeface="Noto Sans SC"/>
                <a:sym typeface="Noto Sans SC"/>
              </a:rPr>
              <a:t>RC522：读取 RFID </a:t>
            </a:r>
            <a:r>
              <a:rPr lang="en-US" sz="1200" b="0" i="0" u="none" strike="noStrike" dirty="0" err="1">
                <a:solidFill>
                  <a:srgbClr val="374151"/>
                </a:solidFill>
                <a:latin typeface="Noto Sans SC"/>
                <a:ea typeface="Noto Sans SC"/>
                <a:cs typeface="Noto Sans SC"/>
                <a:sym typeface="Noto Sans SC"/>
              </a:rPr>
              <a:t>卡片</a:t>
            </a:r>
            <a:r>
              <a:rPr lang="en-US" sz="1200" b="0" i="0" u="none" strike="noStrike" dirty="0">
                <a:solidFill>
                  <a:srgbClr val="374151"/>
                </a:solidFill>
                <a:latin typeface="Noto Sans SC"/>
                <a:ea typeface="Noto Sans SC"/>
                <a:cs typeface="Noto Sans SC"/>
                <a:sym typeface="Noto Sans SC"/>
              </a:rPr>
              <a:t> </a:t>
            </a:r>
            <a:r>
              <a:rPr lang="en-US" sz="1200" b="0" i="0" u="none" strike="noStrike" dirty="0" err="1">
                <a:solidFill>
                  <a:srgbClr val="374151"/>
                </a:solidFill>
                <a:latin typeface="Noto Sans SC"/>
                <a:ea typeface="Noto Sans SC"/>
                <a:cs typeface="Noto Sans SC"/>
                <a:sym typeface="Noto Sans SC"/>
              </a:rPr>
              <a:t>UID，完成身份识别</a:t>
            </a:r>
            <a:r>
              <a:rPr lang="en-US" sz="1200" b="0" i="0" u="none" strike="noStrike" dirty="0">
                <a:solidFill>
                  <a:srgbClr val="374151"/>
                </a:solidFill>
                <a:latin typeface="Noto Sans SC"/>
                <a:ea typeface="Noto Sans SC"/>
                <a:cs typeface="Noto Sans SC"/>
                <a:sym typeface="Noto Sans SC"/>
              </a:rPr>
              <a:t>。</a:t>
            </a:r>
            <a:endParaRPr lang="en-US" sz="1100" dirty="0"/>
          </a:p>
        </p:txBody>
      </p:sp>
      <p:sp>
        <p:nvSpPr>
          <p:cNvPr id="16" name="AutoShape 16"/>
          <p:cNvSpPr/>
          <p:nvPr/>
        </p:nvSpPr>
        <p:spPr>
          <a:xfrm>
            <a:off x="9207500" y="1905000"/>
            <a:ext cx="2603500" cy="1968500"/>
          </a:xfrm>
          <a:prstGeom prst="roundRect">
            <a:avLst>
              <a:gd name="adj" fmla="val 0"/>
            </a:avLst>
          </a:prstGeom>
          <a:solidFill>
            <a:srgbClr val="FFFFFF">
              <a:alpha val="6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98000" y="2095500"/>
            <a:ext cx="355600" cy="355600"/>
          </a:xfrm>
          <a:prstGeom prst="rect">
            <a:avLst/>
          </a:prstGeom>
        </p:spPr>
      </p:pic>
      <p:sp>
        <p:nvSpPr>
          <p:cNvPr id="18" name="AutoShape 18"/>
          <p:cNvSpPr/>
          <p:nvPr/>
        </p:nvSpPr>
        <p:spPr>
          <a:xfrm>
            <a:off x="9842500" y="2057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环境感知</a:t>
            </a:r>
            <a:endParaRPr lang="en-US" sz="1100"/>
          </a:p>
        </p:txBody>
      </p:sp>
      <p:cxnSp>
        <p:nvCxnSpPr>
          <p:cNvPr id="19" name="Connector 19"/>
          <p:cNvCxnSpPr/>
          <p:nvPr/>
        </p:nvCxnSpPr>
        <p:spPr>
          <a:xfrm rot="-19644">
            <a:off x="9398018" y="2660650"/>
            <a:ext cx="2222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0" name="AutoShape 20"/>
          <p:cNvSpPr/>
          <p:nvPr/>
        </p:nvSpPr>
        <p:spPr>
          <a:xfrm>
            <a:off x="9334500" y="2794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374151"/>
                </a:solidFill>
                <a:latin typeface="Noto Sans SC"/>
                <a:ea typeface="Noto Sans SC"/>
                <a:cs typeface="Noto Sans SC"/>
                <a:sym typeface="Noto Sans SC"/>
              </a:rPr>
              <a:t>DHT11采集温湿度，MQ2检测气体/烟雾，SW180监测震动，全方位感知环境异常。</a:t>
            </a:r>
            <a:endParaRPr lang="en-US" sz="1100" dirty="0"/>
          </a:p>
        </p:txBody>
      </p:sp>
      <p:sp>
        <p:nvSpPr>
          <p:cNvPr id="21" name="AutoShape 21"/>
          <p:cNvSpPr/>
          <p:nvPr/>
        </p:nvSpPr>
        <p:spPr>
          <a:xfrm>
            <a:off x="6477000" y="4191000"/>
            <a:ext cx="2603500" cy="1968500"/>
          </a:xfrm>
          <a:prstGeom prst="roundRect">
            <a:avLst>
              <a:gd name="adj" fmla="val 0"/>
            </a:avLst>
          </a:prstGeom>
          <a:solidFill>
            <a:srgbClr val="FFFFFF">
              <a:alpha val="6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4381500"/>
            <a:ext cx="355600" cy="355600"/>
          </a:xfrm>
          <a:prstGeom prst="rect">
            <a:avLst/>
          </a:prstGeom>
        </p:spPr>
      </p:pic>
      <p:sp>
        <p:nvSpPr>
          <p:cNvPr id="23" name="AutoShape 23"/>
          <p:cNvSpPr/>
          <p:nvPr/>
        </p:nvSpPr>
        <p:spPr>
          <a:xfrm>
            <a:off x="7112000" y="4343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图像感知</a:t>
            </a:r>
            <a:endParaRPr lang="en-US" sz="1100"/>
          </a:p>
        </p:txBody>
      </p:sp>
      <p:cxnSp>
        <p:nvCxnSpPr>
          <p:cNvPr id="24" name="Connector 24"/>
          <p:cNvCxnSpPr/>
          <p:nvPr/>
        </p:nvCxnSpPr>
        <p:spPr>
          <a:xfrm rot="-19644">
            <a:off x="6667518" y="4946650"/>
            <a:ext cx="2222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5" name="AutoShape 25"/>
          <p:cNvSpPr/>
          <p:nvPr/>
        </p:nvSpPr>
        <p:spPr>
          <a:xfrm>
            <a:off x="6604000" y="5080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err="1">
                <a:solidFill>
                  <a:srgbClr val="374151"/>
                </a:solidFill>
                <a:latin typeface="Noto Sans SC"/>
                <a:ea typeface="Noto Sans SC"/>
                <a:cs typeface="Noto Sans SC"/>
                <a:sym typeface="Noto Sans SC"/>
              </a:rPr>
              <a:t>Camera：获取现场画面，支持最新图像和报警抓拍</a:t>
            </a:r>
            <a:r>
              <a:rPr lang="en-US" sz="1200" b="0" i="0" u="none" strike="noStrike" dirty="0">
                <a:solidFill>
                  <a:srgbClr val="374151"/>
                </a:solidFill>
                <a:latin typeface="Noto Sans SC"/>
                <a:ea typeface="Noto Sans SC"/>
                <a:cs typeface="Noto Sans SC"/>
                <a:sym typeface="Noto Sans SC"/>
              </a:rPr>
              <a:t>。</a:t>
            </a:r>
            <a:endParaRPr lang="en-US" sz="1100" dirty="0"/>
          </a:p>
        </p:txBody>
      </p:sp>
      <p:sp>
        <p:nvSpPr>
          <p:cNvPr id="26" name="AutoShape 26"/>
          <p:cNvSpPr/>
          <p:nvPr/>
        </p:nvSpPr>
        <p:spPr>
          <a:xfrm>
            <a:off x="9207500" y="4191000"/>
            <a:ext cx="2603500" cy="1968500"/>
          </a:xfrm>
          <a:prstGeom prst="roundRect">
            <a:avLst>
              <a:gd name="adj" fmla="val 0"/>
            </a:avLst>
          </a:prstGeom>
          <a:solidFill>
            <a:srgbClr val="FFFFFF">
              <a:alpha val="65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98000" y="4381500"/>
            <a:ext cx="355600" cy="355600"/>
          </a:xfrm>
          <a:prstGeom prst="rect">
            <a:avLst/>
          </a:prstGeom>
        </p:spPr>
      </p:pic>
      <p:sp>
        <p:nvSpPr>
          <p:cNvPr id="28" name="AutoShape 28"/>
          <p:cNvSpPr/>
          <p:nvPr/>
        </p:nvSpPr>
        <p:spPr>
          <a:xfrm>
            <a:off x="9842500" y="4343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本地执行</a:t>
            </a:r>
            <a:endParaRPr lang="en-US" sz="1100"/>
          </a:p>
        </p:txBody>
      </p:sp>
      <p:cxnSp>
        <p:nvCxnSpPr>
          <p:cNvPr id="29" name="Connector 29"/>
          <p:cNvCxnSpPr/>
          <p:nvPr/>
        </p:nvCxnSpPr>
        <p:spPr>
          <a:xfrm rot="-19644">
            <a:off x="9398018" y="4946650"/>
            <a:ext cx="2222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30" name="AutoShape 30"/>
          <p:cNvSpPr/>
          <p:nvPr/>
        </p:nvSpPr>
        <p:spPr>
          <a:xfrm>
            <a:off x="9334500" y="5080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err="1">
                <a:solidFill>
                  <a:srgbClr val="374151"/>
                </a:solidFill>
                <a:latin typeface="Noto Sans SC"/>
                <a:ea typeface="Noto Sans SC"/>
                <a:cs typeface="Noto Sans SC"/>
                <a:sym typeface="Noto Sans SC"/>
              </a:rPr>
              <a:t>OLED显示状态，舵机执行开关锁，蜂鸣器本地报警</a:t>
            </a:r>
            <a:r>
              <a:rPr lang="en-US" sz="1200" b="0" i="0" u="none" strike="noStrike" dirty="0">
                <a:solidFill>
                  <a:srgbClr val="374151"/>
                </a:solidFill>
                <a:latin typeface="Noto Sans SC"/>
                <a:ea typeface="Noto Sans SC"/>
                <a:cs typeface="Noto Sans SC"/>
                <a:sym typeface="Noto Sans SC"/>
              </a:rPr>
              <a:t>。</a:t>
            </a:r>
            <a:endParaRPr lang="en-US" sz="1100" dirty="0"/>
          </a:p>
        </p:txBody>
      </p:sp>
      <p:pic>
        <p:nvPicPr>
          <p:cNvPr id="31" name="Picture 2" descr="RFID-RC522 RF IC Card Reader Sensor Module with S50 Blank Card and Key ...">
            <a:extLst>
              <a:ext uri="{FF2B5EF4-FFF2-40B4-BE49-F238E27FC236}">
                <a16:creationId xmlns:a16="http://schemas.microsoft.com/office/drawing/2014/main" id="{D38AE567-D2DA-F63A-16B8-2A6ABF6B414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708399" y="1904999"/>
            <a:ext cx="2032000" cy="2032000"/>
          </a:xfrm>
          <a:prstGeom prst="rect">
            <a:avLst/>
          </a:prstGeom>
          <a:solidFill>
            <a:srgbClr val="FFFFFF">
              <a:shade val="85000"/>
            </a:srgbClr>
          </a:solidFill>
          <a:ln w="12700" cap="sq">
            <a:solidFill>
              <a:schemeClr val="accent2">
                <a:lumMod val="60000"/>
                <a:lumOff val="4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6" name="AutoShape 2">
            <a:extLst>
              <a:ext uri="{FF2B5EF4-FFF2-40B4-BE49-F238E27FC236}">
                <a16:creationId xmlns:a16="http://schemas.microsoft.com/office/drawing/2014/main" id="{21D7E5C6-DB7E-0C7A-1C4D-AB17D55E3F5B}"/>
              </a:ext>
            </a:extLst>
          </p:cNvPr>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3">
            <a:extLst>
              <a:ext uri="{FF2B5EF4-FFF2-40B4-BE49-F238E27FC236}">
                <a16:creationId xmlns:a16="http://schemas.microsoft.com/office/drawing/2014/main" id="{B08E10E8-E3BC-D718-7DF1-232A666A57AF}"/>
              </a:ext>
            </a:extLst>
          </p:cNvPr>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传输层：Wi-Fi + MQTT + HTTP 数据通道</a:t>
            </a:r>
            <a:endParaRPr lang="en-US" sz="1100"/>
          </a:p>
        </p:txBody>
      </p:sp>
      <p:sp>
        <p:nvSpPr>
          <p:cNvPr id="18" name="AutoShape 4">
            <a:extLst>
              <a:ext uri="{FF2B5EF4-FFF2-40B4-BE49-F238E27FC236}">
                <a16:creationId xmlns:a16="http://schemas.microsoft.com/office/drawing/2014/main" id="{74E24101-8268-1929-EDC8-5859544836DF}"/>
              </a:ext>
            </a:extLst>
          </p:cNvPr>
          <p:cNvSpPr/>
          <p:nvPr/>
        </p:nvSpPr>
        <p:spPr>
          <a:xfrm>
            <a:off x="762000" y="1587500"/>
            <a:ext cx="3302000" cy="2794000"/>
          </a:xfrm>
          <a:prstGeom prst="roundRect">
            <a:avLst>
              <a:gd name="adj" fmla="val 0"/>
            </a:avLst>
          </a:prstGeom>
          <a:solidFill>
            <a:srgbClr val="FFFFFF">
              <a:alpha val="85000"/>
            </a:srgbClr>
          </a:solidFill>
          <a:ln w="12700" cap="flat" cmpd="sng">
            <a:solidFill>
              <a:srgbClr val="F97316">
                <a:alpha val="25000"/>
              </a:srgbClr>
            </a:solidFill>
            <a:prstDash val="solid"/>
            <a:round/>
          </a:ln>
        </p:spPr>
        <p:txBody>
          <a:bodyPr vert="horz" wrap="square" lIns="0" tIns="0" rIns="0" bIns="0" rtlCol="0" anchor="ctr" anchorCtr="0"/>
          <a:lstStyle/>
          <a:p>
            <a:pPr algn="ctr">
              <a:defRPr/>
            </a:pPr>
            <a:endParaRPr/>
          </a:p>
        </p:txBody>
      </p:sp>
      <p:pic>
        <p:nvPicPr>
          <p:cNvPr id="19" name="Picture 5">
            <a:extLst>
              <a:ext uri="{FF2B5EF4-FFF2-40B4-BE49-F238E27FC236}">
                <a16:creationId xmlns:a16="http://schemas.microsoft.com/office/drawing/2014/main" id="{415FDB96-EEA6-47B1-06F9-6B29780E5C3A}"/>
              </a:ext>
            </a:extLst>
          </p:cNvPr>
          <p:cNvPicPr>
            <a:picLocks noChangeAspect="1"/>
          </p:cNvPicPr>
          <p:nvPr/>
        </p:nvPicPr>
        <p:blipFill>
          <a:blip r:embed="rId4"/>
          <a:srcRect/>
          <a:stretch>
            <a:fillRect/>
          </a:stretch>
        </p:blipFill>
        <p:spPr>
          <a:xfrm>
            <a:off x="952500" y="1714500"/>
            <a:ext cx="1397000" cy="1270000"/>
          </a:xfrm>
          <a:prstGeom prst="rect">
            <a:avLst/>
          </a:prstGeom>
          <a:noFill/>
          <a:ln w="25400" cap="flat" cmpd="sng">
            <a:noFill/>
            <a:prstDash val="solid"/>
            <a:round/>
          </a:ln>
        </p:spPr>
      </p:pic>
      <p:sp>
        <p:nvSpPr>
          <p:cNvPr id="20" name="AutoShape 6">
            <a:extLst>
              <a:ext uri="{FF2B5EF4-FFF2-40B4-BE49-F238E27FC236}">
                <a16:creationId xmlns:a16="http://schemas.microsoft.com/office/drawing/2014/main" id="{E1EE1018-0695-449F-1E70-83A829DB2E3D}"/>
              </a:ext>
            </a:extLst>
          </p:cNvPr>
          <p:cNvSpPr/>
          <p:nvPr/>
        </p:nvSpPr>
        <p:spPr>
          <a:xfrm>
            <a:off x="2476499" y="1714500"/>
            <a:ext cx="1574799"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F97316"/>
                </a:solidFill>
                <a:latin typeface="Noto Sans SC"/>
                <a:ea typeface="Noto Sans SC"/>
                <a:cs typeface="Noto Sans SC"/>
                <a:sym typeface="Noto Sans SC"/>
              </a:rPr>
              <a:t>核心硬件</a:t>
            </a:r>
            <a:endParaRPr lang="en-US" sz="1100" dirty="0"/>
          </a:p>
          <a:p>
            <a:pPr marL="0" indent="0" algn="l">
              <a:lnSpc>
                <a:spcPct val="150000"/>
              </a:lnSpc>
            </a:pPr>
            <a:r>
              <a:rPr lang="en-US" sz="1100" b="0" i="0" u="none" strike="noStrike" dirty="0">
                <a:solidFill>
                  <a:srgbClr val="4B5563"/>
                </a:solidFill>
                <a:latin typeface="Noto Sans SC"/>
                <a:ea typeface="Noto Sans SC"/>
                <a:cs typeface="Noto Sans SC"/>
                <a:sym typeface="Noto Sans SC"/>
              </a:rPr>
              <a:t>ESP32-S3高性能模组，集成Wi-Fi与蓝牙，为设备提供稳定的联网基座。</a:t>
            </a:r>
          </a:p>
        </p:txBody>
      </p:sp>
      <p:cxnSp>
        <p:nvCxnSpPr>
          <p:cNvPr id="21" name="Connector 7">
            <a:extLst>
              <a:ext uri="{FF2B5EF4-FFF2-40B4-BE49-F238E27FC236}">
                <a16:creationId xmlns:a16="http://schemas.microsoft.com/office/drawing/2014/main" id="{DC643D31-DB4E-5C12-5B93-1AC3842FAFB0}"/>
              </a:ext>
            </a:extLst>
          </p:cNvPr>
          <p:cNvCxnSpPr>
            <a:cxnSpLocks/>
          </p:cNvCxnSpPr>
          <p:nvPr/>
        </p:nvCxnSpPr>
        <p:spPr>
          <a:xfrm rot="21585677">
            <a:off x="889013" y="2978150"/>
            <a:ext cx="3048000" cy="12700"/>
          </a:xfrm>
          <a:prstGeom prst="straightConnector1">
            <a:avLst/>
          </a:prstGeom>
          <a:solidFill>
            <a:srgbClr val="DEE0E3">
              <a:alpha val="100000"/>
            </a:srgbClr>
          </a:solidFill>
          <a:ln w="12700" cap="flat" cmpd="sng">
            <a:solidFill>
              <a:srgbClr val="F97316">
                <a:alpha val="30000"/>
              </a:srgbClr>
            </a:solidFill>
            <a:prstDash val="dash"/>
            <a:round/>
            <a:headEnd type="none" w="med" len="med"/>
            <a:tailEnd type="none" w="med" len="med"/>
          </a:ln>
        </p:spPr>
      </p:cxnSp>
      <p:sp>
        <p:nvSpPr>
          <p:cNvPr id="22" name="AutoShape 8">
            <a:extLst>
              <a:ext uri="{FF2B5EF4-FFF2-40B4-BE49-F238E27FC236}">
                <a16:creationId xmlns:a16="http://schemas.microsoft.com/office/drawing/2014/main" id="{8D986505-A2BC-E725-2E87-BB4099EC345B}"/>
              </a:ext>
            </a:extLst>
          </p:cNvPr>
          <p:cNvSpPr/>
          <p:nvPr/>
        </p:nvSpPr>
        <p:spPr>
          <a:xfrm>
            <a:off x="889000" y="29845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F2937"/>
                </a:solidFill>
                <a:latin typeface="Noto Sans SC"/>
                <a:ea typeface="Noto Sans SC"/>
                <a:cs typeface="Noto Sans SC"/>
                <a:sym typeface="Noto Sans SC"/>
              </a:rPr>
              <a:t>Wi-Fi </a:t>
            </a:r>
            <a:r>
              <a:rPr lang="en-US" sz="1300" b="1" i="0" u="none" strike="noStrike" dirty="0" err="1">
                <a:solidFill>
                  <a:srgbClr val="1F2937"/>
                </a:solidFill>
                <a:latin typeface="Noto Sans SC"/>
                <a:ea typeface="Noto Sans SC"/>
                <a:cs typeface="Noto Sans SC"/>
                <a:sym typeface="Noto Sans SC"/>
              </a:rPr>
              <a:t>无缝入网</a:t>
            </a:r>
            <a:r>
              <a:rPr lang="zh-CN" altLang="en-US" sz="1300" b="1" i="0" u="none" strike="noStrike" dirty="0">
                <a:solidFill>
                  <a:srgbClr val="1F2937"/>
                </a:solidFill>
                <a:latin typeface="Noto Sans SC"/>
                <a:ea typeface="Noto Sans SC"/>
                <a:cs typeface="Noto Sans SC"/>
                <a:sym typeface="Noto Sans SC"/>
              </a:rPr>
              <a:t>：</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设备通过STA模式接入互联网，建立物理连接，保障数据在局域网与广域网间的高效流转</a:t>
            </a:r>
            <a:r>
              <a:rPr lang="en-US" sz="1100" b="0" i="0" u="none" strike="noStrike" dirty="0">
                <a:solidFill>
                  <a:srgbClr val="4B5563"/>
                </a:solidFill>
                <a:latin typeface="Noto Sans SC"/>
                <a:ea typeface="Noto Sans SC"/>
                <a:cs typeface="Noto Sans SC"/>
                <a:sym typeface="Noto Sans SC"/>
              </a:rPr>
              <a:t>。</a:t>
            </a:r>
          </a:p>
        </p:txBody>
      </p:sp>
      <p:cxnSp>
        <p:nvCxnSpPr>
          <p:cNvPr id="23" name="Connector 9">
            <a:extLst>
              <a:ext uri="{FF2B5EF4-FFF2-40B4-BE49-F238E27FC236}">
                <a16:creationId xmlns:a16="http://schemas.microsoft.com/office/drawing/2014/main" id="{064FA371-3424-C4C4-8903-A0D1CB059603}"/>
              </a:ext>
            </a:extLst>
          </p:cNvPr>
          <p:cNvCxnSpPr/>
          <p:nvPr/>
        </p:nvCxnSpPr>
        <p:spPr>
          <a:xfrm rot="5384373">
            <a:off x="2857500" y="3041664"/>
            <a:ext cx="27940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24" name="AutoShape 10">
            <a:extLst>
              <a:ext uri="{FF2B5EF4-FFF2-40B4-BE49-F238E27FC236}">
                <a16:creationId xmlns:a16="http://schemas.microsoft.com/office/drawing/2014/main" id="{BD0D04F0-79E1-B212-B2F4-EB7BED3F98A8}"/>
              </a:ext>
            </a:extLst>
          </p:cNvPr>
          <p:cNvSpPr/>
          <p:nvPr/>
        </p:nvSpPr>
        <p:spPr>
          <a:xfrm>
            <a:off x="4445000" y="1587500"/>
            <a:ext cx="3302000" cy="2794000"/>
          </a:xfrm>
          <a:prstGeom prst="roundRect">
            <a:avLst>
              <a:gd name="adj" fmla="val 0"/>
            </a:avLst>
          </a:prstGeom>
          <a:solidFill>
            <a:srgbClr val="FFFFFF">
              <a:alpha val="85000"/>
            </a:srgbClr>
          </a:solidFill>
          <a:ln w="12700" cap="flat" cmpd="sng">
            <a:solidFill>
              <a:srgbClr val="F97316">
                <a:alpha val="25000"/>
              </a:srgbClr>
            </a:solidFill>
            <a:prstDash val="solid"/>
            <a:round/>
          </a:ln>
        </p:spPr>
        <p:txBody>
          <a:bodyPr vert="horz" wrap="square" lIns="0" tIns="0" rIns="0" bIns="0" rtlCol="0" anchor="ctr" anchorCtr="0"/>
          <a:lstStyle/>
          <a:p>
            <a:pPr algn="ctr">
              <a:defRPr/>
            </a:pPr>
            <a:endParaRPr/>
          </a:p>
        </p:txBody>
      </p:sp>
      <p:sp>
        <p:nvSpPr>
          <p:cNvPr id="26" name="AutoShape 12">
            <a:extLst>
              <a:ext uri="{FF2B5EF4-FFF2-40B4-BE49-F238E27FC236}">
                <a16:creationId xmlns:a16="http://schemas.microsoft.com/office/drawing/2014/main" id="{9294F051-29A6-2E95-7E8F-9AC383F2E54C}"/>
              </a:ext>
            </a:extLst>
          </p:cNvPr>
          <p:cNvSpPr/>
          <p:nvPr/>
        </p:nvSpPr>
        <p:spPr>
          <a:xfrm>
            <a:off x="5842000" y="1714500"/>
            <a:ext cx="190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97316"/>
                </a:solidFill>
                <a:latin typeface="Noto Sans SC"/>
                <a:ea typeface="Noto Sans SC"/>
                <a:cs typeface="Noto Sans SC"/>
                <a:sym typeface="Noto Sans SC"/>
              </a:rPr>
              <a:t>MQTT </a:t>
            </a:r>
            <a:r>
              <a:rPr lang="en-US" sz="1600" b="1" i="0" u="none" strike="noStrike" dirty="0" err="1">
                <a:solidFill>
                  <a:srgbClr val="F97316"/>
                </a:solidFill>
                <a:latin typeface="Noto Sans SC"/>
                <a:ea typeface="Noto Sans SC"/>
                <a:cs typeface="Noto Sans SC"/>
                <a:sym typeface="Noto Sans SC"/>
              </a:rPr>
              <a:t>轻量通道</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基于发布</a:t>
            </a:r>
            <a:r>
              <a:rPr lang="en-US" sz="1100" b="0" i="0" u="none" strike="noStrike" dirty="0">
                <a:solidFill>
                  <a:srgbClr val="4B5563"/>
                </a:solidFill>
                <a:latin typeface="Noto Sans SC"/>
                <a:ea typeface="Noto Sans SC"/>
                <a:cs typeface="Noto Sans SC"/>
                <a:sym typeface="Noto Sans SC"/>
              </a:rPr>
              <a:t>/</a:t>
            </a:r>
            <a:r>
              <a:rPr lang="en-US" sz="1100" b="0" i="0" u="none" strike="noStrike" dirty="0" err="1">
                <a:solidFill>
                  <a:srgbClr val="4B5563"/>
                </a:solidFill>
                <a:latin typeface="Noto Sans SC"/>
                <a:ea typeface="Noto Sans SC"/>
                <a:cs typeface="Noto Sans SC"/>
                <a:sym typeface="Noto Sans SC"/>
              </a:rPr>
              <a:t>订阅模式，专为物联网设备设计的即时通讯协议</a:t>
            </a:r>
            <a:r>
              <a:rPr lang="en-US" sz="1100" b="0" i="0" u="none" strike="noStrike" dirty="0">
                <a:solidFill>
                  <a:srgbClr val="4B5563"/>
                </a:solidFill>
                <a:latin typeface="Noto Sans SC"/>
                <a:ea typeface="Noto Sans SC"/>
                <a:cs typeface="Noto Sans SC"/>
                <a:sym typeface="Noto Sans SC"/>
              </a:rPr>
              <a:t>。</a:t>
            </a:r>
          </a:p>
        </p:txBody>
      </p:sp>
      <p:cxnSp>
        <p:nvCxnSpPr>
          <p:cNvPr id="27" name="Connector 13">
            <a:extLst>
              <a:ext uri="{FF2B5EF4-FFF2-40B4-BE49-F238E27FC236}">
                <a16:creationId xmlns:a16="http://schemas.microsoft.com/office/drawing/2014/main" id="{620495B0-A03A-8BA7-AC1B-C79F1FC1C529}"/>
              </a:ext>
            </a:extLst>
          </p:cNvPr>
          <p:cNvCxnSpPr>
            <a:cxnSpLocks/>
          </p:cNvCxnSpPr>
          <p:nvPr/>
        </p:nvCxnSpPr>
        <p:spPr>
          <a:xfrm rot="21585677">
            <a:off x="4572013" y="2978150"/>
            <a:ext cx="3048000" cy="12700"/>
          </a:xfrm>
          <a:prstGeom prst="straightConnector1">
            <a:avLst/>
          </a:prstGeom>
          <a:solidFill>
            <a:srgbClr val="DEE0E3">
              <a:alpha val="100000"/>
            </a:srgbClr>
          </a:solidFill>
          <a:ln w="12700" cap="flat" cmpd="sng">
            <a:solidFill>
              <a:srgbClr val="F97316">
                <a:alpha val="30000"/>
              </a:srgbClr>
            </a:solidFill>
            <a:prstDash val="dash"/>
            <a:round/>
            <a:headEnd type="none" w="med" len="med"/>
            <a:tailEnd type="none" w="med" len="med"/>
          </a:ln>
        </p:spPr>
      </p:cxnSp>
      <p:sp>
        <p:nvSpPr>
          <p:cNvPr id="28" name="AutoShape 14">
            <a:extLst>
              <a:ext uri="{FF2B5EF4-FFF2-40B4-BE49-F238E27FC236}">
                <a16:creationId xmlns:a16="http://schemas.microsoft.com/office/drawing/2014/main" id="{857CEFDF-5FF0-A6D3-2E2F-D39D57CADB8D}"/>
              </a:ext>
            </a:extLst>
          </p:cNvPr>
          <p:cNvSpPr/>
          <p:nvPr/>
        </p:nvSpPr>
        <p:spPr>
          <a:xfrm>
            <a:off x="4572000" y="29845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374151"/>
                </a:solidFill>
                <a:latin typeface="Noto Sans SC"/>
                <a:ea typeface="Noto Sans SC"/>
                <a:cs typeface="Noto Sans SC"/>
                <a:sym typeface="Noto Sans SC"/>
              </a:rPr>
              <a:t>核心应用场景</a:t>
            </a:r>
            <a:r>
              <a:rPr lang="en-US" sz="1300" b="1" i="0" u="none" strike="noStrike" dirty="0">
                <a:solidFill>
                  <a:srgbClr val="374151"/>
                </a:solidFill>
                <a:latin typeface="Noto Sans SC"/>
                <a:ea typeface="Noto Sans SC"/>
                <a:cs typeface="Noto Sans SC"/>
                <a:sym typeface="Noto Sans SC"/>
              </a:rPr>
              <a:t>：</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周期性上报温湿度、门锁状态等小体积属性数据；实时接收云端下发的控制指令，极低延迟</a:t>
            </a:r>
            <a:r>
              <a:rPr lang="en-US" sz="1100" b="0" i="0" u="none" strike="noStrike" dirty="0">
                <a:solidFill>
                  <a:srgbClr val="4B5563"/>
                </a:solidFill>
                <a:latin typeface="Noto Sans SC"/>
                <a:ea typeface="Noto Sans SC"/>
                <a:cs typeface="Noto Sans SC"/>
                <a:sym typeface="Noto Sans SC"/>
              </a:rPr>
              <a:t>。</a:t>
            </a:r>
          </a:p>
        </p:txBody>
      </p:sp>
      <p:cxnSp>
        <p:nvCxnSpPr>
          <p:cNvPr id="29" name="Connector 15">
            <a:extLst>
              <a:ext uri="{FF2B5EF4-FFF2-40B4-BE49-F238E27FC236}">
                <a16:creationId xmlns:a16="http://schemas.microsoft.com/office/drawing/2014/main" id="{6ECB45EF-5F5F-2F34-524E-9C82A0DC5159}"/>
              </a:ext>
            </a:extLst>
          </p:cNvPr>
          <p:cNvCxnSpPr/>
          <p:nvPr/>
        </p:nvCxnSpPr>
        <p:spPr>
          <a:xfrm rot="5384373">
            <a:off x="6540500" y="3041664"/>
            <a:ext cx="2794000" cy="12700"/>
          </a:xfrm>
          <a:prstGeom prst="straightConnector1">
            <a:avLst/>
          </a:prstGeom>
          <a:solidFill>
            <a:srgbClr val="DEE0E3">
              <a:alpha val="100000"/>
            </a:srgbClr>
          </a:solidFill>
          <a:ln w="12700" cap="flat" cmpd="sng">
            <a:solidFill>
              <a:srgbClr val="F97316">
                <a:alpha val="15000"/>
              </a:srgbClr>
            </a:solidFill>
            <a:prstDash val="solid"/>
            <a:round/>
            <a:headEnd type="none" w="med" len="med"/>
            <a:tailEnd type="none" w="med" len="med"/>
          </a:ln>
        </p:spPr>
      </p:cxnSp>
      <p:sp>
        <p:nvSpPr>
          <p:cNvPr id="30" name="AutoShape 16">
            <a:extLst>
              <a:ext uri="{FF2B5EF4-FFF2-40B4-BE49-F238E27FC236}">
                <a16:creationId xmlns:a16="http://schemas.microsoft.com/office/drawing/2014/main" id="{C86060B8-FD4A-880E-5C95-67C9715D3150}"/>
              </a:ext>
            </a:extLst>
          </p:cNvPr>
          <p:cNvSpPr/>
          <p:nvPr/>
        </p:nvSpPr>
        <p:spPr>
          <a:xfrm>
            <a:off x="8064500" y="1587500"/>
            <a:ext cx="3365500" cy="2794000"/>
          </a:xfrm>
          <a:prstGeom prst="roundRect">
            <a:avLst>
              <a:gd name="adj" fmla="val 0"/>
            </a:avLst>
          </a:prstGeom>
          <a:solidFill>
            <a:srgbClr val="FFFFFF">
              <a:alpha val="85000"/>
            </a:srgbClr>
          </a:solidFill>
          <a:ln w="12700" cap="flat" cmpd="sng">
            <a:solidFill>
              <a:srgbClr val="F97316">
                <a:alpha val="25000"/>
              </a:srgbClr>
            </a:solidFill>
            <a:prstDash val="solid"/>
            <a:round/>
          </a:ln>
        </p:spPr>
        <p:txBody>
          <a:bodyPr vert="horz" wrap="square" lIns="0" tIns="0" rIns="0" bIns="0" rtlCol="0" anchor="ctr" anchorCtr="0"/>
          <a:lstStyle/>
          <a:p>
            <a:pPr algn="ctr">
              <a:defRPr/>
            </a:pPr>
            <a:endParaRPr/>
          </a:p>
        </p:txBody>
      </p:sp>
      <p:sp>
        <p:nvSpPr>
          <p:cNvPr id="32" name="AutoShape 18">
            <a:extLst>
              <a:ext uri="{FF2B5EF4-FFF2-40B4-BE49-F238E27FC236}">
                <a16:creationId xmlns:a16="http://schemas.microsoft.com/office/drawing/2014/main" id="{4F9137C2-6C43-141E-B99D-FB2752FFDB55}"/>
              </a:ext>
            </a:extLst>
          </p:cNvPr>
          <p:cNvSpPr/>
          <p:nvPr/>
        </p:nvSpPr>
        <p:spPr>
          <a:xfrm>
            <a:off x="8953500" y="17145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F97316"/>
                </a:solidFill>
                <a:latin typeface="Noto Sans SC"/>
                <a:ea typeface="Noto Sans SC"/>
                <a:cs typeface="Noto Sans SC"/>
                <a:sym typeface="Noto Sans SC"/>
              </a:rPr>
              <a:t>HTTP </a:t>
            </a:r>
            <a:r>
              <a:rPr lang="en-US" sz="1600" b="1" i="0" u="none" strike="noStrike" dirty="0" err="1">
                <a:solidFill>
                  <a:srgbClr val="F97316"/>
                </a:solidFill>
                <a:latin typeface="Noto Sans SC"/>
                <a:ea typeface="Noto Sans SC"/>
                <a:cs typeface="Noto Sans SC"/>
                <a:sym typeface="Noto Sans SC"/>
              </a:rPr>
              <a:t>数据通道</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基于请求</a:t>
            </a:r>
            <a:r>
              <a:rPr lang="en-US" sz="1100" b="0" i="0" u="none" strike="noStrike" dirty="0">
                <a:solidFill>
                  <a:srgbClr val="4B5563"/>
                </a:solidFill>
                <a:latin typeface="Noto Sans SC"/>
                <a:ea typeface="Noto Sans SC"/>
                <a:cs typeface="Noto Sans SC"/>
                <a:sym typeface="Noto Sans SC"/>
              </a:rPr>
              <a:t>/</a:t>
            </a:r>
            <a:r>
              <a:rPr lang="en-US" sz="1100" b="0" i="0" u="none" strike="noStrike" dirty="0" err="1">
                <a:solidFill>
                  <a:srgbClr val="4B5563"/>
                </a:solidFill>
                <a:latin typeface="Noto Sans SC"/>
                <a:ea typeface="Noto Sans SC"/>
                <a:cs typeface="Noto Sans SC"/>
                <a:sym typeface="Noto Sans SC"/>
              </a:rPr>
              <a:t>响应模型，通用性强，支持复杂数据与大文件传输</a:t>
            </a:r>
            <a:r>
              <a:rPr lang="en-US" sz="1100" b="0" i="0" u="none" strike="noStrike" dirty="0">
                <a:solidFill>
                  <a:srgbClr val="4B5563"/>
                </a:solidFill>
                <a:latin typeface="Noto Sans SC"/>
                <a:ea typeface="Noto Sans SC"/>
                <a:cs typeface="Noto Sans SC"/>
                <a:sym typeface="Noto Sans SC"/>
              </a:rPr>
              <a:t>。</a:t>
            </a:r>
          </a:p>
        </p:txBody>
      </p:sp>
      <p:cxnSp>
        <p:nvCxnSpPr>
          <p:cNvPr id="33" name="Connector 19">
            <a:extLst>
              <a:ext uri="{FF2B5EF4-FFF2-40B4-BE49-F238E27FC236}">
                <a16:creationId xmlns:a16="http://schemas.microsoft.com/office/drawing/2014/main" id="{41279C04-0FBB-8356-1F30-0A85F4692A2E}"/>
              </a:ext>
            </a:extLst>
          </p:cNvPr>
          <p:cNvCxnSpPr>
            <a:cxnSpLocks/>
          </p:cNvCxnSpPr>
          <p:nvPr/>
        </p:nvCxnSpPr>
        <p:spPr>
          <a:xfrm rot="21585969">
            <a:off x="8191513" y="2978150"/>
            <a:ext cx="3111500" cy="12700"/>
          </a:xfrm>
          <a:prstGeom prst="straightConnector1">
            <a:avLst/>
          </a:prstGeom>
          <a:solidFill>
            <a:srgbClr val="DEE0E3">
              <a:alpha val="100000"/>
            </a:srgbClr>
          </a:solidFill>
          <a:ln w="12700" cap="flat" cmpd="sng">
            <a:solidFill>
              <a:srgbClr val="F97316">
                <a:alpha val="30000"/>
              </a:srgbClr>
            </a:solidFill>
            <a:prstDash val="dash"/>
            <a:round/>
            <a:headEnd type="none" w="med" len="med"/>
            <a:tailEnd type="none" w="med" len="med"/>
          </a:ln>
        </p:spPr>
      </p:cxnSp>
      <p:sp>
        <p:nvSpPr>
          <p:cNvPr id="34" name="AutoShape 20">
            <a:extLst>
              <a:ext uri="{FF2B5EF4-FFF2-40B4-BE49-F238E27FC236}">
                <a16:creationId xmlns:a16="http://schemas.microsoft.com/office/drawing/2014/main" id="{249BC7A6-804F-0EEC-7901-2BF8906531D7}"/>
              </a:ext>
            </a:extLst>
          </p:cNvPr>
          <p:cNvSpPr/>
          <p:nvPr/>
        </p:nvSpPr>
        <p:spPr>
          <a:xfrm>
            <a:off x="8191500" y="2984500"/>
            <a:ext cx="311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374151"/>
                </a:solidFill>
                <a:latin typeface="Noto Sans SC"/>
                <a:ea typeface="Noto Sans SC"/>
                <a:cs typeface="Noto Sans SC"/>
                <a:sym typeface="Noto Sans SC"/>
              </a:rPr>
              <a:t>核心应用场景</a:t>
            </a:r>
            <a:r>
              <a:rPr lang="en-US" sz="1300" b="1" i="0" u="none" strike="noStrike" dirty="0">
                <a:solidFill>
                  <a:srgbClr val="374151"/>
                </a:solidFill>
                <a:latin typeface="Noto Sans SC"/>
                <a:ea typeface="Noto Sans SC"/>
                <a:cs typeface="Noto Sans SC"/>
                <a:sym typeface="Noto Sans SC"/>
              </a:rPr>
              <a:t>：</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上传摄像头抓拍图片、设备全量状态快照等大容量数据；支持断点续传，确保数据完整留痕</a:t>
            </a:r>
            <a:r>
              <a:rPr lang="en-US" sz="1100" b="0" i="0" u="none" strike="noStrike" dirty="0">
                <a:solidFill>
                  <a:srgbClr val="4B5563"/>
                </a:solidFill>
                <a:latin typeface="Noto Sans SC"/>
                <a:ea typeface="Noto Sans SC"/>
                <a:cs typeface="Noto Sans SC"/>
                <a:sym typeface="Noto Sans SC"/>
              </a:rPr>
              <a:t>。</a:t>
            </a:r>
          </a:p>
        </p:txBody>
      </p:sp>
      <p:sp>
        <p:nvSpPr>
          <p:cNvPr id="35" name="AutoShape 21">
            <a:extLst>
              <a:ext uri="{FF2B5EF4-FFF2-40B4-BE49-F238E27FC236}">
                <a16:creationId xmlns:a16="http://schemas.microsoft.com/office/drawing/2014/main" id="{5D45C53E-93E8-EEE0-E51E-2FC3D0B918A6}"/>
              </a:ext>
            </a:extLst>
          </p:cNvPr>
          <p:cNvSpPr/>
          <p:nvPr/>
        </p:nvSpPr>
        <p:spPr>
          <a:xfrm>
            <a:off x="762000" y="4699000"/>
            <a:ext cx="3302000" cy="1270000"/>
          </a:xfrm>
          <a:prstGeom prst="roundRect">
            <a:avLst>
              <a:gd name="adj" fmla="val 0"/>
            </a:avLst>
          </a:prstGeom>
          <a:solidFill>
            <a:srgbClr val="FFFFFF">
              <a:alpha val="80000"/>
            </a:srgbClr>
          </a:solidFill>
          <a:ln w="12700" cap="flat" cmpd="sng">
            <a:solidFill>
              <a:srgbClr val="F97316">
                <a:alpha val="15000"/>
              </a:srgbClr>
            </a:solidFill>
            <a:prstDash val="solid"/>
            <a:round/>
          </a:ln>
        </p:spPr>
        <p:txBody>
          <a:bodyPr vert="horz" wrap="square" lIns="0" tIns="0" rIns="0" bIns="0" rtlCol="0" anchor="ctr" anchorCtr="0"/>
          <a:lstStyle/>
          <a:p>
            <a:pPr algn="ctr">
              <a:defRPr/>
            </a:pPr>
            <a:endParaRPr/>
          </a:p>
        </p:txBody>
      </p:sp>
      <p:sp>
        <p:nvSpPr>
          <p:cNvPr id="36" name="AutoShape 22">
            <a:extLst>
              <a:ext uri="{FF2B5EF4-FFF2-40B4-BE49-F238E27FC236}">
                <a16:creationId xmlns:a16="http://schemas.microsoft.com/office/drawing/2014/main" id="{2BE3EE4A-16B8-2579-FDB8-B5A7860B6145}"/>
              </a:ext>
            </a:extLst>
          </p:cNvPr>
          <p:cNvSpPr/>
          <p:nvPr/>
        </p:nvSpPr>
        <p:spPr>
          <a:xfrm>
            <a:off x="889000" y="4800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F97316"/>
                </a:solidFill>
                <a:latin typeface="Noto Sans SC"/>
                <a:ea typeface="Noto Sans SC"/>
                <a:cs typeface="Noto Sans SC"/>
                <a:sym typeface="Noto Sans SC"/>
              </a:rPr>
              <a:t>01 </a:t>
            </a:r>
            <a:r>
              <a:rPr lang="en-US" sz="1500" b="1" i="0" u="none" strike="noStrike" dirty="0" err="1">
                <a:solidFill>
                  <a:srgbClr val="F97316"/>
                </a:solidFill>
                <a:latin typeface="Noto Sans SC"/>
                <a:ea typeface="Noto Sans SC"/>
                <a:cs typeface="Noto Sans SC"/>
                <a:sym typeface="Noto Sans SC"/>
              </a:rPr>
              <a:t>实时控制与状态同步</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MQTT协议承载锁、温湿度等状态数据，实现毫秒级指令下发与属性上报，保障交互实时性</a:t>
            </a:r>
            <a:r>
              <a:rPr lang="en-US" sz="1100" b="0" i="0" u="none" strike="noStrike" dirty="0">
                <a:solidFill>
                  <a:srgbClr val="4B5563"/>
                </a:solidFill>
                <a:latin typeface="Noto Sans SC"/>
                <a:ea typeface="Noto Sans SC"/>
                <a:cs typeface="Noto Sans SC"/>
                <a:sym typeface="Noto Sans SC"/>
              </a:rPr>
              <a:t>。</a:t>
            </a:r>
          </a:p>
        </p:txBody>
      </p:sp>
      <p:sp>
        <p:nvSpPr>
          <p:cNvPr id="37" name="AutoShape 23">
            <a:extLst>
              <a:ext uri="{FF2B5EF4-FFF2-40B4-BE49-F238E27FC236}">
                <a16:creationId xmlns:a16="http://schemas.microsoft.com/office/drawing/2014/main" id="{9C084F08-E0D9-E835-4490-11BBF3F47DC6}"/>
              </a:ext>
            </a:extLst>
          </p:cNvPr>
          <p:cNvSpPr/>
          <p:nvPr/>
        </p:nvSpPr>
        <p:spPr>
          <a:xfrm>
            <a:off x="4445000" y="4699000"/>
            <a:ext cx="3302000" cy="1270000"/>
          </a:xfrm>
          <a:prstGeom prst="roundRect">
            <a:avLst>
              <a:gd name="adj" fmla="val 0"/>
            </a:avLst>
          </a:prstGeom>
          <a:solidFill>
            <a:srgbClr val="FFFFFF">
              <a:alpha val="80000"/>
            </a:srgbClr>
          </a:solidFill>
          <a:ln w="12700" cap="flat" cmpd="sng">
            <a:solidFill>
              <a:srgbClr val="F97316">
                <a:alpha val="15000"/>
              </a:srgbClr>
            </a:solidFill>
            <a:prstDash val="solid"/>
            <a:round/>
          </a:ln>
        </p:spPr>
        <p:txBody>
          <a:bodyPr vert="horz" wrap="square" lIns="0" tIns="0" rIns="0" bIns="0" rtlCol="0" anchor="ctr" anchorCtr="0"/>
          <a:lstStyle/>
          <a:p>
            <a:pPr algn="ctr">
              <a:defRPr/>
            </a:pPr>
            <a:endParaRPr/>
          </a:p>
        </p:txBody>
      </p:sp>
      <p:sp>
        <p:nvSpPr>
          <p:cNvPr id="38" name="AutoShape 24">
            <a:extLst>
              <a:ext uri="{FF2B5EF4-FFF2-40B4-BE49-F238E27FC236}">
                <a16:creationId xmlns:a16="http://schemas.microsoft.com/office/drawing/2014/main" id="{8DC8F77D-77BD-0FB9-0153-5FFD5CBF0ED3}"/>
              </a:ext>
            </a:extLst>
          </p:cNvPr>
          <p:cNvSpPr/>
          <p:nvPr/>
        </p:nvSpPr>
        <p:spPr>
          <a:xfrm>
            <a:off x="4572000" y="48006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F97316"/>
                </a:solidFill>
                <a:latin typeface="Noto Sans SC"/>
                <a:ea typeface="Noto Sans SC"/>
                <a:cs typeface="Noto Sans SC"/>
                <a:sym typeface="Noto Sans SC"/>
              </a:rPr>
              <a:t>02 </a:t>
            </a:r>
            <a:r>
              <a:rPr lang="en-US" sz="1500" b="1" i="0" u="none" strike="noStrike" dirty="0" err="1">
                <a:solidFill>
                  <a:srgbClr val="F97316"/>
                </a:solidFill>
                <a:latin typeface="Noto Sans SC"/>
                <a:ea typeface="Noto Sans SC"/>
                <a:cs typeface="Noto Sans SC"/>
                <a:sym typeface="Noto Sans SC"/>
              </a:rPr>
              <a:t>媒体数据与快照归档</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HTTP协议负责图片、日志等非实时数据传输，确保文件完整上传与云端留痕，便于后续追溯分析</a:t>
            </a:r>
            <a:r>
              <a:rPr lang="en-US" sz="1100" b="0" i="0" u="none" strike="noStrike" dirty="0">
                <a:solidFill>
                  <a:srgbClr val="4B5563"/>
                </a:solidFill>
                <a:latin typeface="Noto Sans SC"/>
                <a:ea typeface="Noto Sans SC"/>
                <a:cs typeface="Noto Sans SC"/>
                <a:sym typeface="Noto Sans SC"/>
              </a:rPr>
              <a:t>。</a:t>
            </a:r>
          </a:p>
        </p:txBody>
      </p:sp>
      <p:sp>
        <p:nvSpPr>
          <p:cNvPr id="39" name="AutoShape 25">
            <a:extLst>
              <a:ext uri="{FF2B5EF4-FFF2-40B4-BE49-F238E27FC236}">
                <a16:creationId xmlns:a16="http://schemas.microsoft.com/office/drawing/2014/main" id="{438FCDCB-1F4F-5865-6A27-12DAB4A72132}"/>
              </a:ext>
            </a:extLst>
          </p:cNvPr>
          <p:cNvSpPr/>
          <p:nvPr/>
        </p:nvSpPr>
        <p:spPr>
          <a:xfrm>
            <a:off x="8128000" y="4699000"/>
            <a:ext cx="3302000" cy="1270000"/>
          </a:xfrm>
          <a:prstGeom prst="roundRect">
            <a:avLst>
              <a:gd name="adj" fmla="val 0"/>
            </a:avLst>
          </a:prstGeom>
          <a:solidFill>
            <a:srgbClr val="FFFFFF">
              <a:alpha val="80000"/>
            </a:srgbClr>
          </a:solidFill>
          <a:ln w="12700" cap="flat" cmpd="sng">
            <a:solidFill>
              <a:srgbClr val="F97316">
                <a:alpha val="15000"/>
              </a:srgbClr>
            </a:solidFill>
            <a:prstDash val="solid"/>
            <a:round/>
          </a:ln>
        </p:spPr>
        <p:txBody>
          <a:bodyPr vert="horz" wrap="square" lIns="0" tIns="0" rIns="0" bIns="0" rtlCol="0" anchor="ctr" anchorCtr="0"/>
          <a:lstStyle/>
          <a:p>
            <a:pPr algn="ctr">
              <a:defRPr/>
            </a:pPr>
            <a:endParaRPr/>
          </a:p>
        </p:txBody>
      </p:sp>
      <p:sp>
        <p:nvSpPr>
          <p:cNvPr id="40" name="AutoShape 26">
            <a:extLst>
              <a:ext uri="{FF2B5EF4-FFF2-40B4-BE49-F238E27FC236}">
                <a16:creationId xmlns:a16="http://schemas.microsoft.com/office/drawing/2014/main" id="{CA5FB87E-94D8-6BAE-7575-1838DFC1592D}"/>
              </a:ext>
            </a:extLst>
          </p:cNvPr>
          <p:cNvSpPr/>
          <p:nvPr/>
        </p:nvSpPr>
        <p:spPr>
          <a:xfrm>
            <a:off x="8255000" y="48006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F97316"/>
                </a:solidFill>
                <a:latin typeface="Noto Sans SC"/>
                <a:ea typeface="Noto Sans SC"/>
                <a:cs typeface="Noto Sans SC"/>
                <a:sym typeface="Noto Sans SC"/>
              </a:rPr>
              <a:t>03 </a:t>
            </a:r>
            <a:r>
              <a:rPr lang="en-US" sz="1500" b="1" i="0" u="none" strike="noStrike" dirty="0" err="1">
                <a:solidFill>
                  <a:srgbClr val="F97316"/>
                </a:solidFill>
                <a:latin typeface="Noto Sans SC"/>
                <a:ea typeface="Noto Sans SC"/>
                <a:cs typeface="Noto Sans SC"/>
                <a:sym typeface="Noto Sans SC"/>
              </a:rPr>
              <a:t>双协议互补协同架构</a:t>
            </a:r>
            <a:endParaRPr lang="en-US" sz="1100" dirty="0"/>
          </a:p>
          <a:p>
            <a:pPr marL="0" indent="0" algn="l">
              <a:lnSpc>
                <a:spcPct val="150000"/>
              </a:lnSpc>
            </a:pPr>
            <a:r>
              <a:rPr lang="en-US" sz="1100" b="0" i="0" u="none" strike="noStrike" dirty="0" err="1">
                <a:solidFill>
                  <a:srgbClr val="4B5563"/>
                </a:solidFill>
                <a:latin typeface="Noto Sans SC"/>
                <a:ea typeface="Noto Sans SC"/>
                <a:cs typeface="Noto Sans SC"/>
                <a:sym typeface="Noto Sans SC"/>
              </a:rPr>
              <a:t>充分发挥MQTT轻量低延迟与HTTP通用可靠的特性，构建高效、稳定的传输体系</a:t>
            </a:r>
            <a:r>
              <a:rPr lang="en-US" sz="1100" b="0" i="0" u="none" strike="noStrike" dirty="0">
                <a:solidFill>
                  <a:srgbClr val="4B5563"/>
                </a:solidFill>
                <a:latin typeface="Noto Sans SC"/>
                <a:ea typeface="Noto Sans SC"/>
                <a:cs typeface="Noto Sans SC"/>
                <a:sym typeface="Noto Sans SC"/>
              </a:rPr>
              <a:t>。</a:t>
            </a:r>
          </a:p>
        </p:txBody>
      </p:sp>
      <p:cxnSp>
        <p:nvCxnSpPr>
          <p:cNvPr id="41" name="Connector 27">
            <a:extLst>
              <a:ext uri="{FF2B5EF4-FFF2-40B4-BE49-F238E27FC236}">
                <a16:creationId xmlns:a16="http://schemas.microsoft.com/office/drawing/2014/main" id="{FDEF64E7-D94B-1B5F-27FD-94C3FB244420}"/>
              </a:ext>
            </a:extLst>
          </p:cNvPr>
          <p:cNvCxnSpPr/>
          <p:nvPr/>
        </p:nvCxnSpPr>
        <p:spPr>
          <a:xfrm rot="5228255">
            <a:off x="9588500" y="4565809"/>
            <a:ext cx="254000" cy="12700"/>
          </a:xfrm>
          <a:prstGeom prst="straightConnector1">
            <a:avLst/>
          </a:prstGeom>
          <a:solidFill>
            <a:srgbClr val="DEE0E3">
              <a:alpha val="100000"/>
            </a:srgbClr>
          </a:solidFill>
          <a:ln w="25400" cap="flat" cmpd="sng">
            <a:solidFill>
              <a:srgbClr val="F97316">
                <a:alpha val="60000"/>
              </a:srgbClr>
            </a:solidFill>
            <a:prstDash val="dash"/>
            <a:round/>
            <a:headEnd type="none" w="lg" len="lg"/>
            <a:tailEnd type="none" w="lg" len="lg"/>
          </a:ln>
        </p:spPr>
      </p:cxnSp>
      <p:cxnSp>
        <p:nvCxnSpPr>
          <p:cNvPr id="42" name="Connector 28">
            <a:extLst>
              <a:ext uri="{FF2B5EF4-FFF2-40B4-BE49-F238E27FC236}">
                <a16:creationId xmlns:a16="http://schemas.microsoft.com/office/drawing/2014/main" id="{BDAAC262-B880-2B4D-66AA-3D6D37B302C7}"/>
              </a:ext>
            </a:extLst>
          </p:cNvPr>
          <p:cNvCxnSpPr/>
          <p:nvPr/>
        </p:nvCxnSpPr>
        <p:spPr>
          <a:xfrm rot="10787937">
            <a:off x="6095989" y="4692650"/>
            <a:ext cx="3619500" cy="12700"/>
          </a:xfrm>
          <a:prstGeom prst="straightConnector1">
            <a:avLst/>
          </a:prstGeom>
          <a:solidFill>
            <a:srgbClr val="DEE0E3">
              <a:alpha val="100000"/>
            </a:srgbClr>
          </a:solidFill>
          <a:ln w="25400" cap="flat" cmpd="sng">
            <a:solidFill>
              <a:srgbClr val="F97316">
                <a:alpha val="60000"/>
              </a:srgbClr>
            </a:solidFill>
            <a:prstDash val="dash"/>
            <a:round/>
            <a:headEnd type="none" w="lg" len="lg"/>
            <a:tailEnd type="none" w="lg" len="lg"/>
          </a:ln>
        </p:spPr>
      </p:cxnSp>
      <p:cxnSp>
        <p:nvCxnSpPr>
          <p:cNvPr id="43" name="Connector 29">
            <a:extLst>
              <a:ext uri="{FF2B5EF4-FFF2-40B4-BE49-F238E27FC236}">
                <a16:creationId xmlns:a16="http://schemas.microsoft.com/office/drawing/2014/main" id="{0E1297D0-EA3F-70B1-488B-380D2FD68754}"/>
              </a:ext>
            </a:extLst>
          </p:cNvPr>
          <p:cNvCxnSpPr/>
          <p:nvPr/>
        </p:nvCxnSpPr>
        <p:spPr>
          <a:xfrm rot="16028256">
            <a:off x="5969000" y="4565491"/>
            <a:ext cx="254000" cy="12700"/>
          </a:xfrm>
          <a:prstGeom prst="straightConnector1">
            <a:avLst/>
          </a:prstGeom>
          <a:solidFill>
            <a:srgbClr val="DEE0E3">
              <a:alpha val="100000"/>
            </a:srgbClr>
          </a:solidFill>
          <a:ln w="25400" cap="flat" cmpd="sng">
            <a:solidFill>
              <a:srgbClr val="F97316">
                <a:alpha val="60000"/>
              </a:srgbClr>
            </a:solidFill>
            <a:prstDash val="dash"/>
            <a:round/>
            <a:headEnd type="none" w="lg" len="lg"/>
            <a:tailEnd type="none" w="lg" len="lg"/>
          </a:ln>
        </p:spPr>
      </p:cxnSp>
      <p:sp>
        <p:nvSpPr>
          <p:cNvPr id="44" name="AutoShape 30">
            <a:extLst>
              <a:ext uri="{FF2B5EF4-FFF2-40B4-BE49-F238E27FC236}">
                <a16:creationId xmlns:a16="http://schemas.microsoft.com/office/drawing/2014/main" id="{268D4A92-5067-E7DC-7360-03E441D8A36B}"/>
              </a:ext>
            </a:extLst>
          </p:cNvPr>
          <p:cNvSpPr/>
          <p:nvPr/>
        </p:nvSpPr>
        <p:spPr>
          <a:xfrm>
            <a:off x="762000" y="6159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F2937"/>
                </a:solidFill>
                <a:latin typeface="Noto Sans SC"/>
                <a:ea typeface="Noto Sans SC"/>
                <a:cs typeface="Noto Sans SC"/>
                <a:sym typeface="Noto Sans SC"/>
              </a:rPr>
              <a:t>小程序端通过华为云 IoTDA REST API 查询设备影子并下发命令，和设备端 MQTT 通道形成云端控制闭环。</a:t>
            </a:r>
            <a:endParaRPr lang="en-US" sz="1100"/>
          </a:p>
        </p:txBody>
      </p:sp>
      <p:pic>
        <p:nvPicPr>
          <p:cNvPr id="2" name="图片 1">
            <a:extLst>
              <a:ext uri="{FF2B5EF4-FFF2-40B4-BE49-F238E27FC236}">
                <a16:creationId xmlns:a16="http://schemas.microsoft.com/office/drawing/2014/main" id="{E439E270-A558-171F-8EC5-635EB5D90A5B}"/>
              </a:ext>
            </a:extLst>
          </p:cNvPr>
          <p:cNvPicPr>
            <a:picLocks noChangeAspect="1"/>
          </p:cNvPicPr>
          <p:nvPr/>
        </p:nvPicPr>
        <p:blipFill>
          <a:blip r:embed="rId5"/>
          <a:stretch>
            <a:fillRect/>
          </a:stretch>
        </p:blipFill>
        <p:spPr>
          <a:xfrm>
            <a:off x="4481772" y="1832529"/>
            <a:ext cx="1348857" cy="9297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1F2937"/>
                </a:solidFill>
                <a:latin typeface="Noto Sans SC"/>
                <a:ea typeface="Noto Sans SC"/>
                <a:cs typeface="Noto Sans SC"/>
                <a:sym typeface="Noto Sans SC"/>
              </a:rPr>
              <a:t>平台层：云端接入、后端服务与数据处理</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F97316">
                <a:alpha val="40000"/>
              </a:srgbClr>
            </a:solidFill>
            <a:prstDash val="solid"/>
            <a:round/>
            <a:headEnd type="none" w="lg" len="lg"/>
            <a:tailEnd type="none" w="lg" len="lg"/>
          </a:ln>
        </p:spPr>
      </p:cxnSp>
      <p:sp>
        <p:nvSpPr>
          <p:cNvPr id="6" name="AutoShape 6"/>
          <p:cNvSpPr/>
          <p:nvPr/>
        </p:nvSpPr>
        <p:spPr>
          <a:xfrm>
            <a:off x="762000" y="3302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华为云 IoTDA</a:t>
            </a:r>
            <a:endParaRPr lang="en-US" sz="1100"/>
          </a:p>
        </p:txBody>
      </p:sp>
      <p:sp>
        <p:nvSpPr>
          <p:cNvPr id="7" name="AutoShape 7"/>
          <p:cNvSpPr/>
          <p:nvPr/>
        </p:nvSpPr>
        <p:spPr>
          <a:xfrm>
            <a:off x="762000" y="3810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设备接入与管理：负责海量设备的安全接入、身份认证和生命周期管理</a:t>
            </a:r>
            <a:r>
              <a:rPr lang="en-US" sz="12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MQTT </a:t>
            </a:r>
            <a:r>
              <a:rPr lang="en-US" sz="1200" b="0" i="0" u="none" strike="noStrike" dirty="0" err="1">
                <a:solidFill>
                  <a:srgbClr val="4B5563"/>
                </a:solidFill>
                <a:latin typeface="Noto Sans SC"/>
                <a:ea typeface="Noto Sans SC"/>
                <a:cs typeface="Noto Sans SC"/>
                <a:sym typeface="Noto Sans SC"/>
              </a:rPr>
              <a:t>消息通信：提供稳定可靠的双向消息通道，用于属性上报和命令下发</a:t>
            </a:r>
            <a:r>
              <a:rPr lang="en-US" sz="1200" b="0" i="0" u="none" strike="noStrike" dirty="0">
                <a:solidFill>
                  <a:srgbClr val="4B5563"/>
                </a:solidFill>
                <a:latin typeface="Noto Sans SC"/>
                <a:ea typeface="Noto Sans SC"/>
                <a:cs typeface="Noto Sans SC"/>
                <a:sym typeface="Noto Sans SC"/>
              </a:rPr>
              <a:t>。</a:t>
            </a:r>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设备影子：缓存设备最后状态，解决离线查询问题</a:t>
            </a:r>
            <a:r>
              <a:rPr lang="en-US" sz="1200" b="0" i="0" u="none" strike="noStrike" dirty="0">
                <a:solidFill>
                  <a:srgbClr val="4B5563"/>
                </a:solidFill>
                <a:latin typeface="Noto Sans SC"/>
                <a:ea typeface="Noto Sans SC"/>
                <a:cs typeface="Noto Sans SC"/>
                <a:sym typeface="Noto Sans SC"/>
              </a:rPr>
              <a:t>。</a:t>
            </a:r>
          </a:p>
        </p:txBody>
      </p:sp>
      <p:sp>
        <p:nvSpPr>
          <p:cNvPr id="9" name="AutoShape 9"/>
          <p:cNvSpPr/>
          <p:nvPr/>
        </p:nvSpPr>
        <p:spPr>
          <a:xfrm>
            <a:off x="4572000" y="3302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后端服务</a:t>
            </a:r>
            <a:endParaRPr lang="en-US" sz="1100"/>
          </a:p>
        </p:txBody>
      </p:sp>
      <p:sp>
        <p:nvSpPr>
          <p:cNvPr id="10" name="AutoShape 10"/>
          <p:cNvSpPr/>
          <p:nvPr/>
        </p:nvSpPr>
        <p:spPr>
          <a:xfrm>
            <a:off x="4572000" y="3810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数据接收与处理：解析HTTP上传的图片、状态快照等非MQTT数据</a:t>
            </a:r>
            <a:r>
              <a:rPr lang="en-US" sz="12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API </a:t>
            </a:r>
            <a:r>
              <a:rPr lang="en-US" sz="1200" b="0" i="0" u="none" strike="noStrike" dirty="0" err="1">
                <a:solidFill>
                  <a:srgbClr val="4B5563"/>
                </a:solidFill>
                <a:latin typeface="Noto Sans SC"/>
                <a:ea typeface="Noto Sans SC"/>
                <a:cs typeface="Noto Sans SC"/>
                <a:sym typeface="Noto Sans SC"/>
              </a:rPr>
              <a:t>接口提供：为Web端和小程序提供统一数据访问接口</a:t>
            </a:r>
            <a:r>
              <a:rPr lang="en-US" sz="1200" b="0" i="0" u="none" strike="noStrike" dirty="0">
                <a:solidFill>
                  <a:srgbClr val="4B5563"/>
                </a:solidFill>
                <a:latin typeface="Noto Sans SC"/>
                <a:ea typeface="Noto Sans SC"/>
                <a:cs typeface="Noto Sans SC"/>
                <a:sym typeface="Noto Sans SC"/>
              </a:rPr>
              <a:t>。</a:t>
            </a:r>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业务逻辑处理：处理报警、权限验证等业务逻辑</a:t>
            </a:r>
            <a:r>
              <a:rPr lang="en-US" sz="1200" b="0" i="0" u="none" strike="noStrike" dirty="0">
                <a:solidFill>
                  <a:srgbClr val="4B5563"/>
                </a:solidFill>
                <a:latin typeface="Noto Sans SC"/>
                <a:ea typeface="Noto Sans SC"/>
                <a:cs typeface="Noto Sans SC"/>
                <a:sym typeface="Noto Sans SC"/>
              </a:rPr>
              <a:t>。</a:t>
            </a:r>
          </a:p>
        </p:txBody>
      </p:sp>
      <p:sp>
        <p:nvSpPr>
          <p:cNvPr id="12" name="AutoShape 12"/>
          <p:cNvSpPr/>
          <p:nvPr/>
        </p:nvSpPr>
        <p:spPr>
          <a:xfrm>
            <a:off x="8382000" y="3302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数据存储</a:t>
            </a:r>
            <a:endParaRPr lang="en-US" sz="1100"/>
          </a:p>
        </p:txBody>
      </p:sp>
      <p:sp>
        <p:nvSpPr>
          <p:cNvPr id="13" name="AutoShape 13"/>
          <p:cNvSpPr/>
          <p:nvPr/>
        </p:nvSpPr>
        <p:spPr>
          <a:xfrm>
            <a:off x="8382000" y="3810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时序数据库：存储设备历史状态，用于趋势分析</a:t>
            </a:r>
            <a:r>
              <a:rPr lang="en-US" sz="12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对象存储：存储摄像头上传的图片文件</a:t>
            </a:r>
            <a:r>
              <a:rPr lang="en-US" sz="1200" b="0" i="0" u="none" strike="noStrike" dirty="0">
                <a:solidFill>
                  <a:srgbClr val="4B5563"/>
                </a:solidFill>
                <a:latin typeface="Noto Sans SC"/>
                <a:ea typeface="Noto Sans SC"/>
                <a:cs typeface="Noto Sans SC"/>
                <a:sym typeface="Noto Sans SC"/>
              </a:rPr>
              <a:t>。</a:t>
            </a:r>
          </a:p>
          <a:p>
            <a:pPr marL="0" indent="0" algn="l">
              <a:lnSpc>
                <a:spcPct val="150000"/>
              </a:lnSpc>
            </a:pP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关系型数据库：存储用户、设备、日志等结构化数据</a:t>
            </a:r>
            <a:r>
              <a:rPr lang="en-US" sz="1200" b="0" i="0" u="none" strike="noStrike" dirty="0">
                <a:solidFill>
                  <a:srgbClr val="4B5563"/>
                </a:solidFill>
                <a:latin typeface="Noto Sans SC"/>
                <a:ea typeface="Noto Sans SC"/>
                <a:cs typeface="Noto Sans SC"/>
                <a:sym typeface="Noto Sans SC"/>
              </a:rPr>
              <a:t>。</a:t>
            </a:r>
          </a:p>
        </p:txBody>
      </p:sp>
      <p:sp>
        <p:nvSpPr>
          <p:cNvPr id="14" name="AutoShape 14"/>
          <p:cNvSpPr/>
          <p:nvPr/>
        </p:nvSpPr>
        <p:spPr>
          <a:xfrm>
            <a:off x="762000" y="5715000"/>
            <a:ext cx="10668000" cy="889000"/>
          </a:xfrm>
          <a:prstGeom prst="roundRect">
            <a:avLst>
              <a:gd name="adj" fmla="val 0"/>
            </a:avLst>
          </a:prstGeom>
          <a:solidFill>
            <a:srgbClr val="F97316">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762000" y="5715000"/>
            <a:ext cx="76200" cy="88900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1016000" y="57785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平台层作为核心枢纽，通过华为云IoTDA实现海量设备的安全接入与管控，后端服务负责数据处理与接口提供，各类数据库则分层存储全量业务数据，三者协同工作，为应用层提供稳定、高效、高价值的能力支撑，赋能业务智能化运营。</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1F2937"/>
                </a:solidFill>
                <a:latin typeface="Noto Sans SC"/>
                <a:ea typeface="Noto Sans SC"/>
                <a:cs typeface="Noto Sans SC"/>
                <a:sym typeface="Noto Sans SC"/>
              </a:rPr>
              <a:t>应用层：Web 看板 + 微信小程序双端管理</a:t>
            </a:r>
            <a:endParaRPr lang="en-US" sz="1100"/>
          </a:p>
        </p:txBody>
      </p:sp>
      <p:sp>
        <p:nvSpPr>
          <p:cNvPr id="4" name="AutoShape 4"/>
          <p:cNvSpPr/>
          <p:nvPr/>
        </p:nvSpPr>
        <p:spPr>
          <a:xfrm>
            <a:off x="762000" y="1778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600" b="0" i="0" u="none" strike="noStrike">
                <a:solidFill>
                  <a:srgbClr val="4B5563"/>
                </a:solidFill>
                <a:latin typeface="Noto Sans SC"/>
                <a:ea typeface="Noto Sans SC"/>
                <a:cs typeface="Noto Sans SC"/>
                <a:sym typeface="Noto Sans SC"/>
              </a:rPr>
              <a:t>Web 端面向综合监控与数据展示，小程序端面向移动查看与快捷控制，两者共同构成用户侧应用层。</a:t>
            </a:r>
            <a:endParaRPr lang="en-US" sz="1100"/>
          </a:p>
        </p:txBody>
      </p:sp>
      <p:sp>
        <p:nvSpPr>
          <p:cNvPr id="5" name="AutoShape 5"/>
          <p:cNvSpPr/>
          <p:nvPr/>
        </p:nvSpPr>
        <p:spPr>
          <a:xfrm>
            <a:off x="762000" y="2794000"/>
            <a:ext cx="4699000" cy="3683000"/>
          </a:xfrm>
          <a:prstGeom prst="roundRect">
            <a:avLst>
              <a:gd name="adj" fmla="val 4137"/>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6" name="AutoShape 6"/>
          <p:cNvSpPr/>
          <p:nvPr/>
        </p:nvSpPr>
        <p:spPr>
          <a:xfrm>
            <a:off x="1016000" y="30480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a:ea typeface="Noto Sans SC"/>
                <a:cs typeface="Noto Sans SC"/>
                <a:sym typeface="Noto Sans SC"/>
              </a:rPr>
              <a:t>Web 看板适合</a:t>
            </a:r>
            <a:endParaRPr lang="en-US" sz="1100"/>
          </a:p>
        </p:txBody>
      </p:sp>
      <p:sp>
        <p:nvSpPr>
          <p:cNvPr id="7" name="AutoShape 7"/>
          <p:cNvSpPr/>
          <p:nvPr/>
        </p:nvSpPr>
        <p:spPr>
          <a:xfrm>
            <a:off x="1016000" y="3683000"/>
            <a:ext cx="4191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大屏展示设备状态</a:t>
            </a:r>
            <a:endParaRPr lang="en-US" sz="1100" dirty="0"/>
          </a:p>
          <a:p>
            <a:pPr marL="0" indent="0" algn="l">
              <a:lnSpc>
                <a:spcPct val="125000"/>
              </a:lnSpc>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查看趋势图和历史记录</a:t>
            </a:r>
            <a:endParaRPr lang="en-US" sz="1300" b="0" i="0" u="none" strike="noStrike" dirty="0">
              <a:solidFill>
                <a:srgbClr val="374151"/>
              </a:solidFill>
              <a:latin typeface="Noto Sans SC"/>
              <a:ea typeface="Noto Sans SC"/>
              <a:cs typeface="Noto Sans SC"/>
              <a:sym typeface="Noto Sans SC"/>
            </a:endParaRPr>
          </a:p>
          <a:p>
            <a:pPr marL="0" indent="0" algn="l">
              <a:lnSpc>
                <a:spcPct val="125000"/>
              </a:lnSpc>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查看摄像头最新画面与报警抓拍</a:t>
            </a:r>
            <a:endParaRPr lang="en-US" sz="1300" b="0" i="0" u="none" strike="noStrike" dirty="0">
              <a:solidFill>
                <a:srgbClr val="374151"/>
              </a:solidFill>
              <a:latin typeface="Noto Sans SC"/>
              <a:ea typeface="Noto Sans SC"/>
              <a:cs typeface="Noto Sans SC"/>
              <a:sym typeface="Noto Sans SC"/>
            </a:endParaRPr>
          </a:p>
          <a:p>
            <a:pPr marL="0" indent="0" algn="l">
              <a:lnSpc>
                <a:spcPct val="125000"/>
              </a:lnSpc>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查看</a:t>
            </a:r>
            <a:r>
              <a:rPr lang="en-US" sz="1300" b="0" i="0" u="none" strike="noStrike" dirty="0">
                <a:solidFill>
                  <a:srgbClr val="374151"/>
                </a:solidFill>
                <a:latin typeface="Noto Sans SC"/>
                <a:ea typeface="Noto Sans SC"/>
                <a:cs typeface="Noto Sans SC"/>
                <a:sym typeface="Noto Sans SC"/>
              </a:rPr>
              <a:t> AI </a:t>
            </a:r>
            <a:r>
              <a:rPr lang="en-US" sz="1300" b="0" i="0" u="none" strike="noStrike" dirty="0" err="1">
                <a:solidFill>
                  <a:srgbClr val="374151"/>
                </a:solidFill>
                <a:latin typeface="Noto Sans SC"/>
                <a:ea typeface="Noto Sans SC"/>
                <a:cs typeface="Noto Sans SC"/>
                <a:sym typeface="Noto Sans SC"/>
              </a:rPr>
              <a:t>风险分析结果</a:t>
            </a:r>
            <a:endParaRPr lang="en-US" sz="1300" b="0" i="0" u="none" strike="noStrike" dirty="0">
              <a:solidFill>
                <a:srgbClr val="374151"/>
              </a:solidFill>
              <a:latin typeface="Noto Sans SC"/>
              <a:ea typeface="Noto Sans SC"/>
              <a:cs typeface="Noto Sans SC"/>
              <a:sym typeface="Noto Sans SC"/>
            </a:endParaRPr>
          </a:p>
          <a:p>
            <a:pPr marL="0" indent="0" algn="l">
              <a:lnSpc>
                <a:spcPct val="125000"/>
              </a:lnSpc>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进行综合管理和调试</a:t>
            </a:r>
            <a:endParaRPr lang="en-US" sz="1300" b="0" i="0" u="none" strike="noStrike" dirty="0">
              <a:solidFill>
                <a:srgbClr val="374151"/>
              </a:solidFill>
              <a:latin typeface="Noto Sans SC"/>
              <a:ea typeface="Noto Sans SC"/>
              <a:cs typeface="Noto Sans SC"/>
              <a:sym typeface="Noto Sans SC"/>
            </a:endParaRPr>
          </a:p>
        </p:txBody>
      </p:sp>
      <p:sp>
        <p:nvSpPr>
          <p:cNvPr id="8" name="AutoShape 8"/>
          <p:cNvSpPr/>
          <p:nvPr/>
        </p:nvSpPr>
        <p:spPr>
          <a:xfrm>
            <a:off x="6731000" y="2794000"/>
            <a:ext cx="4699000" cy="3683000"/>
          </a:xfrm>
          <a:prstGeom prst="roundRect">
            <a:avLst>
              <a:gd name="adj" fmla="val 4137"/>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6985000" y="30480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a:ea typeface="Noto Sans SC"/>
                <a:cs typeface="Noto Sans SC"/>
                <a:sym typeface="Noto Sans SC"/>
              </a:rPr>
              <a:t>微信小程序适合</a:t>
            </a:r>
            <a:endParaRPr lang="en-US" sz="1100"/>
          </a:p>
        </p:txBody>
      </p:sp>
      <p:sp>
        <p:nvSpPr>
          <p:cNvPr id="10" name="AutoShape 10"/>
          <p:cNvSpPr/>
          <p:nvPr/>
        </p:nvSpPr>
        <p:spPr>
          <a:xfrm>
            <a:off x="6985000" y="3683000"/>
            <a:ext cx="4191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 手机端随时查看状态</a:t>
            </a:r>
            <a:endParaRPr lang="en-US" sz="1100"/>
          </a:p>
          <a:p>
            <a:pPr marL="0" indent="0" algn="l">
              <a:lnSpc>
                <a:spcPct val="125000"/>
              </a:lnSpc>
            </a:pPr>
            <a:r>
              <a:rPr lang="en-US" sz="1300" b="0" i="0" u="none" strike="noStrike">
                <a:solidFill>
                  <a:srgbClr val="374151"/>
                </a:solidFill>
                <a:latin typeface="Noto Sans SC"/>
                <a:ea typeface="Noto Sans SC"/>
                <a:cs typeface="Noto Sans SC"/>
                <a:sym typeface="Noto Sans SC"/>
              </a:rPr>
              <a:t>• 快速下发开锁 / 上锁命令</a:t>
            </a:r>
          </a:p>
          <a:p>
            <a:pPr marL="0" indent="0" algn="l">
              <a:lnSpc>
                <a:spcPct val="125000"/>
              </a:lnSpc>
            </a:pPr>
            <a:r>
              <a:rPr lang="en-US" sz="1300" b="0" i="0" u="none" strike="noStrike">
                <a:solidFill>
                  <a:srgbClr val="374151"/>
                </a:solidFill>
                <a:latin typeface="Noto Sans SC"/>
                <a:ea typeface="Noto Sans SC"/>
                <a:cs typeface="Noto Sans SC"/>
                <a:sym typeface="Noto Sans SC"/>
              </a:rPr>
              <a:t>• 查询设备影子数据</a:t>
            </a:r>
          </a:p>
          <a:p>
            <a:pPr marL="0" indent="0" algn="l">
              <a:lnSpc>
                <a:spcPct val="125000"/>
              </a:lnSpc>
            </a:pPr>
            <a:r>
              <a:rPr lang="en-US" sz="1300" b="0" i="0" u="none" strike="noStrike">
                <a:solidFill>
                  <a:srgbClr val="374151"/>
                </a:solidFill>
                <a:latin typeface="Noto Sans SC"/>
                <a:ea typeface="Noto Sans SC"/>
                <a:cs typeface="Noto Sans SC"/>
                <a:sym typeface="Noto Sans SC"/>
              </a:rPr>
              <a:t>• 云端权限诊断</a:t>
            </a:r>
          </a:p>
          <a:p>
            <a:pPr marL="0" indent="0" algn="l">
              <a:lnSpc>
                <a:spcPct val="125000"/>
              </a:lnSpc>
            </a:pPr>
            <a:r>
              <a:rPr lang="en-US" sz="1300" b="0" i="0" u="none" strike="noStrike">
                <a:solidFill>
                  <a:srgbClr val="374151"/>
                </a:solidFill>
                <a:latin typeface="Noto Sans SC"/>
                <a:ea typeface="Noto Sans SC"/>
                <a:cs typeface="Noto Sans SC"/>
                <a:sym typeface="Noto Sans SC"/>
              </a:rPr>
              <a:t>• 现场演示和移动端管理</a:t>
            </a:r>
          </a:p>
        </p:txBody>
      </p:sp>
      <p:sp>
        <p:nvSpPr>
          <p:cNvPr id="11" name="AutoShape 11"/>
          <p:cNvSpPr/>
          <p:nvPr/>
        </p:nvSpPr>
        <p:spPr>
          <a:xfrm>
            <a:off x="5588000" y="4381500"/>
            <a:ext cx="101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a:solidFill>
                  <a:srgbClr val="6B7280"/>
                </a:solidFill>
                <a:latin typeface="Noto Sans SC"/>
                <a:ea typeface="Noto Sans SC"/>
                <a:cs typeface="Noto Sans SC"/>
                <a:sym typeface="Noto Sans SC"/>
              </a:rPr>
              <a:t>同一设备数据</a:t>
            </a:r>
            <a:endParaRPr lang="en-US" sz="1100"/>
          </a:p>
          <a:p>
            <a:pPr marL="0" indent="0" algn="ctr">
              <a:lnSpc>
                <a:spcPct val="108333"/>
              </a:lnSpc>
            </a:pPr>
            <a:r>
              <a:rPr lang="en-US" sz="1300" b="0" i="0" u="none" strike="noStrike">
                <a:solidFill>
                  <a:srgbClr val="6B7280"/>
                </a:solidFill>
                <a:latin typeface="Noto Sans SC"/>
                <a:ea typeface="Noto Sans SC"/>
                <a:cs typeface="Noto Sans SC"/>
                <a:sym typeface="Noto Sans SC"/>
              </a:rPr>
              <a:t>多端统一管理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Web 看板：综合监控与可视化管理中心</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dirty="0">
                <a:solidFill>
                  <a:srgbClr val="4B5563"/>
                </a:solidFill>
                <a:latin typeface="Noto Sans SC"/>
                <a:ea typeface="Noto Sans SC"/>
                <a:cs typeface="Noto Sans SC"/>
                <a:sym typeface="Noto Sans SC"/>
              </a:rPr>
              <a:t>          Web </a:t>
            </a:r>
            <a:r>
              <a:rPr lang="en-US" sz="1600" b="0" i="0" u="none" strike="noStrike" dirty="0" err="1">
                <a:solidFill>
                  <a:srgbClr val="4B5563"/>
                </a:solidFill>
                <a:latin typeface="Noto Sans SC"/>
                <a:ea typeface="Noto Sans SC"/>
                <a:cs typeface="Noto Sans SC"/>
                <a:sym typeface="Noto Sans SC"/>
              </a:rPr>
              <a:t>看板负责把设备端上报的状态、图片、报警记录和</a:t>
            </a:r>
            <a:r>
              <a:rPr lang="en-US" sz="1600" b="0" i="0" u="none" strike="noStrike" dirty="0">
                <a:solidFill>
                  <a:srgbClr val="4B5563"/>
                </a:solidFill>
                <a:latin typeface="Noto Sans SC"/>
                <a:ea typeface="Noto Sans SC"/>
                <a:cs typeface="Noto Sans SC"/>
                <a:sym typeface="Noto Sans SC"/>
              </a:rPr>
              <a:t> AI </a:t>
            </a:r>
            <a:r>
              <a:rPr lang="en-US" sz="1600" b="0" i="0" u="none" strike="noStrike" dirty="0" err="1">
                <a:solidFill>
                  <a:srgbClr val="4B5563"/>
                </a:solidFill>
                <a:latin typeface="Noto Sans SC"/>
                <a:ea typeface="Noto Sans SC"/>
                <a:cs typeface="Noto Sans SC"/>
                <a:sym typeface="Noto Sans SC"/>
              </a:rPr>
              <a:t>分析结果转化为直观的可视化界面，将零散数据整合为全景视图，适合管理端进行</a:t>
            </a:r>
            <a:r>
              <a:rPr lang="en-US" sz="1600" b="0" i="0" u="none" strike="noStrike" dirty="0">
                <a:solidFill>
                  <a:srgbClr val="4B5563"/>
                </a:solidFill>
                <a:latin typeface="Noto Sans SC"/>
                <a:ea typeface="Noto Sans SC"/>
                <a:cs typeface="Noto Sans SC"/>
                <a:sym typeface="Noto Sans SC"/>
              </a:rPr>
              <a:t> 7×24 </a:t>
            </a:r>
            <a:r>
              <a:rPr lang="en-US" sz="1600" b="0" i="0" u="none" strike="noStrike" dirty="0" err="1">
                <a:solidFill>
                  <a:srgbClr val="4B5563"/>
                </a:solidFill>
                <a:latin typeface="Noto Sans SC"/>
                <a:ea typeface="Noto Sans SC"/>
                <a:cs typeface="Noto Sans SC"/>
                <a:sym typeface="Noto Sans SC"/>
              </a:rPr>
              <a:t>小时的长期、高效监控</a:t>
            </a:r>
            <a:r>
              <a:rPr lang="en-US" sz="1600" b="0" i="0" u="none" strike="noStrike" dirty="0">
                <a:solidFill>
                  <a:srgbClr val="4B5563"/>
                </a:solidFill>
                <a:latin typeface="Noto Sans SC"/>
                <a:ea typeface="Noto Sans SC"/>
                <a:cs typeface="Noto Sans SC"/>
                <a:sym typeface="Noto Sans SC"/>
              </a:rPr>
              <a:t>。</a:t>
            </a:r>
            <a:endParaRPr lang="en-US" sz="1100" dirty="0"/>
          </a:p>
        </p:txBody>
      </p:sp>
      <p:sp>
        <p:nvSpPr>
          <p:cNvPr id="5" name="AutoShape 5"/>
          <p:cNvSpPr/>
          <p:nvPr/>
        </p:nvSpPr>
        <p:spPr>
          <a:xfrm>
            <a:off x="762000" y="2540000"/>
            <a:ext cx="3111500" cy="1841500"/>
          </a:xfrm>
          <a:prstGeom prst="roundRect">
            <a:avLst>
              <a:gd name="adj" fmla="val 0"/>
            </a:avLst>
          </a:prstGeom>
          <a:solidFill>
            <a:srgbClr val="FFFFFF">
              <a:alpha val="8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692400"/>
            <a:ext cx="304800" cy="304800"/>
          </a:xfrm>
          <a:prstGeom prst="rect">
            <a:avLst/>
          </a:prstGeom>
        </p:spPr>
      </p:pic>
      <p:sp>
        <p:nvSpPr>
          <p:cNvPr id="8" name="AutoShape 8"/>
          <p:cNvSpPr/>
          <p:nvPr/>
        </p:nvSpPr>
        <p:spPr>
          <a:xfrm>
            <a:off x="1397000" y="2667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实时状态全景展示</a:t>
            </a:r>
            <a:endParaRPr lang="en-US" sz="1100"/>
          </a:p>
        </p:txBody>
      </p:sp>
      <p:cxnSp>
        <p:nvCxnSpPr>
          <p:cNvPr id="9" name="Connector 9"/>
          <p:cNvCxnSpPr/>
          <p:nvPr/>
        </p:nvCxnSpPr>
        <p:spPr>
          <a:xfrm rot="-15989">
            <a:off x="952515" y="3168650"/>
            <a:ext cx="2730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952500" y="33020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实时汇聚设备在线、门锁开闭、温湿度、MQ2气体及SW180震动状态，同步更新最新刷卡记录，实现关键数据的即时可视。</a:t>
            </a:r>
            <a:endParaRPr lang="en-US" sz="1100" dirty="0"/>
          </a:p>
        </p:txBody>
      </p:sp>
      <p:sp>
        <p:nvSpPr>
          <p:cNvPr id="11" name="AutoShape 11"/>
          <p:cNvSpPr/>
          <p:nvPr/>
        </p:nvSpPr>
        <p:spPr>
          <a:xfrm>
            <a:off x="4127500" y="2540000"/>
            <a:ext cx="3111500" cy="1841500"/>
          </a:xfrm>
          <a:prstGeom prst="roundRect">
            <a:avLst>
              <a:gd name="adj" fmla="val 0"/>
            </a:avLst>
          </a:prstGeom>
          <a:solidFill>
            <a:srgbClr val="FFFFFF">
              <a:alpha val="8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127500" y="2540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18000" y="2692400"/>
            <a:ext cx="304800" cy="304800"/>
          </a:xfrm>
          <a:prstGeom prst="rect">
            <a:avLst/>
          </a:prstGeom>
        </p:spPr>
      </p:pic>
      <p:sp>
        <p:nvSpPr>
          <p:cNvPr id="14" name="AutoShape 14"/>
          <p:cNvSpPr/>
          <p:nvPr/>
        </p:nvSpPr>
        <p:spPr>
          <a:xfrm>
            <a:off x="4762500" y="2667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图像监控与报警追溯</a:t>
            </a:r>
            <a:endParaRPr lang="en-US" sz="1100"/>
          </a:p>
        </p:txBody>
      </p:sp>
      <p:cxnSp>
        <p:nvCxnSpPr>
          <p:cNvPr id="15" name="Connector 15"/>
          <p:cNvCxnSpPr/>
          <p:nvPr/>
        </p:nvCxnSpPr>
        <p:spPr>
          <a:xfrm rot="-15989">
            <a:off x="4318015" y="3168650"/>
            <a:ext cx="2730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6" name="AutoShape 16"/>
          <p:cNvSpPr/>
          <p:nvPr/>
        </p:nvSpPr>
        <p:spPr>
          <a:xfrm>
            <a:off x="4318000" y="33020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Noto Sans SC"/>
                <a:ea typeface="Noto Sans SC"/>
                <a:cs typeface="Noto Sans SC"/>
                <a:sym typeface="Noto Sans SC"/>
              </a:rPr>
              <a:t>实时调取摄像头画面，自动留存报警抓拍图片，清晰标注报警时间与类型，支持异常事件的完整轨迹与证据链追溯</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17" name="AutoShape 17"/>
          <p:cNvSpPr/>
          <p:nvPr/>
        </p:nvSpPr>
        <p:spPr>
          <a:xfrm>
            <a:off x="762000" y="4572000"/>
            <a:ext cx="3111500" cy="1841500"/>
          </a:xfrm>
          <a:prstGeom prst="roundRect">
            <a:avLst>
              <a:gd name="adj" fmla="val 0"/>
            </a:avLst>
          </a:prstGeom>
          <a:solidFill>
            <a:srgbClr val="FFFFFF">
              <a:alpha val="8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4572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724400"/>
            <a:ext cx="304800" cy="304800"/>
          </a:xfrm>
          <a:prstGeom prst="rect">
            <a:avLst/>
          </a:prstGeom>
        </p:spPr>
      </p:pic>
      <p:sp>
        <p:nvSpPr>
          <p:cNvPr id="20" name="AutoShape 20"/>
          <p:cNvSpPr/>
          <p:nvPr/>
        </p:nvSpPr>
        <p:spPr>
          <a:xfrm>
            <a:off x="1397000" y="4699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多维数据分析与预测</a:t>
            </a:r>
            <a:endParaRPr lang="en-US" sz="1100"/>
          </a:p>
        </p:txBody>
      </p:sp>
      <p:cxnSp>
        <p:nvCxnSpPr>
          <p:cNvPr id="21" name="Connector 21"/>
          <p:cNvCxnSpPr/>
          <p:nvPr/>
        </p:nvCxnSpPr>
        <p:spPr>
          <a:xfrm rot="-15989">
            <a:off x="952515" y="5200650"/>
            <a:ext cx="2730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2" name="AutoShape 22"/>
          <p:cNvSpPr/>
          <p:nvPr/>
        </p:nvSpPr>
        <p:spPr>
          <a:xfrm>
            <a:off x="952499" y="5334000"/>
            <a:ext cx="2846249"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Noto Sans SC"/>
                <a:ea typeface="Noto Sans SC"/>
                <a:cs typeface="Noto Sans SC"/>
                <a:sym typeface="Noto Sans SC"/>
              </a:rPr>
              <a:t>深度挖掘设备历史运行数据，分析状态变化趋势与异常开锁规律，结合AI算法输出灾情风险预测，辅助管理决策</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23" name="AutoShape 23"/>
          <p:cNvSpPr/>
          <p:nvPr/>
        </p:nvSpPr>
        <p:spPr>
          <a:xfrm>
            <a:off x="4127500" y="4572000"/>
            <a:ext cx="3111500" cy="1841500"/>
          </a:xfrm>
          <a:prstGeom prst="roundRect">
            <a:avLst>
              <a:gd name="adj" fmla="val 0"/>
            </a:avLst>
          </a:prstGeom>
          <a:solidFill>
            <a:srgbClr val="FFFFFF">
              <a:alpha val="85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4127500" y="4572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18000" y="4724400"/>
            <a:ext cx="304800" cy="304800"/>
          </a:xfrm>
          <a:prstGeom prst="rect">
            <a:avLst/>
          </a:prstGeom>
        </p:spPr>
      </p:pic>
      <p:sp>
        <p:nvSpPr>
          <p:cNvPr id="26" name="AutoShape 26"/>
          <p:cNvSpPr/>
          <p:nvPr/>
        </p:nvSpPr>
        <p:spPr>
          <a:xfrm>
            <a:off x="4762500" y="4699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便捷的远程指令管控</a:t>
            </a:r>
            <a:endParaRPr lang="en-US" sz="1100"/>
          </a:p>
        </p:txBody>
      </p:sp>
      <p:cxnSp>
        <p:nvCxnSpPr>
          <p:cNvPr id="27" name="Connector 27"/>
          <p:cNvCxnSpPr/>
          <p:nvPr/>
        </p:nvCxnSpPr>
        <p:spPr>
          <a:xfrm rot="-15989">
            <a:off x="4318015" y="5200650"/>
            <a:ext cx="2730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8" name="AutoShape 28"/>
          <p:cNvSpPr/>
          <p:nvPr/>
        </p:nvSpPr>
        <p:spPr>
          <a:xfrm>
            <a:off x="4317999" y="5334000"/>
            <a:ext cx="2857499"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Noto Sans SC"/>
                <a:ea typeface="Noto Sans SC"/>
                <a:cs typeface="Noto Sans SC"/>
                <a:sym typeface="Noto Sans SC"/>
              </a:rPr>
              <a:t>支持远程下发开锁</a:t>
            </a:r>
            <a:r>
              <a:rPr 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上锁命令，紧急情况可一键触发蜂鸣器报警，并实时同步云端设备状态，实现高效远程运维</a:t>
            </a:r>
            <a:r>
              <a:rPr lang="en-US" sz="1300" b="0" i="0" u="none" strike="noStrike" dirty="0">
                <a:solidFill>
                  <a:srgbClr val="4B5563"/>
                </a:solidFill>
                <a:latin typeface="Noto Sans SC"/>
                <a:ea typeface="Noto Sans SC"/>
                <a:cs typeface="Noto Sans SC"/>
                <a:sym typeface="Noto Sans SC"/>
              </a:rPr>
              <a:t>。</a:t>
            </a:r>
            <a:endParaRPr lang="en-US" sz="1100" dirty="0"/>
          </a:p>
        </p:txBody>
      </p:sp>
      <p:cxnSp>
        <p:nvCxnSpPr>
          <p:cNvPr id="29" name="Connector 29"/>
          <p:cNvCxnSpPr/>
          <p:nvPr/>
        </p:nvCxnSpPr>
        <p:spPr>
          <a:xfrm rot="5388728">
            <a:off x="5556250" y="4470410"/>
            <a:ext cx="3873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31" name="AutoShape 31"/>
          <p:cNvSpPr/>
          <p:nvPr/>
        </p:nvSpPr>
        <p:spPr>
          <a:xfrm>
            <a:off x="7747000" y="5524500"/>
            <a:ext cx="3683000" cy="889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7874000" y="56134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可视化的数据仪表盘界面，以图表、列表、卡片等多种形式呈现信息，界面简洁直观，降低监控人员的操作与认知成本</a:t>
            </a:r>
            <a:r>
              <a:rPr lang="en-US" sz="1300" b="0" i="0" u="none" strike="noStrike" dirty="0">
                <a:solidFill>
                  <a:srgbClr val="374151"/>
                </a:solidFill>
                <a:latin typeface="Noto Sans SC"/>
                <a:ea typeface="Noto Sans SC"/>
                <a:cs typeface="Noto Sans SC"/>
                <a:sym typeface="Noto Sans SC"/>
              </a:rPr>
              <a: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AutoShape 2">
            <a:extLst>
              <a:ext uri="{FF2B5EF4-FFF2-40B4-BE49-F238E27FC236}">
                <a16:creationId xmlns:a16="http://schemas.microsoft.com/office/drawing/2014/main" id="{DC231BD1-910F-70C2-4A34-05D45D8A1FFE}"/>
              </a:ext>
            </a:extLst>
          </p:cNvPr>
          <p:cNvSpPr/>
          <p:nvPr/>
        </p:nvSpPr>
        <p:spPr>
          <a:xfrm>
            <a:off x="0" y="-1270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 name="AutoShape 31">
            <a:extLst>
              <a:ext uri="{FF2B5EF4-FFF2-40B4-BE49-F238E27FC236}">
                <a16:creationId xmlns:a16="http://schemas.microsoft.com/office/drawing/2014/main" id="{28BD2FF2-D89A-24D2-8B1E-77FF6E60559A}"/>
              </a:ext>
            </a:extLst>
          </p:cNvPr>
          <p:cNvSpPr/>
          <p:nvPr/>
        </p:nvSpPr>
        <p:spPr>
          <a:xfrm>
            <a:off x="7366000" y="5524500"/>
            <a:ext cx="3873500" cy="889000"/>
          </a:xfrm>
          <a:prstGeom prst="roundRect">
            <a:avLst>
              <a:gd name="adj" fmla="val 0"/>
            </a:avLst>
          </a:prstGeom>
          <a:solidFill>
            <a:schemeClr val="accent2">
              <a:lumMod val="75000"/>
              <a:alpha val="8000"/>
            </a:scheme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3">
            <a:extLst>
              <a:ext uri="{FF2B5EF4-FFF2-40B4-BE49-F238E27FC236}">
                <a16:creationId xmlns:a16="http://schemas.microsoft.com/office/drawing/2014/main" id="{07E8BBFA-F012-AE25-A782-2599DF69F2A3}"/>
              </a:ext>
            </a:extLst>
          </p:cNvPr>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微信小程序：移动端设备监控与控制入口</a:t>
            </a:r>
            <a:endParaRPr lang="en-US" sz="1100"/>
          </a:p>
        </p:txBody>
      </p:sp>
      <p:sp>
        <p:nvSpPr>
          <p:cNvPr id="12" name="AutoShape 4">
            <a:extLst>
              <a:ext uri="{FF2B5EF4-FFF2-40B4-BE49-F238E27FC236}">
                <a16:creationId xmlns:a16="http://schemas.microsoft.com/office/drawing/2014/main" id="{90A53989-D7BB-5859-80E0-E41DB9E5958D}"/>
              </a:ext>
            </a:extLst>
          </p:cNvPr>
          <p:cNvSpPr/>
          <p:nvPr/>
        </p:nvSpPr>
        <p:spPr>
          <a:xfrm>
            <a:off x="762000" y="1524000"/>
            <a:ext cx="5842000" cy="1016000"/>
          </a:xfrm>
          <a:prstGeom prst="roundRect">
            <a:avLst>
              <a:gd name="adj" fmla="val 0"/>
            </a:avLst>
          </a:prstGeom>
          <a:solidFill>
            <a:srgbClr val="F97316">
              <a:alpha val="8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endParaRPr/>
          </a:p>
        </p:txBody>
      </p:sp>
      <p:sp>
        <p:nvSpPr>
          <p:cNvPr id="13" name="AutoShape 5">
            <a:extLst>
              <a:ext uri="{FF2B5EF4-FFF2-40B4-BE49-F238E27FC236}">
                <a16:creationId xmlns:a16="http://schemas.microsoft.com/office/drawing/2014/main" id="{44DF9A20-A26B-9BD5-E3E6-7334F3FEACD1}"/>
              </a:ext>
            </a:extLst>
          </p:cNvPr>
          <p:cNvSpPr/>
          <p:nvPr/>
        </p:nvSpPr>
        <p:spPr>
          <a:xfrm>
            <a:off x="762000" y="1524000"/>
            <a:ext cx="76200" cy="1016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6">
            <a:extLst>
              <a:ext uri="{FF2B5EF4-FFF2-40B4-BE49-F238E27FC236}">
                <a16:creationId xmlns:a16="http://schemas.microsoft.com/office/drawing/2014/main" id="{7A53E9D3-FF50-271D-F270-B88FB08A23AB}"/>
              </a:ext>
            </a:extLst>
          </p:cNvPr>
          <p:cNvSpPr/>
          <p:nvPr/>
        </p:nvSpPr>
        <p:spPr>
          <a:xfrm>
            <a:off x="1016000" y="1625600"/>
            <a:ext cx="5334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小程序核心页面位于</a:t>
            </a:r>
            <a:r>
              <a:rPr lang="en-US" sz="1400" b="1" i="0" u="none" strike="noStrike">
                <a:solidFill>
                  <a:srgbClr val="F97316"/>
                </a:solidFill>
                <a:latin typeface="Noto Sans SC"/>
                <a:ea typeface="Noto Sans SC"/>
                <a:cs typeface="Noto Sans SC"/>
                <a:sym typeface="Noto Sans SC"/>
              </a:rPr>
              <a:t>weixin/pages/connect</a:t>
            </a:r>
            <a:r>
              <a:rPr lang="en-US" sz="1400" b="0" i="0" u="none" strike="noStrike">
                <a:solidFill>
                  <a:srgbClr val="374151"/>
                </a:solidFill>
                <a:latin typeface="Noto Sans SC"/>
                <a:ea typeface="Noto Sans SC"/>
                <a:cs typeface="Noto Sans SC"/>
                <a:sym typeface="Noto Sans SC"/>
              </a:rPr>
              <a:t>，在</a:t>
            </a:r>
            <a:r>
              <a:rPr lang="en-US" sz="1400" b="1" i="0" u="none" strike="noStrike">
                <a:solidFill>
                  <a:srgbClr val="374151"/>
                </a:solidFill>
                <a:latin typeface="Noto Sans SC"/>
                <a:ea typeface="Noto Sans SC"/>
                <a:cs typeface="Noto Sans SC"/>
                <a:sym typeface="Noto Sans SC"/>
              </a:rPr>
              <a:t>app.json</a:t>
            </a:r>
            <a:r>
              <a:rPr lang="en-US" sz="1400" b="0" i="0" u="none" strike="noStrike">
                <a:solidFill>
                  <a:srgbClr val="374151"/>
                </a:solidFill>
                <a:latin typeface="Noto Sans SC"/>
                <a:ea typeface="Noto Sans SC"/>
                <a:cs typeface="Noto Sans SC"/>
                <a:sym typeface="Noto Sans SC"/>
              </a:rPr>
              <a:t>中注册入口为</a:t>
            </a:r>
            <a:r>
              <a:rPr lang="en-US" sz="1400" b="1" i="0" u="none" strike="noStrike">
                <a:solidFill>
                  <a:srgbClr val="374151"/>
                </a:solidFill>
                <a:latin typeface="Noto Sans SC"/>
                <a:ea typeface="Noto Sans SC"/>
                <a:cs typeface="Noto Sans SC"/>
                <a:sym typeface="Noto Sans SC"/>
              </a:rPr>
              <a:t>pages/connect/connect</a:t>
            </a:r>
            <a:r>
              <a:rPr lang="en-US" sz="1400" b="0" i="0" u="none" strike="noStrike">
                <a:solidFill>
                  <a:srgbClr val="374151"/>
                </a:solidFill>
                <a:latin typeface="Noto Sans SC"/>
                <a:ea typeface="Noto Sans SC"/>
                <a:cs typeface="Noto Sans SC"/>
                <a:sym typeface="Noto Sans SC"/>
              </a:rPr>
              <a:t>，是移动端访问华为云 IoTDA 服务的统一入口。</a:t>
            </a:r>
            <a:endParaRPr lang="en-US" sz="1100"/>
          </a:p>
        </p:txBody>
      </p:sp>
      <p:sp>
        <p:nvSpPr>
          <p:cNvPr id="15" name="AutoShape 7">
            <a:extLst>
              <a:ext uri="{FF2B5EF4-FFF2-40B4-BE49-F238E27FC236}">
                <a16:creationId xmlns:a16="http://schemas.microsoft.com/office/drawing/2014/main" id="{3E8FBA3F-34AE-2719-0698-B5F6F7DFB370}"/>
              </a:ext>
            </a:extLst>
          </p:cNvPr>
          <p:cNvSpPr/>
          <p:nvPr/>
        </p:nvSpPr>
        <p:spPr>
          <a:xfrm>
            <a:off x="762000" y="2921000"/>
            <a:ext cx="2857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8">
            <a:extLst>
              <a:ext uri="{FF2B5EF4-FFF2-40B4-BE49-F238E27FC236}">
                <a16:creationId xmlns:a16="http://schemas.microsoft.com/office/drawing/2014/main" id="{A7169E67-0B15-935E-7C8C-57968F4CDD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111500"/>
            <a:ext cx="304800" cy="304800"/>
          </a:xfrm>
          <a:prstGeom prst="rect">
            <a:avLst/>
          </a:prstGeom>
        </p:spPr>
      </p:pic>
      <p:sp>
        <p:nvSpPr>
          <p:cNvPr id="17" name="AutoShape 9">
            <a:extLst>
              <a:ext uri="{FF2B5EF4-FFF2-40B4-BE49-F238E27FC236}">
                <a16:creationId xmlns:a16="http://schemas.microsoft.com/office/drawing/2014/main" id="{0CEABC10-6EF7-837D-49F6-1EEEFE2FF507}"/>
              </a:ext>
            </a:extLst>
          </p:cNvPr>
          <p:cNvSpPr/>
          <p:nvPr/>
        </p:nvSpPr>
        <p:spPr>
          <a:xfrm>
            <a:off x="1397000" y="30734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连接与鉴权配置</a:t>
            </a:r>
            <a:endParaRPr lang="en-US" sz="1100"/>
          </a:p>
        </p:txBody>
      </p:sp>
      <p:cxnSp>
        <p:nvCxnSpPr>
          <p:cNvPr id="18" name="Connector 10">
            <a:extLst>
              <a:ext uri="{FF2B5EF4-FFF2-40B4-BE49-F238E27FC236}">
                <a16:creationId xmlns:a16="http://schemas.microsoft.com/office/drawing/2014/main" id="{2BA55EEF-3C71-B7D1-80E5-94A5A4DA833A}"/>
              </a:ext>
            </a:extLst>
          </p:cNvPr>
          <p:cNvCxnSpPr/>
          <p:nvPr/>
        </p:nvCxnSpPr>
        <p:spPr>
          <a:xfrm rot="21582371">
            <a:off x="952516" y="3549650"/>
            <a:ext cx="2476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19" name="AutoShape 11">
            <a:extLst>
              <a:ext uri="{FF2B5EF4-FFF2-40B4-BE49-F238E27FC236}">
                <a16:creationId xmlns:a16="http://schemas.microsoft.com/office/drawing/2014/main" id="{88AA56E8-7542-0AE4-91B9-72765CC7F685}"/>
              </a:ext>
            </a:extLst>
          </p:cNvPr>
          <p:cNvSpPr/>
          <p:nvPr/>
        </p:nvSpPr>
        <p:spPr>
          <a:xfrm>
            <a:off x="952500" y="36830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填写 IoTDA Host、IAM 域及项目/设备 ID，通过 IAM 接口自动获取访问 Token，完成基础鉴权。</a:t>
            </a:r>
            <a:endParaRPr lang="en-US" sz="1100"/>
          </a:p>
        </p:txBody>
      </p:sp>
      <p:sp>
        <p:nvSpPr>
          <p:cNvPr id="20" name="AutoShape 12">
            <a:extLst>
              <a:ext uri="{FF2B5EF4-FFF2-40B4-BE49-F238E27FC236}">
                <a16:creationId xmlns:a16="http://schemas.microsoft.com/office/drawing/2014/main" id="{53265479-D9B6-77E0-5038-27AAC0E7EEF7}"/>
              </a:ext>
            </a:extLst>
          </p:cNvPr>
          <p:cNvSpPr/>
          <p:nvPr/>
        </p:nvSpPr>
        <p:spPr>
          <a:xfrm>
            <a:off x="3873500" y="2921000"/>
            <a:ext cx="2857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13">
            <a:extLst>
              <a:ext uri="{FF2B5EF4-FFF2-40B4-BE49-F238E27FC236}">
                <a16:creationId xmlns:a16="http://schemas.microsoft.com/office/drawing/2014/main" id="{B5C786A6-CA78-616C-F09E-9E57C85B3C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64000" y="3111500"/>
            <a:ext cx="304800" cy="304800"/>
          </a:xfrm>
          <a:prstGeom prst="rect">
            <a:avLst/>
          </a:prstGeom>
        </p:spPr>
      </p:pic>
      <p:sp>
        <p:nvSpPr>
          <p:cNvPr id="22" name="AutoShape 14">
            <a:extLst>
              <a:ext uri="{FF2B5EF4-FFF2-40B4-BE49-F238E27FC236}">
                <a16:creationId xmlns:a16="http://schemas.microsoft.com/office/drawing/2014/main" id="{F5BAD509-C6E7-69D5-3934-A5C5B1EC172F}"/>
              </a:ext>
            </a:extLst>
          </p:cNvPr>
          <p:cNvSpPr/>
          <p:nvPr/>
        </p:nvSpPr>
        <p:spPr>
          <a:xfrm>
            <a:off x="4508500" y="30734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设备状态实时洞察</a:t>
            </a:r>
            <a:endParaRPr lang="en-US" sz="1100"/>
          </a:p>
        </p:txBody>
      </p:sp>
      <p:cxnSp>
        <p:nvCxnSpPr>
          <p:cNvPr id="23" name="Connector 15">
            <a:extLst>
              <a:ext uri="{FF2B5EF4-FFF2-40B4-BE49-F238E27FC236}">
                <a16:creationId xmlns:a16="http://schemas.microsoft.com/office/drawing/2014/main" id="{515C5150-8DAE-442E-A77F-92BB56AE162D}"/>
              </a:ext>
            </a:extLst>
          </p:cNvPr>
          <p:cNvCxnSpPr/>
          <p:nvPr/>
        </p:nvCxnSpPr>
        <p:spPr>
          <a:xfrm rot="21582371">
            <a:off x="4064016" y="3549650"/>
            <a:ext cx="2476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4" name="AutoShape 16">
            <a:extLst>
              <a:ext uri="{FF2B5EF4-FFF2-40B4-BE49-F238E27FC236}">
                <a16:creationId xmlns:a16="http://schemas.microsoft.com/office/drawing/2014/main" id="{6C00A5FE-1530-320B-CD5E-98741464EEC4}"/>
              </a:ext>
            </a:extLst>
          </p:cNvPr>
          <p:cNvSpPr/>
          <p:nvPr/>
        </p:nvSpPr>
        <p:spPr>
          <a:xfrm>
            <a:off x="4064000" y="36830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调用 Shadow API 获取 ESP32 最新上报数据，支持自动轮询刷新，实现设备状态近实时可视化监控。</a:t>
            </a:r>
            <a:endParaRPr lang="en-US" sz="1100"/>
          </a:p>
        </p:txBody>
      </p:sp>
      <p:sp>
        <p:nvSpPr>
          <p:cNvPr id="25" name="AutoShape 17">
            <a:extLst>
              <a:ext uri="{FF2B5EF4-FFF2-40B4-BE49-F238E27FC236}">
                <a16:creationId xmlns:a16="http://schemas.microsoft.com/office/drawing/2014/main" id="{DB430A17-DAED-E0BB-2FA3-CB24D1B2A8C3}"/>
              </a:ext>
            </a:extLst>
          </p:cNvPr>
          <p:cNvSpPr/>
          <p:nvPr/>
        </p:nvSpPr>
        <p:spPr>
          <a:xfrm>
            <a:off x="762000" y="4699000"/>
            <a:ext cx="2857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18">
            <a:extLst>
              <a:ext uri="{FF2B5EF4-FFF2-40B4-BE49-F238E27FC236}">
                <a16:creationId xmlns:a16="http://schemas.microsoft.com/office/drawing/2014/main" id="{A7B81A89-5B06-5D51-DDCA-64549498BF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889500"/>
            <a:ext cx="304800" cy="304800"/>
          </a:xfrm>
          <a:prstGeom prst="rect">
            <a:avLst/>
          </a:prstGeom>
        </p:spPr>
      </p:pic>
      <p:sp>
        <p:nvSpPr>
          <p:cNvPr id="27" name="AutoShape 19">
            <a:extLst>
              <a:ext uri="{FF2B5EF4-FFF2-40B4-BE49-F238E27FC236}">
                <a16:creationId xmlns:a16="http://schemas.microsoft.com/office/drawing/2014/main" id="{9AEB5E1E-642A-9323-CA3E-CA148DBEA5B3}"/>
              </a:ext>
            </a:extLst>
          </p:cNvPr>
          <p:cNvSpPr/>
          <p:nvPr/>
        </p:nvSpPr>
        <p:spPr>
          <a:xfrm>
            <a:off x="1397000" y="48514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快捷指令远程下发</a:t>
            </a:r>
            <a:endParaRPr lang="en-US" sz="1100"/>
          </a:p>
        </p:txBody>
      </p:sp>
      <p:cxnSp>
        <p:nvCxnSpPr>
          <p:cNvPr id="28" name="Connector 20">
            <a:extLst>
              <a:ext uri="{FF2B5EF4-FFF2-40B4-BE49-F238E27FC236}">
                <a16:creationId xmlns:a16="http://schemas.microsoft.com/office/drawing/2014/main" id="{D615E962-B053-B4D5-D457-38E86707D7BA}"/>
              </a:ext>
            </a:extLst>
          </p:cNvPr>
          <p:cNvCxnSpPr/>
          <p:nvPr/>
        </p:nvCxnSpPr>
        <p:spPr>
          <a:xfrm rot="21582371">
            <a:off x="952516" y="5327650"/>
            <a:ext cx="2476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9" name="AutoShape 21">
            <a:extLst>
              <a:ext uri="{FF2B5EF4-FFF2-40B4-BE49-F238E27FC236}">
                <a16:creationId xmlns:a16="http://schemas.microsoft.com/office/drawing/2014/main" id="{67817A81-EF15-288D-E4D1-A8AC40C61737}"/>
              </a:ext>
            </a:extLst>
          </p:cNvPr>
          <p:cNvSpPr/>
          <p:nvPr/>
        </p:nvSpPr>
        <p:spPr>
          <a:xfrm>
            <a:off x="952500" y="54610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提供一键式控制按钮，快速下发 `lock` 门锁指令与 `beep` 蜂鸣器报警指令，操作直观高效。</a:t>
            </a:r>
            <a:endParaRPr lang="en-US" sz="1100"/>
          </a:p>
        </p:txBody>
      </p:sp>
      <p:sp>
        <p:nvSpPr>
          <p:cNvPr id="30" name="AutoShape 22">
            <a:extLst>
              <a:ext uri="{FF2B5EF4-FFF2-40B4-BE49-F238E27FC236}">
                <a16:creationId xmlns:a16="http://schemas.microsoft.com/office/drawing/2014/main" id="{8F3550C3-5ADE-939D-C2E0-0AB0F3E87B67}"/>
              </a:ext>
            </a:extLst>
          </p:cNvPr>
          <p:cNvSpPr/>
          <p:nvPr/>
        </p:nvSpPr>
        <p:spPr>
          <a:xfrm>
            <a:off x="3873500" y="4699000"/>
            <a:ext cx="2857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23">
            <a:extLst>
              <a:ext uri="{FF2B5EF4-FFF2-40B4-BE49-F238E27FC236}">
                <a16:creationId xmlns:a16="http://schemas.microsoft.com/office/drawing/2014/main" id="{FE71660F-E1BB-EF17-6684-6BCE5DCAA5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64000" y="4889500"/>
            <a:ext cx="304800" cy="304800"/>
          </a:xfrm>
          <a:prstGeom prst="rect">
            <a:avLst/>
          </a:prstGeom>
        </p:spPr>
      </p:pic>
      <p:sp>
        <p:nvSpPr>
          <p:cNvPr id="32" name="AutoShape 24">
            <a:extLst>
              <a:ext uri="{FF2B5EF4-FFF2-40B4-BE49-F238E27FC236}">
                <a16:creationId xmlns:a16="http://schemas.microsoft.com/office/drawing/2014/main" id="{1CB640F5-3C87-C00B-A5CD-629FD77A0C73}"/>
              </a:ext>
            </a:extLst>
          </p:cNvPr>
          <p:cNvSpPr/>
          <p:nvPr/>
        </p:nvSpPr>
        <p:spPr>
          <a:xfrm>
            <a:off x="4508500" y="48514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权限诊断与日志调试</a:t>
            </a:r>
            <a:endParaRPr lang="en-US" sz="1100"/>
          </a:p>
        </p:txBody>
      </p:sp>
      <p:cxnSp>
        <p:nvCxnSpPr>
          <p:cNvPr id="33" name="Connector 25">
            <a:extLst>
              <a:ext uri="{FF2B5EF4-FFF2-40B4-BE49-F238E27FC236}">
                <a16:creationId xmlns:a16="http://schemas.microsoft.com/office/drawing/2014/main" id="{1F6EC528-7FE9-8C9A-F65A-0783E0E81E8C}"/>
              </a:ext>
            </a:extLst>
          </p:cNvPr>
          <p:cNvCxnSpPr/>
          <p:nvPr/>
        </p:nvCxnSpPr>
        <p:spPr>
          <a:xfrm rot="21582371">
            <a:off x="4064016" y="5327650"/>
            <a:ext cx="24765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34" name="AutoShape 26">
            <a:extLst>
              <a:ext uri="{FF2B5EF4-FFF2-40B4-BE49-F238E27FC236}">
                <a16:creationId xmlns:a16="http://schemas.microsoft.com/office/drawing/2014/main" id="{08BCDBC9-26FA-A9D3-2E29-E5D31BE86BD6}"/>
              </a:ext>
            </a:extLst>
          </p:cNvPr>
          <p:cNvSpPr/>
          <p:nvPr/>
        </p:nvSpPr>
        <p:spPr>
          <a:xfrm>
            <a:off x="4064000" y="54610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自动检查云端配置与设备访问权限，实时展示请求、响应报文及错误日志，助力快速排查问题。</a:t>
            </a:r>
            <a:endParaRPr lang="en-US" sz="1100"/>
          </a:p>
        </p:txBody>
      </p:sp>
      <p:cxnSp>
        <p:nvCxnSpPr>
          <p:cNvPr id="35" name="Connector 27">
            <a:extLst>
              <a:ext uri="{FF2B5EF4-FFF2-40B4-BE49-F238E27FC236}">
                <a16:creationId xmlns:a16="http://schemas.microsoft.com/office/drawing/2014/main" id="{8BABF99C-8C6D-9A09-2F07-C398A9CE23E8}"/>
              </a:ext>
            </a:extLst>
          </p:cNvPr>
          <p:cNvCxnSpPr/>
          <p:nvPr/>
        </p:nvCxnSpPr>
        <p:spPr>
          <a:xfrm rot="5390581">
            <a:off x="4730750" y="3835409"/>
            <a:ext cx="463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37" name="AutoShape 29">
            <a:extLst>
              <a:ext uri="{FF2B5EF4-FFF2-40B4-BE49-F238E27FC236}">
                <a16:creationId xmlns:a16="http://schemas.microsoft.com/office/drawing/2014/main" id="{264DC3CD-FD42-61CD-2520-3B926455E266}"/>
              </a:ext>
            </a:extLst>
          </p:cNvPr>
          <p:cNvSpPr/>
          <p:nvPr/>
        </p:nvSpPr>
        <p:spPr>
          <a:xfrm>
            <a:off x="7433505" y="5588000"/>
            <a:ext cx="3873499" cy="762000"/>
          </a:xfrm>
          <a:prstGeom prst="rect">
            <a:avLst/>
          </a:prstGeom>
          <a:noFill/>
          <a:ln w="12700" cap="flat" cmpd="sng">
            <a:noFill/>
            <a:prstDash val="solid"/>
            <a:round/>
          </a:ln>
        </p:spPr>
        <p:txBody>
          <a:bodyPr vert="horz" wrap="square" lIns="0" tIns="0" rIns="0" bIns="0" rtlCol="0" anchor="ctr" anchorCtr="0"/>
          <a:lstStyle/>
          <a:p>
            <a:pPr marL="0" indent="0">
              <a:lnSpc>
                <a:spcPct val="116666"/>
              </a:lnSpc>
              <a:defRPr/>
            </a:pP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小程序界面集成配置、监控、控制与日志模块，实现一站式设备管理，操作界面简洁直观</a:t>
            </a:r>
            <a:r>
              <a:rPr lang="en-US" sz="1300" b="0" i="0" u="none" strike="noStrike" dirty="0">
                <a:solidFill>
                  <a:srgbClr val="4B5563"/>
                </a:solidFill>
                <a:latin typeface="Noto Sans SC"/>
                <a:ea typeface="Noto Sans SC"/>
                <a:cs typeface="Noto Sans SC"/>
                <a:sym typeface="Noto Sans SC"/>
              </a:rPr>
              <a: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7" name="AutoShape 2">
            <a:extLst>
              <a:ext uri="{FF2B5EF4-FFF2-40B4-BE49-F238E27FC236}">
                <a16:creationId xmlns:a16="http://schemas.microsoft.com/office/drawing/2014/main" id="{A1AAB4F0-616B-DB31-25F2-B1CF98E2B2DC}"/>
              </a:ext>
            </a:extLst>
          </p:cNvPr>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
            <a:extLst>
              <a:ext uri="{FF2B5EF4-FFF2-40B4-BE49-F238E27FC236}">
                <a16:creationId xmlns:a16="http://schemas.microsoft.com/office/drawing/2014/main" id="{FC1DC373-0399-CC95-76C0-3DDDF3786546}"/>
              </a:ext>
            </a:extLst>
          </p:cNvPr>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a:ea typeface="Noto Sans SC"/>
                <a:cs typeface="Noto Sans SC"/>
                <a:sym typeface="Noto Sans SC"/>
              </a:rPr>
              <a:t>安全与运维层：认证、加密、日志与维护</a:t>
            </a:r>
            <a:endParaRPr lang="en-US" sz="1100"/>
          </a:p>
        </p:txBody>
      </p:sp>
      <p:sp>
        <p:nvSpPr>
          <p:cNvPr id="39" name="AutoShape 4">
            <a:extLst>
              <a:ext uri="{FF2B5EF4-FFF2-40B4-BE49-F238E27FC236}">
                <a16:creationId xmlns:a16="http://schemas.microsoft.com/office/drawing/2014/main" id="{9BE1082B-6AE9-9451-0903-BA2B6EA24E91}"/>
              </a:ext>
            </a:extLst>
          </p:cNvPr>
          <p:cNvSpPr/>
          <p:nvPr/>
        </p:nvSpPr>
        <p:spPr>
          <a:xfrm>
            <a:off x="762000" y="2286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5">
            <a:extLst>
              <a:ext uri="{FF2B5EF4-FFF2-40B4-BE49-F238E27FC236}">
                <a16:creationId xmlns:a16="http://schemas.microsoft.com/office/drawing/2014/main" id="{05BD96E5-4CC0-3C65-67CF-E39809D9B75D}"/>
              </a:ext>
            </a:extLst>
          </p:cNvPr>
          <p:cNvSpPr/>
          <p:nvPr/>
        </p:nvSpPr>
        <p:spPr>
          <a:xfrm>
            <a:off x="762000" y="2286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6">
            <a:extLst>
              <a:ext uri="{FF2B5EF4-FFF2-40B4-BE49-F238E27FC236}">
                <a16:creationId xmlns:a16="http://schemas.microsoft.com/office/drawing/2014/main" id="{B37AD30E-4D11-7A34-04D6-3AC6B7A616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540000"/>
            <a:ext cx="508000" cy="508000"/>
          </a:xfrm>
          <a:prstGeom prst="rect">
            <a:avLst/>
          </a:prstGeom>
        </p:spPr>
      </p:pic>
      <p:sp>
        <p:nvSpPr>
          <p:cNvPr id="42" name="AutoShape 7">
            <a:extLst>
              <a:ext uri="{FF2B5EF4-FFF2-40B4-BE49-F238E27FC236}">
                <a16:creationId xmlns:a16="http://schemas.microsoft.com/office/drawing/2014/main" id="{7C225E18-5184-5B94-2875-00B12A4C7C5F}"/>
              </a:ext>
            </a:extLst>
          </p:cNvPr>
          <p:cNvSpPr/>
          <p:nvPr/>
        </p:nvSpPr>
        <p:spPr>
          <a:xfrm>
            <a:off x="1651000" y="2476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1F2937"/>
                </a:solidFill>
                <a:latin typeface="Noto Sans SC"/>
                <a:ea typeface="Noto Sans SC"/>
                <a:cs typeface="Noto Sans SC"/>
                <a:sym typeface="Noto Sans SC"/>
              </a:rPr>
              <a:t>通信安全</a:t>
            </a:r>
            <a:endParaRPr lang="en-US" sz="1100" dirty="0"/>
          </a:p>
          <a:p>
            <a:pPr marL="0" indent="0" algn="l">
              <a:lnSpc>
                <a:spcPct val="116666"/>
              </a:lnSpc>
            </a:pPr>
            <a:r>
              <a:rPr lang="en-US" sz="1300" b="0" i="0" u="none" strike="noStrike" dirty="0" err="1">
                <a:solidFill>
                  <a:srgbClr val="4B5563"/>
                </a:solidFill>
                <a:latin typeface="Noto Sans SC"/>
                <a:ea typeface="Noto Sans SC"/>
                <a:cs typeface="Noto Sans SC"/>
                <a:sym typeface="Noto Sans SC"/>
              </a:rPr>
              <a:t>设备端使用</a:t>
            </a:r>
            <a:r>
              <a:rPr lang="en-US" sz="1300" b="0" i="0" u="none" strike="noStrike" dirty="0">
                <a:solidFill>
                  <a:srgbClr val="4B5563"/>
                </a:solidFill>
                <a:latin typeface="Noto Sans SC"/>
                <a:ea typeface="Noto Sans SC"/>
                <a:cs typeface="Noto Sans SC"/>
                <a:sym typeface="Noto Sans SC"/>
              </a:rPr>
              <a:t> MQTTS </a:t>
            </a:r>
            <a:r>
              <a:rPr lang="en-US" sz="1300" b="0" i="0" u="none" strike="noStrike" dirty="0" err="1">
                <a:solidFill>
                  <a:srgbClr val="4B5563"/>
                </a:solidFill>
                <a:latin typeface="Noto Sans SC"/>
                <a:ea typeface="Noto Sans SC"/>
                <a:cs typeface="Noto Sans SC"/>
                <a:sym typeface="Noto Sans SC"/>
              </a:rPr>
              <a:t>接入云平台，保障传输链路加密安全</a:t>
            </a:r>
            <a:r>
              <a:rPr lang="en-US" sz="1300" b="0" i="0" u="none" strike="noStrike" dirty="0">
                <a:solidFill>
                  <a:srgbClr val="4B5563"/>
                </a:solidFill>
                <a:latin typeface="Noto Sans SC"/>
                <a:ea typeface="Noto Sans SC"/>
                <a:cs typeface="Noto Sans SC"/>
                <a:sym typeface="Noto Sans SC"/>
              </a:rPr>
              <a:t>。</a:t>
            </a:r>
          </a:p>
        </p:txBody>
      </p:sp>
      <p:sp>
        <p:nvSpPr>
          <p:cNvPr id="43" name="AutoShape 8">
            <a:extLst>
              <a:ext uri="{FF2B5EF4-FFF2-40B4-BE49-F238E27FC236}">
                <a16:creationId xmlns:a16="http://schemas.microsoft.com/office/drawing/2014/main" id="{C168FB0E-1F05-F59E-19F8-6FBE80346F3D}"/>
              </a:ext>
            </a:extLst>
          </p:cNvPr>
          <p:cNvSpPr/>
          <p:nvPr/>
        </p:nvSpPr>
        <p:spPr>
          <a:xfrm>
            <a:off x="4445000" y="2286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9">
            <a:extLst>
              <a:ext uri="{FF2B5EF4-FFF2-40B4-BE49-F238E27FC236}">
                <a16:creationId xmlns:a16="http://schemas.microsoft.com/office/drawing/2014/main" id="{868026C9-1698-804D-5FD5-3F8FD7D751AF}"/>
              </a:ext>
            </a:extLst>
          </p:cNvPr>
          <p:cNvSpPr/>
          <p:nvPr/>
        </p:nvSpPr>
        <p:spPr>
          <a:xfrm>
            <a:off x="4445000" y="2286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5" name="Picture 10">
            <a:extLst>
              <a:ext uri="{FF2B5EF4-FFF2-40B4-BE49-F238E27FC236}">
                <a16:creationId xmlns:a16="http://schemas.microsoft.com/office/drawing/2014/main" id="{2098D523-E087-5A0A-54A5-1C059C645C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2540000"/>
            <a:ext cx="508000" cy="508000"/>
          </a:xfrm>
          <a:prstGeom prst="rect">
            <a:avLst/>
          </a:prstGeom>
        </p:spPr>
      </p:pic>
      <p:sp>
        <p:nvSpPr>
          <p:cNvPr id="46" name="AutoShape 11">
            <a:extLst>
              <a:ext uri="{FF2B5EF4-FFF2-40B4-BE49-F238E27FC236}">
                <a16:creationId xmlns:a16="http://schemas.microsoft.com/office/drawing/2014/main" id="{99DBE119-FA0B-D50A-019B-E056489593D5}"/>
              </a:ext>
            </a:extLst>
          </p:cNvPr>
          <p:cNvSpPr/>
          <p:nvPr/>
        </p:nvSpPr>
        <p:spPr>
          <a:xfrm>
            <a:off x="5334000" y="2476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设备认证</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通过设备 ID、Client ID、用户名和密钥完成双向认证。</a:t>
            </a:r>
          </a:p>
        </p:txBody>
      </p:sp>
      <p:sp>
        <p:nvSpPr>
          <p:cNvPr id="47" name="AutoShape 12">
            <a:extLst>
              <a:ext uri="{FF2B5EF4-FFF2-40B4-BE49-F238E27FC236}">
                <a16:creationId xmlns:a16="http://schemas.microsoft.com/office/drawing/2014/main" id="{9CB93D77-2794-7BE0-CEE9-DC4A581D6EC8}"/>
              </a:ext>
            </a:extLst>
          </p:cNvPr>
          <p:cNvSpPr/>
          <p:nvPr/>
        </p:nvSpPr>
        <p:spPr>
          <a:xfrm>
            <a:off x="8128000" y="2286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13">
            <a:extLst>
              <a:ext uri="{FF2B5EF4-FFF2-40B4-BE49-F238E27FC236}">
                <a16:creationId xmlns:a16="http://schemas.microsoft.com/office/drawing/2014/main" id="{D4D1D94E-3EC9-4E39-CD14-745C594DD024}"/>
              </a:ext>
            </a:extLst>
          </p:cNvPr>
          <p:cNvSpPr/>
          <p:nvPr/>
        </p:nvSpPr>
        <p:spPr>
          <a:xfrm>
            <a:off x="8128000" y="2286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9" name="Picture 14">
            <a:extLst>
              <a:ext uri="{FF2B5EF4-FFF2-40B4-BE49-F238E27FC236}">
                <a16:creationId xmlns:a16="http://schemas.microsoft.com/office/drawing/2014/main" id="{79385DA8-722A-8329-4AA8-3A2DA0F974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540000"/>
            <a:ext cx="508000" cy="508000"/>
          </a:xfrm>
          <a:prstGeom prst="rect">
            <a:avLst/>
          </a:prstGeom>
        </p:spPr>
      </p:pic>
      <p:sp>
        <p:nvSpPr>
          <p:cNvPr id="50" name="AutoShape 15">
            <a:extLst>
              <a:ext uri="{FF2B5EF4-FFF2-40B4-BE49-F238E27FC236}">
                <a16:creationId xmlns:a16="http://schemas.microsoft.com/office/drawing/2014/main" id="{A65F78CE-3859-9B3A-D958-BEDE459D8BB7}"/>
              </a:ext>
            </a:extLst>
          </p:cNvPr>
          <p:cNvSpPr/>
          <p:nvPr/>
        </p:nvSpPr>
        <p:spPr>
          <a:xfrm>
            <a:off x="9017000" y="2476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云端认证</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小程序通过 IAM Token 安全访问 IoTDA API 接口。</a:t>
            </a:r>
          </a:p>
        </p:txBody>
      </p:sp>
      <p:sp>
        <p:nvSpPr>
          <p:cNvPr id="51" name="AutoShape 16">
            <a:extLst>
              <a:ext uri="{FF2B5EF4-FFF2-40B4-BE49-F238E27FC236}">
                <a16:creationId xmlns:a16="http://schemas.microsoft.com/office/drawing/2014/main" id="{38BDFD52-14D6-3C5A-716A-F29B76683D03}"/>
              </a:ext>
            </a:extLst>
          </p:cNvPr>
          <p:cNvSpPr/>
          <p:nvPr/>
        </p:nvSpPr>
        <p:spPr>
          <a:xfrm>
            <a:off x="762000" y="4572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17">
            <a:extLst>
              <a:ext uri="{FF2B5EF4-FFF2-40B4-BE49-F238E27FC236}">
                <a16:creationId xmlns:a16="http://schemas.microsoft.com/office/drawing/2014/main" id="{9DD587E8-940A-3D9C-0710-C1952435ADB2}"/>
              </a:ext>
            </a:extLst>
          </p:cNvPr>
          <p:cNvSpPr/>
          <p:nvPr/>
        </p:nvSpPr>
        <p:spPr>
          <a:xfrm>
            <a:off x="762000" y="4572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3" name="Picture 18">
            <a:extLst>
              <a:ext uri="{FF2B5EF4-FFF2-40B4-BE49-F238E27FC236}">
                <a16:creationId xmlns:a16="http://schemas.microsoft.com/office/drawing/2014/main" id="{911F61AB-F21C-2A4C-0B7C-E31BA2CF5B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826000"/>
            <a:ext cx="508000" cy="508000"/>
          </a:xfrm>
          <a:prstGeom prst="rect">
            <a:avLst/>
          </a:prstGeom>
        </p:spPr>
      </p:pic>
      <p:sp>
        <p:nvSpPr>
          <p:cNvPr id="54" name="AutoShape 19">
            <a:extLst>
              <a:ext uri="{FF2B5EF4-FFF2-40B4-BE49-F238E27FC236}">
                <a16:creationId xmlns:a16="http://schemas.microsoft.com/office/drawing/2014/main" id="{2111F1C9-A066-2747-E221-EF3036A9E6DE}"/>
              </a:ext>
            </a:extLst>
          </p:cNvPr>
          <p:cNvSpPr/>
          <p:nvPr/>
        </p:nvSpPr>
        <p:spPr>
          <a:xfrm>
            <a:off x="1651000" y="4762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本地访问</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基于 RFID 白名单机制，严格限制本地物理开锁权限。</a:t>
            </a:r>
          </a:p>
        </p:txBody>
      </p:sp>
      <p:sp>
        <p:nvSpPr>
          <p:cNvPr id="55" name="AutoShape 20">
            <a:extLst>
              <a:ext uri="{FF2B5EF4-FFF2-40B4-BE49-F238E27FC236}">
                <a16:creationId xmlns:a16="http://schemas.microsoft.com/office/drawing/2014/main" id="{2E9AD004-F97F-6A5C-AB1D-C1777DC33ED3}"/>
              </a:ext>
            </a:extLst>
          </p:cNvPr>
          <p:cNvSpPr/>
          <p:nvPr/>
        </p:nvSpPr>
        <p:spPr>
          <a:xfrm>
            <a:off x="4445000" y="4572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21">
            <a:extLst>
              <a:ext uri="{FF2B5EF4-FFF2-40B4-BE49-F238E27FC236}">
                <a16:creationId xmlns:a16="http://schemas.microsoft.com/office/drawing/2014/main" id="{5C638C35-DB74-2D18-13B5-A657A197BD63}"/>
              </a:ext>
            </a:extLst>
          </p:cNvPr>
          <p:cNvSpPr/>
          <p:nvPr/>
        </p:nvSpPr>
        <p:spPr>
          <a:xfrm>
            <a:off x="4445000" y="4572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7" name="Picture 22">
            <a:extLst>
              <a:ext uri="{FF2B5EF4-FFF2-40B4-BE49-F238E27FC236}">
                <a16:creationId xmlns:a16="http://schemas.microsoft.com/office/drawing/2014/main" id="{2F004F56-7366-7C68-D245-389FC35E22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62500" y="4826000"/>
            <a:ext cx="508000" cy="508000"/>
          </a:xfrm>
          <a:prstGeom prst="rect">
            <a:avLst/>
          </a:prstGeom>
        </p:spPr>
      </p:pic>
      <p:sp>
        <p:nvSpPr>
          <p:cNvPr id="58" name="AutoShape 23">
            <a:extLst>
              <a:ext uri="{FF2B5EF4-FFF2-40B4-BE49-F238E27FC236}">
                <a16:creationId xmlns:a16="http://schemas.microsoft.com/office/drawing/2014/main" id="{BCDF3901-ACE0-9FE2-D102-B58850CA5868}"/>
              </a:ext>
            </a:extLst>
          </p:cNvPr>
          <p:cNvSpPr/>
          <p:nvPr/>
        </p:nvSpPr>
        <p:spPr>
          <a:xfrm>
            <a:off x="5334000" y="4762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运行日志</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全链路记录设备状态、报警、数据上传及命令执行结果。</a:t>
            </a:r>
          </a:p>
        </p:txBody>
      </p:sp>
      <p:sp>
        <p:nvSpPr>
          <p:cNvPr id="59" name="AutoShape 24">
            <a:extLst>
              <a:ext uri="{FF2B5EF4-FFF2-40B4-BE49-F238E27FC236}">
                <a16:creationId xmlns:a16="http://schemas.microsoft.com/office/drawing/2014/main" id="{56FAE496-20C4-CCAD-F95A-398B7A4544EF}"/>
              </a:ext>
            </a:extLst>
          </p:cNvPr>
          <p:cNvSpPr/>
          <p:nvPr/>
        </p:nvSpPr>
        <p:spPr>
          <a:xfrm>
            <a:off x="8128000" y="4572000"/>
            <a:ext cx="3302000" cy="2032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AutoShape 25">
            <a:extLst>
              <a:ext uri="{FF2B5EF4-FFF2-40B4-BE49-F238E27FC236}">
                <a16:creationId xmlns:a16="http://schemas.microsoft.com/office/drawing/2014/main" id="{0C6128CD-9041-52B2-3CCE-55195940DB66}"/>
              </a:ext>
            </a:extLst>
          </p:cNvPr>
          <p:cNvSpPr/>
          <p:nvPr/>
        </p:nvSpPr>
        <p:spPr>
          <a:xfrm>
            <a:off x="8128000" y="4572000"/>
            <a:ext cx="76200" cy="2032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1" name="Picture 26">
            <a:extLst>
              <a:ext uri="{FF2B5EF4-FFF2-40B4-BE49-F238E27FC236}">
                <a16:creationId xmlns:a16="http://schemas.microsoft.com/office/drawing/2014/main" id="{3C65CA9A-AED9-1D0D-C8C7-6D5C4B1042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45500" y="4826000"/>
            <a:ext cx="508000" cy="508000"/>
          </a:xfrm>
          <a:prstGeom prst="rect">
            <a:avLst/>
          </a:prstGeom>
        </p:spPr>
      </p:pic>
      <p:sp>
        <p:nvSpPr>
          <p:cNvPr id="62" name="AutoShape 27">
            <a:extLst>
              <a:ext uri="{FF2B5EF4-FFF2-40B4-BE49-F238E27FC236}">
                <a16:creationId xmlns:a16="http://schemas.microsoft.com/office/drawing/2014/main" id="{95B0184F-CEFB-3F42-B8DA-83268A58E8B8}"/>
              </a:ext>
            </a:extLst>
          </p:cNvPr>
          <p:cNvSpPr/>
          <p:nvPr/>
        </p:nvSpPr>
        <p:spPr>
          <a:xfrm>
            <a:off x="9017000" y="47625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运维诊断</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小程序支持云端权限诊断，后端提供健康检查与异常接口。</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8000" b="1" i="0" u="none" strike="noStrike">
                <a:solidFill>
                  <a:srgbClr val="F97316">
                    <a:alpha val="90196"/>
                  </a:srgbClr>
                </a:solidFill>
                <a:latin typeface="Noto Sans SC"/>
                <a:ea typeface="Noto Sans SC"/>
                <a:cs typeface="Noto Sans SC"/>
                <a:sym typeface="Noto Sans SC"/>
              </a:rPr>
              <a:t>05</a:t>
            </a:r>
            <a:endParaRPr lang="en-US" sz="1100"/>
          </a:p>
        </p:txBody>
      </p:sp>
      <p:sp>
        <p:nvSpPr>
          <p:cNvPr id="4" name="AutoShape 4"/>
          <p:cNvSpPr/>
          <p:nvPr/>
        </p:nvSpPr>
        <p:spPr>
          <a:xfrm>
            <a:off x="508000" y="3937000"/>
            <a:ext cx="11176000" cy="889000"/>
          </a:xfrm>
          <a:prstGeom prst="rect">
            <a:avLst/>
          </a:prstGeom>
          <a:noFill/>
          <a:ln w="12700" cap="flat" cmpd="sng">
            <a:noFill/>
            <a:prstDash val="solid"/>
            <a:round/>
          </a:ln>
        </p:spPr>
        <p:txBody>
          <a:bodyPr vert="horz" wrap="square" lIns="0" tIns="0" rIns="0" bIns="0" rtlCol="0" anchor="ctr" anchorCtr="0"/>
          <a:lstStyle/>
          <a:p>
            <a:pPr algn="ctr">
              <a:defRPr/>
            </a:pPr>
            <a:r>
              <a:rPr lang="zh-CN" altLang="zh-CN" sz="2200" b="1" dirty="0">
                <a:solidFill>
                  <a:srgbClr val="1F2937"/>
                </a:solidFill>
                <a:latin typeface="Noto Sans SC"/>
                <a:ea typeface="Noto Sans SC"/>
              </a:rPr>
              <a:t>核心模块实现：从本地采集到全栈物联网系统</a:t>
            </a:r>
            <a:endParaRPr lang="en-US" sz="2200" b="1" dirty="0">
              <a:solidFill>
                <a:srgbClr val="1F2937"/>
              </a:solidFill>
              <a:latin typeface="Noto Sans SC"/>
              <a:ea typeface="Noto Sans SC"/>
            </a:endParaRPr>
          </a:p>
        </p:txBody>
      </p:sp>
      <p:sp>
        <p:nvSpPr>
          <p:cNvPr id="5" name="AutoShape 5"/>
          <p:cNvSpPr/>
          <p:nvPr/>
        </p:nvSpPr>
        <p:spPr>
          <a:xfrm>
            <a:off x="1016000" y="4649310"/>
            <a:ext cx="10400748"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400" b="0" i="0" u="none" strike="noStrike" dirty="0" err="1">
                <a:solidFill>
                  <a:srgbClr val="374151"/>
                </a:solidFill>
                <a:latin typeface="Noto Sans SC"/>
                <a:ea typeface="Noto Sans SC"/>
                <a:cs typeface="Noto Sans SC"/>
                <a:sym typeface="Noto Sans SC"/>
              </a:rPr>
              <a:t>新版本不再只是本地传感器采集和</a:t>
            </a:r>
            <a:r>
              <a:rPr lang="en-US" sz="1400" b="0" i="0" u="none" strike="noStrike" dirty="0">
                <a:solidFill>
                  <a:srgbClr val="374151"/>
                </a:solidFill>
                <a:latin typeface="Noto Sans SC"/>
                <a:ea typeface="Noto Sans SC"/>
                <a:cs typeface="Noto Sans SC"/>
                <a:sym typeface="Noto Sans SC"/>
              </a:rPr>
              <a:t> OLED </a:t>
            </a:r>
            <a:r>
              <a:rPr lang="en-US" sz="1400" b="0" i="0" u="none" strike="noStrike" dirty="0" err="1">
                <a:solidFill>
                  <a:srgbClr val="374151"/>
                </a:solidFill>
                <a:latin typeface="Noto Sans SC"/>
                <a:ea typeface="Noto Sans SC"/>
                <a:cs typeface="Noto Sans SC"/>
                <a:sym typeface="Noto Sans SC"/>
              </a:rPr>
              <a:t>显示，而是形成了设备端、通信端、平台端、Web</a:t>
            </a:r>
            <a:r>
              <a:rPr lang="en-US" sz="1400" b="0" i="0" u="none" strike="noStrike" dirty="0">
                <a:solidFill>
                  <a:srgbClr val="374151"/>
                </a:solidFill>
                <a:latin typeface="Noto Sans SC"/>
                <a:ea typeface="Noto Sans SC"/>
                <a:cs typeface="Noto Sans SC"/>
                <a:sym typeface="Noto Sans SC"/>
              </a:rPr>
              <a:t> </a:t>
            </a:r>
            <a:r>
              <a:rPr lang="en-US" sz="1400" b="0" i="0" u="none" strike="noStrike" dirty="0" err="1">
                <a:solidFill>
                  <a:srgbClr val="374151"/>
                </a:solidFill>
                <a:latin typeface="Noto Sans SC"/>
                <a:ea typeface="Noto Sans SC"/>
                <a:cs typeface="Noto Sans SC"/>
                <a:sym typeface="Noto Sans SC"/>
              </a:rPr>
              <a:t>端、小程序端和</a:t>
            </a:r>
            <a:r>
              <a:rPr lang="en-US" sz="1400" b="0" i="0" u="none" strike="noStrike" dirty="0">
                <a:solidFill>
                  <a:srgbClr val="374151"/>
                </a:solidFill>
                <a:latin typeface="Noto Sans SC"/>
                <a:ea typeface="Noto Sans SC"/>
                <a:cs typeface="Noto Sans SC"/>
                <a:sym typeface="Noto Sans SC"/>
              </a:rPr>
              <a:t> AI </a:t>
            </a:r>
            <a:r>
              <a:rPr lang="en-US" sz="1400" b="0" i="0" u="none" strike="noStrike" dirty="0" err="1">
                <a:solidFill>
                  <a:srgbClr val="374151"/>
                </a:solidFill>
                <a:latin typeface="Noto Sans SC"/>
                <a:ea typeface="Noto Sans SC"/>
                <a:cs typeface="Noto Sans SC"/>
                <a:sym typeface="Noto Sans SC"/>
              </a:rPr>
              <a:t>分析端的完整链路</a:t>
            </a:r>
            <a:r>
              <a:rPr lang="en-US" sz="1400" b="0" i="0" u="none" strike="noStrike" dirty="0">
                <a:solidFill>
                  <a:srgbClr val="374151"/>
                </a:solidFill>
                <a:latin typeface="Noto Sans SC"/>
                <a:ea typeface="Noto Sans SC"/>
                <a:cs typeface="Noto Sans SC"/>
                <a:sym typeface="Noto Sans SC"/>
              </a:rPr>
              <a:t>。</a:t>
            </a:r>
            <a:endParaRPr lang="en-US" sz="1100" dirty="0"/>
          </a:p>
        </p:txBody>
      </p:sp>
      <p:cxnSp>
        <p:nvCxnSpPr>
          <p:cNvPr id="6" name="Connector 6"/>
          <p:cNvCxnSpPr/>
          <p:nvPr/>
        </p:nvCxnSpPr>
        <p:spPr>
          <a:xfrm rot="-4774">
            <a:off x="1524004" y="5534164"/>
            <a:ext cx="9144000" cy="12700"/>
          </a:xfrm>
          <a:prstGeom prst="straightConnector1">
            <a:avLst/>
          </a:prstGeom>
          <a:solidFill>
            <a:srgbClr val="DEE0E3">
              <a:alpha val="100000"/>
            </a:srgbClr>
          </a:solidFill>
          <a:ln w="12700" cap="flat" cmpd="sng">
            <a:solidFill>
              <a:srgbClr val="F97316">
                <a:alpha val="60000"/>
              </a:srgbClr>
            </a:solidFill>
            <a:prstDash val="solid"/>
            <a:round/>
            <a:headEnd type="none" w="med" len="med"/>
            <a:tailEnd type="none" w="med" len="med"/>
          </a:ln>
        </p:spPr>
      </p:cxnSp>
      <p:sp>
        <p:nvSpPr>
          <p:cNvPr id="7" name="AutoShape 7"/>
          <p:cNvSpPr/>
          <p:nvPr/>
        </p:nvSpPr>
        <p:spPr>
          <a:xfrm>
            <a:off x="0" y="5667514"/>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a:ea typeface="Noto Sans SC"/>
                <a:cs typeface="Noto Sans SC"/>
                <a:sym typeface="Noto Sans SC"/>
              </a:rPr>
              <a:t>多任务 / 状态中心 / 云端通信 / 双端应用 / AI 风险</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000" b="1" i="0" u="none" strike="noStrike">
                <a:solidFill>
                  <a:srgbClr val="1F2937"/>
                </a:solidFill>
                <a:latin typeface="Noto Sans SC"/>
                <a:ea typeface="Noto Sans SC"/>
                <a:cs typeface="Noto Sans SC"/>
                <a:sym typeface="Noto Sans SC"/>
              </a:rPr>
              <a:t>设备端软件架构设计</a:t>
            </a:r>
            <a:endParaRPr lang="en-US" sz="1100"/>
          </a:p>
        </p:txBody>
      </p:sp>
      <p:sp>
        <p:nvSpPr>
          <p:cNvPr id="6" name="AutoShape 6"/>
          <p:cNvSpPr/>
          <p:nvPr/>
        </p:nvSpPr>
        <p:spPr>
          <a:xfrm>
            <a:off x="762000" y="5080000"/>
            <a:ext cx="10668000" cy="1397000"/>
          </a:xfrm>
          <a:prstGeom prst="roundRect">
            <a:avLst>
              <a:gd name="adj" fmla="val 0"/>
            </a:avLst>
          </a:prstGeom>
          <a:solidFill>
            <a:srgbClr val="F3F4F6">
              <a:alpha val="100000"/>
            </a:srgbClr>
          </a:solidFill>
          <a:ln w="25400" cap="flat" cmpd="sng">
            <a:noFill/>
            <a:prstDash val="solid"/>
            <a:round/>
          </a:ln>
        </p:spPr>
        <p:txBody>
          <a:bodyPr vert="horz" lIns="63500" tIns="63500" rIns="63500" bIns="63500" rtlCol="0" anchor="ctr"/>
          <a:lstStyle/>
          <a:p>
            <a:pPr algn="ctr">
              <a:defRPr/>
            </a:pPr>
            <a:endParaRPr/>
          </a:p>
        </p:txBody>
      </p:sp>
      <p:sp>
        <p:nvSpPr>
          <p:cNvPr id="7" name="AutoShape 7"/>
          <p:cNvSpPr/>
          <p:nvPr/>
        </p:nvSpPr>
        <p:spPr>
          <a:xfrm>
            <a:off x="1016000" y="5461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0" i="0" u="none" strike="noStrike" dirty="0">
                <a:solidFill>
                  <a:srgbClr val="1F2937"/>
                </a:solidFill>
                <a:latin typeface="Noto Sans SC"/>
                <a:ea typeface="Noto Sans SC"/>
                <a:cs typeface="Noto Sans SC"/>
                <a:sym typeface="Noto Sans SC"/>
              </a:rPr>
              <a:t>         </a:t>
            </a:r>
            <a:r>
              <a:rPr lang="en-US" sz="2000" b="0" i="0" u="none" strike="noStrike" dirty="0" err="1">
                <a:solidFill>
                  <a:srgbClr val="1F2937"/>
                </a:solidFill>
                <a:latin typeface="Noto Sans SC"/>
                <a:ea typeface="Noto Sans SC"/>
                <a:cs typeface="Noto Sans SC"/>
                <a:sym typeface="Noto Sans SC"/>
              </a:rPr>
              <a:t>设备端采用</a:t>
            </a:r>
            <a:r>
              <a:rPr lang="en-US" sz="2000" b="0" i="0" u="none" strike="noStrike" dirty="0">
                <a:solidFill>
                  <a:srgbClr val="1F2937"/>
                </a:solidFill>
                <a:latin typeface="Noto Sans SC"/>
                <a:ea typeface="Noto Sans SC"/>
                <a:cs typeface="Noto Sans SC"/>
                <a:sym typeface="Noto Sans SC"/>
              </a:rPr>
              <a:t> ESP-IDF + </a:t>
            </a:r>
            <a:r>
              <a:rPr lang="en-US" sz="2000" b="0" i="0" u="none" strike="noStrike" dirty="0" err="1">
                <a:solidFill>
                  <a:srgbClr val="1F2937"/>
                </a:solidFill>
                <a:latin typeface="Noto Sans SC"/>
                <a:ea typeface="Noto Sans SC"/>
                <a:cs typeface="Noto Sans SC"/>
                <a:sym typeface="Noto Sans SC"/>
              </a:rPr>
              <a:t>FreeRTOS</a:t>
            </a:r>
            <a:r>
              <a:rPr lang="en-US" sz="2000" b="0" i="0" u="none" strike="noStrike" dirty="0">
                <a:solidFill>
                  <a:srgbClr val="1F2937"/>
                </a:solidFill>
                <a:latin typeface="Noto Sans SC"/>
                <a:ea typeface="Noto Sans SC"/>
                <a:cs typeface="Noto Sans SC"/>
                <a:sym typeface="Noto Sans SC"/>
              </a:rPr>
              <a:t> </a:t>
            </a:r>
            <a:r>
              <a:rPr lang="en-US" sz="2000" b="0" i="0" u="none" strike="noStrike" dirty="0" err="1">
                <a:solidFill>
                  <a:srgbClr val="1F2937"/>
                </a:solidFill>
                <a:latin typeface="Noto Sans SC"/>
                <a:ea typeface="Noto Sans SC"/>
                <a:cs typeface="Noto Sans SC"/>
                <a:sym typeface="Noto Sans SC"/>
              </a:rPr>
              <a:t>多任务架构，将传感器采集、门锁控制、报警联动、屏幕显示和联网通信拆分为独立任务，提高系统实时性和可维护性</a:t>
            </a:r>
            <a:r>
              <a:rPr lang="en-US" sz="2000" b="0" i="0" u="none" strike="noStrike" dirty="0">
                <a:solidFill>
                  <a:srgbClr val="1F2937"/>
                </a:solidFill>
                <a:latin typeface="Noto Sans SC"/>
                <a:ea typeface="Noto Sans SC"/>
                <a:cs typeface="Noto Sans SC"/>
                <a:sym typeface="Noto Sans SC"/>
              </a:rPr>
              <a:t>。</a:t>
            </a:r>
            <a:endParaRPr lang="en-US" sz="2000" dirty="0"/>
          </a:p>
        </p:txBody>
      </p:sp>
      <p:pic>
        <p:nvPicPr>
          <p:cNvPr id="9" name="图片 8" descr="启动流程图">
            <a:extLst>
              <a:ext uri="{FF2B5EF4-FFF2-40B4-BE49-F238E27FC236}">
                <a16:creationId xmlns:a16="http://schemas.microsoft.com/office/drawing/2014/main" id="{610B6650-55D4-EB2A-7A9F-43DF8261D340}"/>
              </a:ext>
            </a:extLst>
          </p:cNvPr>
          <p:cNvPicPr>
            <a:picLocks noChangeAspect="1"/>
          </p:cNvPicPr>
          <p:nvPr/>
        </p:nvPicPr>
        <p:blipFill>
          <a:blip r:embed="rId4"/>
          <a:stretch>
            <a:fillRect/>
          </a:stretch>
        </p:blipFill>
        <p:spPr>
          <a:xfrm>
            <a:off x="369488" y="1651000"/>
            <a:ext cx="5726512" cy="3240000"/>
          </a:xfrm>
          <a:prstGeom prst="rect">
            <a:avLst/>
          </a:prstGeom>
        </p:spPr>
      </p:pic>
      <p:pic>
        <p:nvPicPr>
          <p:cNvPr id="10" name="图片 9" descr="任务划分图">
            <a:extLst>
              <a:ext uri="{FF2B5EF4-FFF2-40B4-BE49-F238E27FC236}">
                <a16:creationId xmlns:a16="http://schemas.microsoft.com/office/drawing/2014/main" id="{8E35877C-ED0F-59FD-0BD6-0ECB7C917727}"/>
              </a:ext>
            </a:extLst>
          </p:cNvPr>
          <p:cNvPicPr>
            <a:picLocks noChangeAspect="1"/>
          </p:cNvPicPr>
          <p:nvPr/>
        </p:nvPicPr>
        <p:blipFill>
          <a:blip r:embed="rId5"/>
          <a:stretch>
            <a:fillRect/>
          </a:stretch>
        </p:blipFill>
        <p:spPr>
          <a:xfrm>
            <a:off x="5896003" y="1647216"/>
            <a:ext cx="6178605" cy="324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a:ea typeface="Noto Sans SC"/>
                <a:cs typeface="Noto Sans SC"/>
                <a:sym typeface="Noto Sans SC"/>
              </a:rPr>
              <a:t>设备端分层与模块协作</a:t>
            </a:r>
            <a:endParaRPr lang="en-US" sz="1100"/>
          </a:p>
        </p:txBody>
      </p:sp>
      <p:sp>
        <p:nvSpPr>
          <p:cNvPr id="4" name="AutoShape 4"/>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400" b="0" i="0" u="none" strike="noStrike">
                <a:solidFill>
                  <a:srgbClr val="4B5563"/>
                </a:solidFill>
                <a:latin typeface="Noto Sans SC"/>
                <a:ea typeface="Noto Sans SC"/>
                <a:cs typeface="Noto Sans SC"/>
                <a:sym typeface="Noto Sans SC"/>
              </a:rPr>
              <a:t>设备端代码按照 ESP_BSP、ESP_APP、task、MQTT/HTTP 分层组织，使底层硬件适配、功能封装和业务逻辑相互解耦。</a:t>
            </a:r>
            <a:endParaRPr lang="en-US" sz="1100"/>
          </a:p>
        </p:txBody>
      </p:sp>
      <p:sp>
        <p:nvSpPr>
          <p:cNvPr id="5" name="AutoShape 5"/>
          <p:cNvSpPr/>
          <p:nvPr/>
        </p:nvSpPr>
        <p:spPr>
          <a:xfrm>
            <a:off x="1016000" y="2413000"/>
            <a:ext cx="10160000" cy="635000"/>
          </a:xfrm>
          <a:prstGeom prst="roundRect">
            <a:avLst>
              <a:gd name="adj" fmla="val 1600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硬件模块层：GPIO、ADC、SPI、UART、OLED、摄像头、传感器等</a:t>
            </a:r>
            <a:endParaRPr lang="en-US" sz="1100"/>
          </a:p>
        </p:txBody>
      </p:sp>
      <p:sp>
        <p:nvSpPr>
          <p:cNvPr id="6" name="AutoShape 6"/>
          <p:cNvSpPr/>
          <p:nvPr/>
        </p:nvSpPr>
        <p:spPr>
          <a:xfrm>
            <a:off x="1016000" y="3302000"/>
            <a:ext cx="10160000" cy="762000"/>
          </a:xfrm>
          <a:prstGeom prst="roundRect">
            <a:avLst>
              <a:gd name="adj" fmla="val 13333"/>
            </a:avLst>
          </a:prstGeom>
          <a:solidFill>
            <a:srgbClr val="FFF7ED">
              <a:alpha val="100000"/>
            </a:srgbClr>
          </a:solidFill>
          <a:ln w="12700" cap="flat" cmpd="sng">
            <a:solidFill>
              <a:srgbClr val="F97316">
                <a:alpha val="50000"/>
              </a:srgbClr>
            </a:solidFill>
            <a:prstDash val="solid"/>
            <a:round/>
          </a:ln>
        </p:spPr>
        <p:txBody>
          <a:bodyPr vert="horz" wrap="square" lIns="254000" tIns="0" rIns="254000" bIns="0" rtlCol="0" anchor="ctr" anchorCtr="0"/>
          <a:lstStyle/>
          <a:p>
            <a:pPr marL="0" indent="0" algn="l">
              <a:lnSpc>
                <a:spcPct val="100000"/>
              </a:lnSpc>
              <a:defRPr/>
            </a:pPr>
            <a:r>
              <a:rPr lang="en-US" sz="1400" b="1" i="0" u="none" strike="noStrike">
                <a:solidFill>
                  <a:srgbClr val="EA580C"/>
                </a:solidFill>
                <a:latin typeface="Noto Sans SC"/>
                <a:ea typeface="Noto Sans SC"/>
                <a:cs typeface="Noto Sans SC"/>
                <a:sym typeface="Noto Sans SC"/>
              </a:rPr>
              <a:t>ESP_BSP 板级支持层：</a:t>
            </a:r>
            <a:r>
              <a:rPr lang="en-US" sz="1400" b="0" i="0" u="none" strike="noStrike">
                <a:solidFill>
                  <a:srgbClr val="374151"/>
                </a:solidFill>
                <a:latin typeface="Noto Sans SC"/>
                <a:ea typeface="Noto Sans SC"/>
                <a:cs typeface="Noto Sans SC"/>
                <a:sym typeface="Noto Sans SC"/>
              </a:rPr>
              <a:t>负责 GPIO、ADC、SPI、UART、PWM、OLED 底层适配，以及 ESP-IDF 与兼容 HAL 接口的桥接。</a:t>
            </a:r>
            <a:endParaRPr lang="en-US" sz="1100"/>
          </a:p>
        </p:txBody>
      </p:sp>
      <p:sp>
        <p:nvSpPr>
          <p:cNvPr id="7" name="AutoShape 7"/>
          <p:cNvSpPr/>
          <p:nvPr/>
        </p:nvSpPr>
        <p:spPr>
          <a:xfrm>
            <a:off x="1016000" y="4254500"/>
            <a:ext cx="10160000" cy="762000"/>
          </a:xfrm>
          <a:prstGeom prst="roundRect">
            <a:avLst>
              <a:gd name="adj" fmla="val 13333"/>
            </a:avLst>
          </a:prstGeom>
          <a:solidFill>
            <a:srgbClr val="FFF7ED">
              <a:alpha val="100000"/>
            </a:srgbClr>
          </a:solidFill>
          <a:ln w="12700" cap="flat" cmpd="sng">
            <a:solidFill>
              <a:srgbClr val="F97316">
                <a:alpha val="50000"/>
              </a:srgbClr>
            </a:solidFill>
            <a:prstDash val="solid"/>
            <a:round/>
          </a:ln>
        </p:spPr>
        <p:txBody>
          <a:bodyPr vert="horz" wrap="square" lIns="254000" tIns="0" rIns="254000" bIns="0" rtlCol="0" anchor="ctr" anchorCtr="0"/>
          <a:lstStyle/>
          <a:p>
            <a:pPr marL="0" indent="0" algn="l">
              <a:lnSpc>
                <a:spcPct val="100000"/>
              </a:lnSpc>
              <a:defRPr/>
            </a:pPr>
            <a:r>
              <a:rPr lang="en-US" sz="1400" b="1" i="0" u="none" strike="noStrike">
                <a:solidFill>
                  <a:srgbClr val="EA580C"/>
                </a:solidFill>
                <a:latin typeface="Noto Sans SC"/>
                <a:ea typeface="Noto Sans SC"/>
                <a:cs typeface="Noto Sans SC"/>
                <a:sym typeface="Noto Sans SC"/>
              </a:rPr>
              <a:t>ESP_APP 设备功能层：</a:t>
            </a:r>
            <a:r>
              <a:rPr lang="en-US" sz="1400" b="0" i="0" u="none" strike="noStrike">
                <a:solidFill>
                  <a:srgbClr val="374151"/>
                </a:solidFill>
                <a:latin typeface="Noto Sans SC"/>
                <a:ea typeface="Noto Sans SC"/>
                <a:cs typeface="Noto Sans SC"/>
                <a:sym typeface="Noto Sans SC"/>
              </a:rPr>
              <a:t>封装摄像头、DHT11、MQ2、SW180、RC522、舵机、蜂鸣器等具体模块能力。</a:t>
            </a:r>
            <a:endParaRPr lang="en-US" sz="1100"/>
          </a:p>
        </p:txBody>
      </p:sp>
      <p:sp>
        <p:nvSpPr>
          <p:cNvPr id="8" name="AutoShape 8"/>
          <p:cNvSpPr/>
          <p:nvPr/>
        </p:nvSpPr>
        <p:spPr>
          <a:xfrm>
            <a:off x="1016000" y="5207000"/>
            <a:ext cx="10160000" cy="889000"/>
          </a:xfrm>
          <a:prstGeom prst="roundRect">
            <a:avLst>
              <a:gd name="adj" fmla="val 11428"/>
            </a:avLst>
          </a:prstGeom>
          <a:solidFill>
            <a:srgbClr val="FFEDD5">
              <a:alpha val="100000"/>
            </a:srgbClr>
          </a:solidFill>
          <a:ln w="12700" cap="flat" cmpd="sng">
            <a:solidFill>
              <a:srgbClr val="F97316">
                <a:alpha val="100000"/>
              </a:srgbClr>
            </a:solidFill>
            <a:prstDash val="solid"/>
            <a:round/>
          </a:ln>
        </p:spPr>
        <p:txBody>
          <a:bodyPr vert="horz" wrap="square" lIns="254000" tIns="0" rIns="254000" bIns="0" rtlCol="0" anchor="ctr" anchorCtr="0"/>
          <a:lstStyle/>
          <a:p>
            <a:pPr marL="0" indent="0" algn="l">
              <a:lnSpc>
                <a:spcPct val="100000"/>
              </a:lnSpc>
              <a:defRPr/>
            </a:pPr>
            <a:r>
              <a:rPr lang="en-US" sz="1300" b="1" i="0" u="none" strike="noStrike">
                <a:solidFill>
                  <a:srgbClr val="C2410C"/>
                </a:solidFill>
                <a:latin typeface="Noto Sans SC"/>
                <a:ea typeface="Noto Sans SC"/>
                <a:cs typeface="Noto Sans SC"/>
                <a:sym typeface="Noto Sans SC"/>
              </a:rPr>
              <a:t>task 业务任务层 + task_state 运行状态中心：</a:t>
            </a:r>
            <a:r>
              <a:rPr lang="en-US" sz="1300" b="0" i="0" u="none" strike="noStrike">
                <a:solidFill>
                  <a:srgbClr val="374151"/>
                </a:solidFill>
                <a:latin typeface="Noto Sans SC"/>
                <a:ea typeface="Noto Sans SC"/>
                <a:cs typeface="Noto Sans SC"/>
                <a:sym typeface="Noto Sans SC"/>
              </a:rPr>
              <a:t>负责周期采样、状态更新、门锁控制、报警联动、OLED 刷新和串口/刷卡业务逻辑；统一保存锁状态、温湿度、气体状态、震动状态、卡号和相机状态，供各端共享。</a:t>
            </a:r>
            <a:endParaRPr lang="en-US" sz="1100"/>
          </a:p>
        </p:txBody>
      </p:sp>
      <p:sp>
        <p:nvSpPr>
          <p:cNvPr id="9" name="AutoShape 9"/>
          <p:cNvSpPr/>
          <p:nvPr/>
        </p:nvSpPr>
        <p:spPr>
          <a:xfrm>
            <a:off x="762000" y="62865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B7280"/>
                </a:solidFill>
                <a:latin typeface="Noto Sans SC"/>
                <a:ea typeface="Noto Sans SC"/>
                <a:cs typeface="Noto Sans SC"/>
                <a:sym typeface="Noto Sans SC"/>
              </a:rPr>
              <a:t>分层设计让硬件驱动、业务任务和云端通信可以独立维护。</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云端通信与 Web / 小程序展示闭环</a:t>
            </a:r>
            <a:endParaRPr lang="en-US" sz="1100"/>
          </a:p>
        </p:txBody>
      </p:sp>
      <p:sp>
        <p:nvSpPr>
          <p:cNvPr id="4" name="AutoShape 4"/>
          <p:cNvSpPr/>
          <p:nvPr/>
        </p:nvSpPr>
        <p:spPr>
          <a:xfrm>
            <a:off x="762000" y="2032000"/>
            <a:ext cx="2540000" cy="2794000"/>
          </a:xfrm>
          <a:prstGeom prst="roundRect">
            <a:avLst>
              <a:gd name="adj" fmla="val 0"/>
            </a:avLst>
          </a:prstGeom>
          <a:solidFill>
            <a:srgbClr val="FFFFFF">
              <a:alpha val="75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222500"/>
            <a:ext cx="406400" cy="406400"/>
          </a:xfrm>
          <a:prstGeom prst="rect">
            <a:avLst/>
          </a:prstGeom>
        </p:spPr>
      </p:pic>
      <p:sp>
        <p:nvSpPr>
          <p:cNvPr id="6" name="AutoShape 6"/>
          <p:cNvSpPr/>
          <p:nvPr/>
        </p:nvSpPr>
        <p:spPr>
          <a:xfrm>
            <a:off x="1460500" y="2184400"/>
            <a:ext cx="1714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设备端</a:t>
            </a:r>
            <a:endParaRPr lang="en-US" sz="1100"/>
          </a:p>
        </p:txBody>
      </p:sp>
      <p:cxnSp>
        <p:nvCxnSpPr>
          <p:cNvPr id="7" name="Connector 7"/>
          <p:cNvCxnSpPr/>
          <p:nvPr/>
        </p:nvCxnSpPr>
        <p:spPr>
          <a:xfrm rot="-20221">
            <a:off x="952519" y="2787650"/>
            <a:ext cx="21590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8" name="AutoShape 8"/>
          <p:cNvSpPr/>
          <p:nvPr/>
        </p:nvSpPr>
        <p:spPr>
          <a:xfrm>
            <a:off x="952500" y="3048000"/>
            <a:ext cx="215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ESP32-S3 采集状态、控制门锁、抓拍图片</a:t>
            </a:r>
            <a:endParaRPr lang="en-US" sz="1100"/>
          </a:p>
        </p:txBody>
      </p:sp>
      <p:sp>
        <p:nvSpPr>
          <p:cNvPr id="9" name="AutoShape 9"/>
          <p:cNvSpPr/>
          <p:nvPr/>
        </p:nvSpPr>
        <p:spPr>
          <a:xfrm>
            <a:off x="3467100" y="2032000"/>
            <a:ext cx="2540000" cy="2794000"/>
          </a:xfrm>
          <a:prstGeom prst="roundRect">
            <a:avLst>
              <a:gd name="adj" fmla="val 0"/>
            </a:avLst>
          </a:prstGeom>
          <a:solidFill>
            <a:srgbClr val="FFFFFF">
              <a:alpha val="75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57600" y="2222500"/>
            <a:ext cx="406400" cy="406400"/>
          </a:xfrm>
          <a:prstGeom prst="rect">
            <a:avLst/>
          </a:prstGeom>
        </p:spPr>
      </p:pic>
      <p:sp>
        <p:nvSpPr>
          <p:cNvPr id="11" name="AutoShape 11"/>
          <p:cNvSpPr/>
          <p:nvPr/>
        </p:nvSpPr>
        <p:spPr>
          <a:xfrm>
            <a:off x="4165600" y="2184400"/>
            <a:ext cx="1714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通信端</a:t>
            </a:r>
            <a:endParaRPr lang="en-US" sz="1100"/>
          </a:p>
        </p:txBody>
      </p:sp>
      <p:cxnSp>
        <p:nvCxnSpPr>
          <p:cNvPr id="12" name="Connector 12"/>
          <p:cNvCxnSpPr/>
          <p:nvPr/>
        </p:nvCxnSpPr>
        <p:spPr>
          <a:xfrm rot="-20221">
            <a:off x="3657619" y="2787650"/>
            <a:ext cx="21590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13" name="AutoShape 13"/>
          <p:cNvSpPr/>
          <p:nvPr/>
        </p:nvSpPr>
        <p:spPr>
          <a:xfrm>
            <a:off x="3657600" y="3048000"/>
            <a:ext cx="215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374151"/>
                </a:solidFill>
                <a:latin typeface="Noto Sans SC"/>
                <a:ea typeface="Noto Sans SC"/>
                <a:cs typeface="Noto Sans SC"/>
                <a:sym typeface="Noto Sans SC"/>
              </a:rPr>
              <a:t>MQTT：设备属性上报，云端命令下发</a:t>
            </a:r>
            <a:endParaRPr lang="en-US" sz="1100"/>
          </a:p>
          <a:p>
            <a:pPr marL="0" indent="0" algn="l">
              <a:lnSpc>
                <a:spcPct val="116666"/>
              </a:lnSpc>
            </a:pPr>
            <a:r>
              <a:rPr lang="en-US" sz="1100" b="0" i="0" u="none" strike="noStrike">
                <a:solidFill>
                  <a:srgbClr val="374151"/>
                </a:solidFill>
                <a:latin typeface="Noto Sans SC"/>
                <a:ea typeface="Noto Sans SC"/>
                <a:cs typeface="Noto Sans SC"/>
                <a:sym typeface="Noto Sans SC"/>
              </a:rPr>
              <a:t>HTTP：上传最新画面、报警画面和状态快照</a:t>
            </a:r>
          </a:p>
        </p:txBody>
      </p:sp>
      <p:sp>
        <p:nvSpPr>
          <p:cNvPr id="14" name="AutoShape 14"/>
          <p:cNvSpPr/>
          <p:nvPr/>
        </p:nvSpPr>
        <p:spPr>
          <a:xfrm>
            <a:off x="6172200" y="2032000"/>
            <a:ext cx="2540000" cy="2794000"/>
          </a:xfrm>
          <a:prstGeom prst="roundRect">
            <a:avLst>
              <a:gd name="adj" fmla="val 0"/>
            </a:avLst>
          </a:prstGeom>
          <a:solidFill>
            <a:srgbClr val="FFFFFF">
              <a:alpha val="75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62700" y="2222500"/>
            <a:ext cx="406400" cy="406400"/>
          </a:xfrm>
          <a:prstGeom prst="rect">
            <a:avLst/>
          </a:prstGeom>
        </p:spPr>
      </p:pic>
      <p:sp>
        <p:nvSpPr>
          <p:cNvPr id="16" name="AutoShape 16"/>
          <p:cNvSpPr/>
          <p:nvPr/>
        </p:nvSpPr>
        <p:spPr>
          <a:xfrm>
            <a:off x="6870700" y="2184400"/>
            <a:ext cx="1714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平台/后端</a:t>
            </a:r>
            <a:endParaRPr lang="en-US" sz="1100"/>
          </a:p>
        </p:txBody>
      </p:sp>
      <p:cxnSp>
        <p:nvCxnSpPr>
          <p:cNvPr id="17" name="Connector 17"/>
          <p:cNvCxnSpPr/>
          <p:nvPr/>
        </p:nvCxnSpPr>
        <p:spPr>
          <a:xfrm rot="-20221">
            <a:off x="6362719" y="2787650"/>
            <a:ext cx="21590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18" name="AutoShape 18"/>
          <p:cNvSpPr/>
          <p:nvPr/>
        </p:nvSpPr>
        <p:spPr>
          <a:xfrm>
            <a:off x="6362700" y="3048000"/>
            <a:ext cx="215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接收图片和状态，为 Web 提供数据接口</a:t>
            </a:r>
            <a:endParaRPr lang="en-US" sz="1100"/>
          </a:p>
        </p:txBody>
      </p:sp>
      <p:sp>
        <p:nvSpPr>
          <p:cNvPr id="19" name="AutoShape 19"/>
          <p:cNvSpPr/>
          <p:nvPr/>
        </p:nvSpPr>
        <p:spPr>
          <a:xfrm>
            <a:off x="8877300" y="2032000"/>
            <a:ext cx="2540000" cy="2794000"/>
          </a:xfrm>
          <a:prstGeom prst="roundRect">
            <a:avLst>
              <a:gd name="adj" fmla="val 0"/>
            </a:avLst>
          </a:prstGeom>
          <a:solidFill>
            <a:srgbClr val="FFFFFF">
              <a:alpha val="75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67800" y="2222500"/>
            <a:ext cx="406400" cy="406400"/>
          </a:xfrm>
          <a:prstGeom prst="rect">
            <a:avLst/>
          </a:prstGeom>
        </p:spPr>
      </p:pic>
      <p:sp>
        <p:nvSpPr>
          <p:cNvPr id="21" name="AutoShape 21"/>
          <p:cNvSpPr/>
          <p:nvPr/>
        </p:nvSpPr>
        <p:spPr>
          <a:xfrm>
            <a:off x="9575800" y="2184400"/>
            <a:ext cx="1714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04 应用端</a:t>
            </a:r>
            <a:endParaRPr lang="en-US" sz="1100"/>
          </a:p>
        </p:txBody>
      </p:sp>
      <p:cxnSp>
        <p:nvCxnSpPr>
          <p:cNvPr id="22" name="Connector 22"/>
          <p:cNvCxnSpPr/>
          <p:nvPr/>
        </p:nvCxnSpPr>
        <p:spPr>
          <a:xfrm rot="-20221">
            <a:off x="9067819" y="2787650"/>
            <a:ext cx="21590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3" name="AutoShape 23"/>
          <p:cNvSpPr/>
          <p:nvPr/>
        </p:nvSpPr>
        <p:spPr>
          <a:xfrm>
            <a:off x="9067800" y="3048000"/>
            <a:ext cx="215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374151"/>
                </a:solidFill>
                <a:latin typeface="Noto Sans SC"/>
                <a:ea typeface="Noto Sans SC"/>
                <a:cs typeface="Noto Sans SC"/>
                <a:sym typeface="Noto Sans SC"/>
              </a:rPr>
              <a:t>Web：展示状态、图片、报警和 AI 风险结果</a:t>
            </a:r>
            <a:endParaRPr lang="en-US" sz="1100"/>
          </a:p>
          <a:p>
            <a:pPr marL="0" indent="0" algn="l">
              <a:lnSpc>
                <a:spcPct val="116666"/>
              </a:lnSpc>
            </a:pPr>
            <a:r>
              <a:rPr lang="en-US" sz="1100" b="0" i="0" u="none" strike="noStrike">
                <a:solidFill>
                  <a:srgbClr val="374151"/>
                </a:solidFill>
                <a:latin typeface="Noto Sans SC"/>
                <a:ea typeface="Noto Sans SC"/>
                <a:cs typeface="Noto Sans SC"/>
                <a:sym typeface="Noto Sans SC"/>
              </a:rPr>
              <a:t>小程序：查询设备影子、轮询状态、下发控制命令</a:t>
            </a:r>
          </a:p>
        </p:txBody>
      </p:sp>
      <p:sp>
        <p:nvSpPr>
          <p:cNvPr id="24" name="AutoShape 24"/>
          <p:cNvSpPr/>
          <p:nvPr/>
        </p:nvSpPr>
        <p:spPr>
          <a:xfrm>
            <a:off x="762000" y="5334000"/>
            <a:ext cx="10668000" cy="10160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5334000"/>
            <a:ext cx="76200" cy="1016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079500" y="5461000"/>
            <a:ext cx="1009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1F2937"/>
                </a:solidFill>
                <a:latin typeface="Noto Sans SC"/>
                <a:ea typeface="Noto Sans SC"/>
                <a:cs typeface="Noto Sans SC"/>
                <a:sym typeface="Noto Sans SC"/>
              </a:rPr>
              <a:t>设备采集 → 云端传输 → 后端处理 → Web / 小程序展示 → 用户控制 → 设备执行。</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AI 灾情风险预测与异常分析</a:t>
            </a:r>
            <a:endParaRPr lang="en-US" sz="1100"/>
          </a:p>
        </p:txBody>
      </p:sp>
      <p:sp>
        <p:nvSpPr>
          <p:cNvPr id="4" name="AutoShape 4"/>
          <p:cNvSpPr/>
          <p:nvPr/>
        </p:nvSpPr>
        <p:spPr>
          <a:xfrm>
            <a:off x="762000" y="1270000"/>
            <a:ext cx="10668000" cy="25400"/>
          </a:xfrm>
          <a:prstGeom prst="roundRect">
            <a:avLst>
              <a:gd name="adj" fmla="val 0"/>
            </a:avLst>
          </a:prstGeom>
          <a:solidFill>
            <a:srgbClr val="F97316">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3429000" cy="4318000"/>
          </a:xfrm>
          <a:prstGeom prst="roundRect">
            <a:avLst>
              <a:gd name="adj" fmla="val 0"/>
            </a:avLst>
          </a:prstGeom>
          <a:solidFill>
            <a:srgbClr val="FFFFFF">
              <a:alpha val="60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968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a:ea typeface="Noto Sans SC"/>
                <a:cs typeface="Noto Sans SC"/>
                <a:sym typeface="Noto Sans SC"/>
              </a:rPr>
              <a:t>01 / 核心代码能力</a:t>
            </a:r>
            <a:endParaRPr lang="en-US" sz="1100"/>
          </a:p>
        </p:txBody>
      </p:sp>
      <p:cxnSp>
        <p:nvCxnSpPr>
          <p:cNvPr id="7" name="Connector 7"/>
          <p:cNvCxnSpPr/>
          <p:nvPr/>
        </p:nvCxnSpPr>
        <p:spPr>
          <a:xfrm rot="-14323">
            <a:off x="952513" y="2533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952500" y="2794000"/>
            <a:ext cx="3048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1F2937"/>
                </a:solidFill>
                <a:latin typeface="Noto Sans SC"/>
                <a:ea typeface="Noto Sans SC"/>
                <a:cs typeface="Noto Sans SC"/>
                <a:sym typeface="Noto Sans SC"/>
              </a:rPr>
              <a:t>代码能力：</a:t>
            </a:r>
            <a:endParaRPr lang="en-US" sz="1100"/>
          </a:p>
          <a:p>
            <a:pPr marL="0" indent="0" algn="l">
              <a:lnSpc>
                <a:spcPct val="133333"/>
              </a:lnSpc>
            </a:pPr>
            <a:r>
              <a:rPr lang="en-US" sz="1300" b="0" i="0" u="none" strike="noStrike">
                <a:solidFill>
                  <a:srgbClr val="4B5563"/>
                </a:solidFill>
                <a:latin typeface="Noto Sans SC"/>
                <a:ea typeface="Noto Sans SC"/>
                <a:cs typeface="Noto Sans SC"/>
                <a:sym typeface="Noto Sans SC"/>
              </a:rPr>
              <a:t>后端已包含 `/api/ai/disaster-risk` 灾情风险接口，并通过 `riskAnalyzer` 分析历史设备数据，为风险预测提供底层技术支撑。</a:t>
            </a:r>
          </a:p>
        </p:txBody>
      </p:sp>
      <p:sp>
        <p:nvSpPr>
          <p:cNvPr id="9" name="AutoShape 9"/>
          <p:cNvSpPr/>
          <p:nvPr/>
        </p:nvSpPr>
        <p:spPr>
          <a:xfrm>
            <a:off x="4445000" y="1778000"/>
            <a:ext cx="3429000" cy="4318000"/>
          </a:xfrm>
          <a:prstGeom prst="roundRect">
            <a:avLst>
              <a:gd name="adj" fmla="val 0"/>
            </a:avLst>
          </a:prstGeom>
          <a:solidFill>
            <a:srgbClr val="FFFFFF">
              <a:alpha val="60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635500" y="1968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a:ea typeface="Noto Sans SC"/>
                <a:cs typeface="Noto Sans SC"/>
                <a:sym typeface="Noto Sans SC"/>
              </a:rPr>
              <a:t>02 / 输入数据与预测目标</a:t>
            </a:r>
            <a:endParaRPr lang="en-US" sz="1100"/>
          </a:p>
        </p:txBody>
      </p:sp>
      <p:cxnSp>
        <p:nvCxnSpPr>
          <p:cNvPr id="11" name="Connector 11"/>
          <p:cNvCxnSpPr/>
          <p:nvPr/>
        </p:nvCxnSpPr>
        <p:spPr>
          <a:xfrm rot="-14323">
            <a:off x="4635513" y="2533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2" name="AutoShape 12"/>
          <p:cNvSpPr/>
          <p:nvPr/>
        </p:nvSpPr>
        <p:spPr>
          <a:xfrm>
            <a:off x="4635500" y="2794000"/>
            <a:ext cx="3048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输入数据：</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 温度、湿度 / MQ2气体原始值与电压值</a:t>
            </a:r>
            <a:br>
              <a:rPr lang="en-US" sz="1300" b="0" i="0" u="none" strike="noStrike">
                <a:solidFill>
                  <a:srgbClr val="374151"/>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气体、震动报警状态 / 门锁与相机状态</a:t>
            </a:r>
            <a:br>
              <a:rPr lang="en-US" sz="1300" b="0" i="0" u="none" strike="noStrike">
                <a:solidFill>
                  <a:srgbClr val="374151"/>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最近刷卡卡号 / 历史上报记录</a:t>
            </a:r>
          </a:p>
          <a:p>
            <a:pPr marL="0" indent="0" algn="l">
              <a:lnSpc>
                <a:spcPct val="125000"/>
              </a:lnSpc>
            </a:pPr>
            <a:r>
              <a:rPr lang="en-US" sz="1400" b="1" i="0" u="none" strike="noStrike">
                <a:solidFill>
                  <a:srgbClr val="1F2937"/>
                </a:solidFill>
                <a:latin typeface="Noto Sans SC"/>
                <a:ea typeface="Noto Sans SC"/>
                <a:cs typeface="Noto Sans SC"/>
                <a:sym typeface="Noto Sans SC"/>
              </a:rPr>
              <a:t>预测目标：</a:t>
            </a:r>
          </a:p>
          <a:p>
            <a:pPr marL="0" indent="0" algn="l">
              <a:lnSpc>
                <a:spcPct val="116666"/>
              </a:lnSpc>
            </a:pPr>
            <a:r>
              <a:rPr lang="en-US" sz="1200" b="0" i="0" u="none" strike="noStrike">
                <a:solidFill>
                  <a:srgbClr val="4B5563"/>
                </a:solidFill>
                <a:latin typeface="Noto Sans SC"/>
                <a:ea typeface="Noto Sans SC"/>
                <a:cs typeface="Noto Sans SC"/>
                <a:sym typeface="Noto Sans SC"/>
              </a:rPr>
              <a:t>• 火灾、燃气泄漏 / 震动与入侵风险</a:t>
            </a:r>
            <a:br>
              <a:rPr lang="en-US" sz="1300" b="0" i="0" u="none" strike="noStrike">
                <a:solidFill>
                  <a:srgbClr val="374151"/>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环境异常 / 异常开锁行为</a:t>
            </a:r>
          </a:p>
        </p:txBody>
      </p:sp>
      <p:sp>
        <p:nvSpPr>
          <p:cNvPr id="13" name="AutoShape 13"/>
          <p:cNvSpPr/>
          <p:nvPr/>
        </p:nvSpPr>
        <p:spPr>
          <a:xfrm>
            <a:off x="8001000" y="1778000"/>
            <a:ext cx="3429000" cy="4318000"/>
          </a:xfrm>
          <a:prstGeom prst="roundRect">
            <a:avLst>
              <a:gd name="adj" fmla="val 0"/>
            </a:avLst>
          </a:prstGeom>
          <a:solidFill>
            <a:srgbClr val="FFFFFF">
              <a:alpha val="60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191500" y="1968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a:ea typeface="Noto Sans SC"/>
                <a:cs typeface="Noto Sans SC"/>
                <a:sym typeface="Noto Sans SC"/>
              </a:rPr>
              <a:t>03 / 应用价值与升级</a:t>
            </a:r>
            <a:endParaRPr lang="en-US" sz="1100"/>
          </a:p>
        </p:txBody>
      </p:sp>
      <p:cxnSp>
        <p:nvCxnSpPr>
          <p:cNvPr id="15" name="Connector 15"/>
          <p:cNvCxnSpPr/>
          <p:nvPr/>
        </p:nvCxnSpPr>
        <p:spPr>
          <a:xfrm rot="-14323">
            <a:off x="8191513" y="2533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6" name="AutoShape 16"/>
          <p:cNvSpPr/>
          <p:nvPr/>
        </p:nvSpPr>
        <p:spPr>
          <a:xfrm>
            <a:off x="8191500" y="2794000"/>
            <a:ext cx="3048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1F2937"/>
                </a:solidFill>
                <a:latin typeface="Noto Sans SC"/>
                <a:ea typeface="Noto Sans SC"/>
                <a:cs typeface="Noto Sans SC"/>
                <a:sym typeface="Noto Sans SC"/>
              </a:rPr>
              <a:t>应用价值：</a:t>
            </a:r>
            <a:endParaRPr lang="en-US" sz="1100"/>
          </a:p>
          <a:p>
            <a:pPr marL="0" indent="0" algn="l">
              <a:lnSpc>
                <a:spcPct val="133333"/>
              </a:lnSpc>
            </a:pPr>
            <a:r>
              <a:rPr lang="en-US" sz="1300" b="0" i="0" u="none" strike="noStrike">
                <a:solidFill>
                  <a:srgbClr val="4B5563"/>
                </a:solidFill>
                <a:latin typeface="Noto Sans SC"/>
                <a:ea typeface="Noto Sans SC"/>
                <a:cs typeface="Noto Sans SC"/>
                <a:sym typeface="Noto Sans SC"/>
              </a:rPr>
              <a:t>系统从“异常发生后报警”升级为“风险发生前预警”，实现安全防护的主动化与智能化，尤其适合药房、实验室、民宿等对安全要求更高的场景。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FFFFFF"/>
                </a:solidFill>
                <a:latin typeface="Noto Sans SC"/>
                <a:ea typeface="Noto Sans SC"/>
                <a:cs typeface="Noto Sans SC"/>
                <a:sym typeface="Noto Sans SC"/>
              </a:rPr>
              <a:t>应用场景、未来升级与总结</a:t>
            </a:r>
            <a:endParaRPr lang="en-US" sz="1100"/>
          </a:p>
        </p:txBody>
      </p:sp>
      <p:sp>
        <p:nvSpPr>
          <p:cNvPr id="4" name="AutoShape 4"/>
          <p:cNvSpPr/>
          <p:nvPr/>
        </p:nvSpPr>
        <p:spPr>
          <a:xfrm>
            <a:off x="889000" y="1778000"/>
            <a:ext cx="5080000" cy="1651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778000"/>
            <a:ext cx="508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1905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97316"/>
                </a:solidFill>
                <a:latin typeface="Noto Sans SC"/>
                <a:ea typeface="Noto Sans SC"/>
                <a:cs typeface="Noto Sans SC"/>
                <a:sym typeface="Noto Sans SC"/>
              </a:rPr>
              <a:t>家庭安防</a:t>
            </a:r>
            <a:endParaRPr lang="en-US" sz="1100"/>
          </a:p>
          <a:p>
            <a:pPr marL="0" indent="0" algn="l">
              <a:lnSpc>
                <a:spcPct val="116666"/>
              </a:lnSpc>
            </a:pPr>
            <a:r>
              <a:rPr lang="en-US" sz="1300" b="0" i="0" u="none" strike="noStrike">
                <a:solidFill>
                  <a:srgbClr val="FFFFFF">
                    <a:alpha val="80000"/>
                  </a:srgbClr>
                </a:solidFill>
                <a:latin typeface="Noto Sans SC"/>
                <a:ea typeface="Noto Sans SC"/>
                <a:cs typeface="Noto Sans SC"/>
                <a:sym typeface="Noto Sans SC"/>
              </a:rPr>
              <a:t>守护贵重物品与私密文件，异常状态即时告警，远程查看状态，打造家庭安全防线。</a:t>
            </a:r>
          </a:p>
        </p:txBody>
      </p:sp>
      <p:sp>
        <p:nvSpPr>
          <p:cNvPr id="7" name="AutoShape 7"/>
          <p:cNvSpPr/>
          <p:nvPr/>
        </p:nvSpPr>
        <p:spPr>
          <a:xfrm>
            <a:off x="6223000" y="1778000"/>
            <a:ext cx="5080000" cy="1651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778000"/>
            <a:ext cx="508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477000" y="1905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97316"/>
                </a:solidFill>
                <a:latin typeface="Noto Sans SC"/>
                <a:ea typeface="Noto Sans SC"/>
                <a:cs typeface="Noto Sans SC"/>
                <a:sym typeface="Noto Sans SC"/>
              </a:rPr>
              <a:t>办公商用</a:t>
            </a:r>
            <a:endParaRPr lang="en-US" sz="1100"/>
          </a:p>
          <a:p>
            <a:pPr marL="0" indent="0" algn="l">
              <a:lnSpc>
                <a:spcPct val="116666"/>
              </a:lnSpc>
            </a:pPr>
            <a:r>
              <a:rPr lang="en-US" sz="1300" b="0" i="0" u="none" strike="noStrike">
                <a:solidFill>
                  <a:srgbClr val="FFFFFF">
                    <a:alpha val="80000"/>
                  </a:srgbClr>
                </a:solidFill>
                <a:latin typeface="Noto Sans SC"/>
                <a:ea typeface="Noto Sans SC"/>
                <a:cs typeface="Noto Sans SC"/>
                <a:sym typeface="Noto Sans SC"/>
              </a:rPr>
              <a:t>存储重要合同、印章与数据介质，支持多权限管理，满足企业级安全与审计需求。</a:t>
            </a:r>
          </a:p>
        </p:txBody>
      </p:sp>
      <p:sp>
        <p:nvSpPr>
          <p:cNvPr id="10" name="AutoShape 10"/>
          <p:cNvSpPr/>
          <p:nvPr/>
        </p:nvSpPr>
        <p:spPr>
          <a:xfrm>
            <a:off x="889000" y="3683000"/>
            <a:ext cx="5080000" cy="1651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3683000"/>
            <a:ext cx="508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43000" y="3810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97316"/>
                </a:solidFill>
                <a:latin typeface="Noto Sans SC"/>
                <a:ea typeface="Noto Sans SC"/>
                <a:cs typeface="Noto Sans SC"/>
                <a:sym typeface="Noto Sans SC"/>
              </a:rPr>
              <a:t>智能升级</a:t>
            </a:r>
            <a:endParaRPr lang="en-US" sz="1100"/>
          </a:p>
          <a:p>
            <a:pPr marL="0" indent="0" algn="l">
              <a:lnSpc>
                <a:spcPct val="116666"/>
              </a:lnSpc>
            </a:pPr>
            <a:r>
              <a:rPr lang="en-US" sz="1300" b="0" i="0" u="none" strike="noStrike">
                <a:solidFill>
                  <a:srgbClr val="FFFFFF">
                    <a:alpha val="80000"/>
                  </a:srgbClr>
                </a:solidFill>
                <a:latin typeface="Noto Sans SC"/>
                <a:ea typeface="Noto Sans SC"/>
                <a:cs typeface="Noto Sans SC"/>
                <a:sym typeface="Noto Sans SC"/>
              </a:rPr>
              <a:t>小程序产品化、多用户授权、报表告警推送、AI图像识别、备用电源及TLS安全增强。</a:t>
            </a:r>
          </a:p>
        </p:txBody>
      </p:sp>
      <p:sp>
        <p:nvSpPr>
          <p:cNvPr id="13" name="AutoShape 13"/>
          <p:cNvSpPr/>
          <p:nvPr/>
        </p:nvSpPr>
        <p:spPr>
          <a:xfrm>
            <a:off x="6223000" y="3683000"/>
            <a:ext cx="5080000" cy="1651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23000" y="3683000"/>
            <a:ext cx="508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3810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97316"/>
                </a:solidFill>
                <a:latin typeface="Noto Sans SC"/>
                <a:ea typeface="Noto Sans SC"/>
                <a:cs typeface="Noto Sans SC"/>
                <a:sym typeface="Noto Sans SC"/>
              </a:rPr>
              <a:t>场景拓展</a:t>
            </a:r>
            <a:endParaRPr lang="en-US" sz="1100"/>
          </a:p>
          <a:p>
            <a:pPr marL="0" indent="0" algn="l">
              <a:lnSpc>
                <a:spcPct val="116666"/>
              </a:lnSpc>
            </a:pPr>
            <a:r>
              <a:rPr lang="en-US" sz="1300" b="0" i="0" u="none" strike="noStrike">
                <a:solidFill>
                  <a:srgbClr val="FFFFFF">
                    <a:alpha val="80000"/>
                  </a:srgbClr>
                </a:solidFill>
                <a:latin typeface="Noto Sans SC"/>
                <a:ea typeface="Noto Sans SC"/>
                <a:cs typeface="Noto Sans SC"/>
                <a:sym typeface="Noto Sans SC"/>
              </a:rPr>
              <a:t>适配民宿租赁、车载存储、小型商铺等多场景，提供定制化安全存储解决方案。</a:t>
            </a:r>
          </a:p>
        </p:txBody>
      </p:sp>
      <p:sp>
        <p:nvSpPr>
          <p:cNvPr id="16" name="AutoShape 16"/>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90196"/>
                  </a:srgbClr>
                </a:solidFill>
                <a:latin typeface="Noto Sans SC"/>
                <a:ea typeface="Noto Sans SC"/>
                <a:cs typeface="Noto Sans SC"/>
                <a:sym typeface="Noto Sans SC"/>
              </a:rPr>
              <a:t>本项目将传统保险箱升级为可感知、可联网、可告警、可追溯、可移动端管理、可 AI 风险预测的物联网安全存储终端。</a:t>
            </a:r>
            <a:endParaRPr lang="en-US" sz="1100"/>
          </a:p>
        </p:txBody>
      </p:sp>
      <p:sp>
        <p:nvSpPr>
          <p:cNvPr id="17" name="AutoShape 17"/>
          <p:cNvSpPr/>
          <p:nvPr/>
        </p:nvSpPr>
        <p:spPr>
          <a:xfrm>
            <a:off x="762000" y="6096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97316"/>
                </a:solidFill>
                <a:latin typeface="Noto Sans SC"/>
                <a:ea typeface="Noto Sans SC"/>
                <a:cs typeface="Noto Sans SC"/>
                <a:sym typeface="Noto Sans SC"/>
              </a:rPr>
              <a:t>THANK YOU</a:t>
            </a:r>
            <a:r>
              <a:rPr lang="en-US" sz="1200" b="0" i="0" u="none" strike="noStrike">
                <a:solidFill>
                  <a:srgbClr val="FFFFFF">
                    <a:alpha val="70196"/>
                  </a:srgbClr>
                </a:solidFill>
                <a:latin typeface="Noto Sans SC"/>
                <a:ea typeface="Noto Sans SC"/>
                <a:cs typeface="Noto Sans SC"/>
                <a:sym typeface="Noto Sans SC"/>
              </a:rPr>
              <a:t>感谢聆听 · 敬请指正</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2125</Words>
  <Application>Microsoft Office PowerPoint</Application>
  <PresentationFormat>宽屏</PresentationFormat>
  <Paragraphs>351</Paragraphs>
  <Slides>25</Slides>
  <Notes>25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25</vt:i4>
      </vt:variant>
    </vt:vector>
  </HeadingPairs>
  <TitlesOfParts>
    <vt:vector size="2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a44311</cp:lastModifiedBy>
  <cp:revision>8</cp:revision>
  <dcterms:modified xsi:type="dcterms:W3CDTF">2026-06-18T07:57:14Z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{"Label":"1","ContentProducer":"001191110102MACQD9K64010000","ProduceID":"7652614567734988013","ReservedCode1":"","ContentPropagator":"","PropagateID":"","ReservedCode2":""}</vt:lpwstr>
  </property>
</Properties>
</file>